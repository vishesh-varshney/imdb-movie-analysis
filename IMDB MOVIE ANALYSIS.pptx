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57" r:id="rId3"/>
    <p:sldId id="261" r:id="rId4"/>
    <p:sldId id="258" r:id="rId5"/>
    <p:sldId id="259" r:id="rId6"/>
    <p:sldId id="262" r:id="rId7"/>
    <p:sldId id="263" r:id="rId8"/>
    <p:sldId id="264" r:id="rId9"/>
    <p:sldId id="265" r:id="rId10"/>
    <p:sldId id="266" r:id="rId11"/>
    <p:sldId id="268" r:id="rId12"/>
    <p:sldId id="267" r:id="rId13"/>
    <p:sldId id="269" r:id="rId14"/>
    <p:sldId id="270" r:id="rId15"/>
    <p:sldId id="271"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539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0C6B72-B0A6-410C-AD9C-4DA27C34A9EA}" v="18" dt="2024-05-15T13:11:33.7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shesh Varshney" userId="59a980769d3bf982" providerId="LiveId" clId="{E10C6B72-B0A6-410C-AD9C-4DA27C34A9EA}"/>
    <pc:docChg chg="custSel addSld modSld">
      <pc:chgData name="Vishesh Varshney" userId="59a980769d3bf982" providerId="LiveId" clId="{E10C6B72-B0A6-410C-AD9C-4DA27C34A9EA}" dt="2024-05-15T13:11:33.798" v="2841"/>
      <pc:docMkLst>
        <pc:docMk/>
      </pc:docMkLst>
      <pc:sldChg chg="addSp modSp mod">
        <pc:chgData name="Vishesh Varshney" userId="59a980769d3bf982" providerId="LiveId" clId="{E10C6B72-B0A6-410C-AD9C-4DA27C34A9EA}" dt="2024-05-15T13:11:33.798" v="2841"/>
        <pc:sldMkLst>
          <pc:docMk/>
          <pc:sldMk cId="3483506728" sldId="256"/>
        </pc:sldMkLst>
        <pc:spChg chg="add mod">
          <ac:chgData name="Vishesh Varshney" userId="59a980769d3bf982" providerId="LiveId" clId="{E10C6B72-B0A6-410C-AD9C-4DA27C34A9EA}" dt="2024-05-15T13:11:33.798" v="2841"/>
          <ac:spMkLst>
            <pc:docMk/>
            <pc:sldMk cId="3483506728" sldId="256"/>
            <ac:spMk id="4" creationId="{9A4439FD-5C21-86A6-58AA-7DF79A962B26}"/>
          </ac:spMkLst>
        </pc:spChg>
      </pc:sldChg>
      <pc:sldChg chg="modSp mod">
        <pc:chgData name="Vishesh Varshney" userId="59a980769d3bf982" providerId="LiveId" clId="{E10C6B72-B0A6-410C-AD9C-4DA27C34A9EA}" dt="2024-05-14T12:58:07.337" v="800" actId="20577"/>
        <pc:sldMkLst>
          <pc:docMk/>
          <pc:sldMk cId="2731591273" sldId="257"/>
        </pc:sldMkLst>
        <pc:spChg chg="mod">
          <ac:chgData name="Vishesh Varshney" userId="59a980769d3bf982" providerId="LiveId" clId="{E10C6B72-B0A6-410C-AD9C-4DA27C34A9EA}" dt="2024-05-14T12:58:07.337" v="800" actId="20577"/>
          <ac:spMkLst>
            <pc:docMk/>
            <pc:sldMk cId="2731591273" sldId="257"/>
            <ac:spMk id="5" creationId="{75E764B5-6BC9-ECBE-2DE9-E6ABC0F12D6A}"/>
          </ac:spMkLst>
        </pc:spChg>
      </pc:sldChg>
      <pc:sldChg chg="modSp mod">
        <pc:chgData name="Vishesh Varshney" userId="59a980769d3bf982" providerId="LiveId" clId="{E10C6B72-B0A6-410C-AD9C-4DA27C34A9EA}" dt="2024-05-14T17:07:01.671" v="2788" actId="20577"/>
        <pc:sldMkLst>
          <pc:docMk/>
          <pc:sldMk cId="849251227" sldId="263"/>
        </pc:sldMkLst>
        <pc:spChg chg="mod">
          <ac:chgData name="Vishesh Varshney" userId="59a980769d3bf982" providerId="LiveId" clId="{E10C6B72-B0A6-410C-AD9C-4DA27C34A9EA}" dt="2024-05-14T17:07:01.671" v="2788" actId="20577"/>
          <ac:spMkLst>
            <pc:docMk/>
            <pc:sldMk cId="849251227" sldId="263"/>
            <ac:spMk id="3" creationId="{ADF4E082-882D-61C6-10DC-DBD90A9C55B3}"/>
          </ac:spMkLst>
        </pc:spChg>
      </pc:sldChg>
      <pc:sldChg chg="addSp modSp mod">
        <pc:chgData name="Vishesh Varshney" userId="59a980769d3bf982" providerId="LiveId" clId="{E10C6B72-B0A6-410C-AD9C-4DA27C34A9EA}" dt="2024-05-14T12:15:18.182" v="391" actId="207"/>
        <pc:sldMkLst>
          <pc:docMk/>
          <pc:sldMk cId="2006335754" sldId="267"/>
        </pc:sldMkLst>
        <pc:spChg chg="add mod">
          <ac:chgData name="Vishesh Varshney" userId="59a980769d3bf982" providerId="LiveId" clId="{E10C6B72-B0A6-410C-AD9C-4DA27C34A9EA}" dt="2024-05-14T12:12:13.274" v="45" actId="403"/>
          <ac:spMkLst>
            <pc:docMk/>
            <pc:sldMk cId="2006335754" sldId="267"/>
            <ac:spMk id="3" creationId="{80834F70-9B82-8BBA-A2D4-686B4746C52B}"/>
          </ac:spMkLst>
        </pc:spChg>
        <pc:spChg chg="add mod">
          <ac:chgData name="Vishesh Varshney" userId="59a980769d3bf982" providerId="LiveId" clId="{E10C6B72-B0A6-410C-AD9C-4DA27C34A9EA}" dt="2024-05-14T12:15:18.182" v="391" actId="207"/>
          <ac:spMkLst>
            <pc:docMk/>
            <pc:sldMk cId="2006335754" sldId="267"/>
            <ac:spMk id="4" creationId="{DC9185F1-0F51-9EAF-9F92-A32CD63EA381}"/>
          </ac:spMkLst>
        </pc:spChg>
        <pc:graphicFrameChg chg="add mod modGraphic">
          <ac:chgData name="Vishesh Varshney" userId="59a980769d3bf982" providerId="LiveId" clId="{E10C6B72-B0A6-410C-AD9C-4DA27C34A9EA}" dt="2024-05-14T12:11:29.044" v="6" actId="403"/>
          <ac:graphicFrameMkLst>
            <pc:docMk/>
            <pc:sldMk cId="2006335754" sldId="267"/>
            <ac:graphicFrameMk id="2" creationId="{7BA57256-6A8A-7AD9-F677-A0746BF0C42A}"/>
          </ac:graphicFrameMkLst>
        </pc:graphicFrameChg>
      </pc:sldChg>
      <pc:sldChg chg="modSp mod">
        <pc:chgData name="Vishesh Varshney" userId="59a980769d3bf982" providerId="LiveId" clId="{E10C6B72-B0A6-410C-AD9C-4DA27C34A9EA}" dt="2024-05-14T14:11:21.643" v="1487" actId="20577"/>
        <pc:sldMkLst>
          <pc:docMk/>
          <pc:sldMk cId="504185753" sldId="268"/>
        </pc:sldMkLst>
        <pc:spChg chg="mod">
          <ac:chgData name="Vishesh Varshney" userId="59a980769d3bf982" providerId="LiveId" clId="{E10C6B72-B0A6-410C-AD9C-4DA27C34A9EA}" dt="2024-05-14T14:11:21.643" v="1487" actId="20577"/>
          <ac:spMkLst>
            <pc:docMk/>
            <pc:sldMk cId="504185753" sldId="268"/>
            <ac:spMk id="3" creationId="{705DE348-6922-5AF8-99EB-AAA1F172BE1E}"/>
          </ac:spMkLst>
        </pc:spChg>
      </pc:sldChg>
      <pc:sldChg chg="addSp delSp modSp new mod">
        <pc:chgData name="Vishesh Varshney" userId="59a980769d3bf982" providerId="LiveId" clId="{E10C6B72-B0A6-410C-AD9C-4DA27C34A9EA}" dt="2024-05-14T14:28:15.714" v="1531" actId="14100"/>
        <pc:sldMkLst>
          <pc:docMk/>
          <pc:sldMk cId="272002515" sldId="269"/>
        </pc:sldMkLst>
        <pc:spChg chg="add mod">
          <ac:chgData name="Vishesh Varshney" userId="59a980769d3bf982" providerId="LiveId" clId="{E10C6B72-B0A6-410C-AD9C-4DA27C34A9EA}" dt="2024-05-14T12:32:01.862" v="436" actId="403"/>
          <ac:spMkLst>
            <pc:docMk/>
            <pc:sldMk cId="272002515" sldId="269"/>
            <ac:spMk id="3" creationId="{0FAB8FAC-0CB7-AFAF-A0CB-1B3EE892DA1D}"/>
          </ac:spMkLst>
        </pc:spChg>
        <pc:spChg chg="add del mod">
          <ac:chgData name="Vishesh Varshney" userId="59a980769d3bf982" providerId="LiveId" clId="{E10C6B72-B0A6-410C-AD9C-4DA27C34A9EA}" dt="2024-05-14T12:33:00.321" v="439"/>
          <ac:spMkLst>
            <pc:docMk/>
            <pc:sldMk cId="272002515" sldId="269"/>
            <ac:spMk id="4" creationId="{4E46DB0F-DBA6-4EC8-055D-2D3A39DCABD5}"/>
          </ac:spMkLst>
        </pc:spChg>
        <pc:spChg chg="add mod">
          <ac:chgData name="Vishesh Varshney" userId="59a980769d3bf982" providerId="LiveId" clId="{E10C6B72-B0A6-410C-AD9C-4DA27C34A9EA}" dt="2024-05-14T14:24:02.410" v="1517"/>
          <ac:spMkLst>
            <pc:docMk/>
            <pc:sldMk cId="272002515" sldId="269"/>
            <ac:spMk id="5" creationId="{DBABA6C5-CDA4-380A-DF41-96DB7631854E}"/>
          </ac:spMkLst>
        </pc:spChg>
        <pc:graphicFrameChg chg="add del mod modGraphic">
          <ac:chgData name="Vishesh Varshney" userId="59a980769d3bf982" providerId="LiveId" clId="{E10C6B72-B0A6-410C-AD9C-4DA27C34A9EA}" dt="2024-05-14T14:27:20.522" v="1518" actId="478"/>
          <ac:graphicFrameMkLst>
            <pc:docMk/>
            <pc:sldMk cId="272002515" sldId="269"/>
            <ac:graphicFrameMk id="2" creationId="{D82AB9D8-6FF5-E98F-16C3-C033E7CB8E81}"/>
          </ac:graphicFrameMkLst>
        </pc:graphicFrameChg>
        <pc:graphicFrameChg chg="add mod modGraphic">
          <ac:chgData name="Vishesh Varshney" userId="59a980769d3bf982" providerId="LiveId" clId="{E10C6B72-B0A6-410C-AD9C-4DA27C34A9EA}" dt="2024-05-14T14:28:15.714" v="1531" actId="14100"/>
          <ac:graphicFrameMkLst>
            <pc:docMk/>
            <pc:sldMk cId="272002515" sldId="269"/>
            <ac:graphicFrameMk id="6" creationId="{545FAA8F-51F0-8F07-8FFF-B857EC840109}"/>
          </ac:graphicFrameMkLst>
        </pc:graphicFrameChg>
      </pc:sldChg>
      <pc:sldChg chg="modSp new mod">
        <pc:chgData name="Vishesh Varshney" userId="59a980769d3bf982" providerId="LiveId" clId="{E10C6B72-B0A6-410C-AD9C-4DA27C34A9EA}" dt="2024-05-14T13:18:27.491" v="1457" actId="20577"/>
        <pc:sldMkLst>
          <pc:docMk/>
          <pc:sldMk cId="71502282" sldId="270"/>
        </pc:sldMkLst>
        <pc:spChg chg="mod">
          <ac:chgData name="Vishesh Varshney" userId="59a980769d3bf982" providerId="LiveId" clId="{E10C6B72-B0A6-410C-AD9C-4DA27C34A9EA}" dt="2024-05-14T13:12:14.549" v="825" actId="20577"/>
          <ac:spMkLst>
            <pc:docMk/>
            <pc:sldMk cId="71502282" sldId="270"/>
            <ac:spMk id="2" creationId="{2BBF1550-E1F7-849C-126B-40DCA284AB6A}"/>
          </ac:spMkLst>
        </pc:spChg>
        <pc:spChg chg="mod">
          <ac:chgData name="Vishesh Varshney" userId="59a980769d3bf982" providerId="LiveId" clId="{E10C6B72-B0A6-410C-AD9C-4DA27C34A9EA}" dt="2024-05-14T13:18:27.491" v="1457" actId="20577"/>
          <ac:spMkLst>
            <pc:docMk/>
            <pc:sldMk cId="71502282" sldId="270"/>
            <ac:spMk id="3" creationId="{FE310448-B6DA-3ED7-1AEE-D9DE7143BEE0}"/>
          </ac:spMkLst>
        </pc:spChg>
      </pc:sldChg>
      <pc:sldChg chg="modSp new mod">
        <pc:chgData name="Vishesh Varshney" userId="59a980769d3bf982" providerId="LiveId" clId="{E10C6B72-B0A6-410C-AD9C-4DA27C34A9EA}" dt="2024-05-14T15:24:44.752" v="2669" actId="207"/>
        <pc:sldMkLst>
          <pc:docMk/>
          <pc:sldMk cId="2997146040" sldId="271"/>
        </pc:sldMkLst>
        <pc:spChg chg="mod">
          <ac:chgData name="Vishesh Varshney" userId="59a980769d3bf982" providerId="LiveId" clId="{E10C6B72-B0A6-410C-AD9C-4DA27C34A9EA}" dt="2024-05-14T13:18:56.118" v="1476" actId="207"/>
          <ac:spMkLst>
            <pc:docMk/>
            <pc:sldMk cId="2997146040" sldId="271"/>
            <ac:spMk id="2" creationId="{C1FE0233-A818-1014-02AE-CC1A9DB8A98E}"/>
          </ac:spMkLst>
        </pc:spChg>
        <pc:spChg chg="mod">
          <ac:chgData name="Vishesh Varshney" userId="59a980769d3bf982" providerId="LiveId" clId="{E10C6B72-B0A6-410C-AD9C-4DA27C34A9EA}" dt="2024-05-14T15:24:44.752" v="2669" actId="207"/>
          <ac:spMkLst>
            <pc:docMk/>
            <pc:sldMk cId="2997146040" sldId="271"/>
            <ac:spMk id="3" creationId="{FF6F7BF8-BC6F-B98E-B471-8434AD0934F8}"/>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vishe\OneDrive\Documents\imdb.csv"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vishe\OneDrive\Documents\imdb.csv"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vishe\OneDrive\Documents\imdb.csv"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vishe\OneDrive\Documents\imdb.csv"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vishe\OneDrive\Documents\imdb.csv" TargetMode="External"/><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[imdb.csv]genre!PivotTable21</c:name>
    <c:fmtId val="21"/>
  </c:pivotSource>
  <c:chart>
    <c:autoTitleDeleted val="0"/>
    <c:pivotFmts>
      <c:pivotFmt>
        <c:idx val="0"/>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1">
                <a:lumMod val="60000"/>
                <a:lumOff val="40000"/>
              </a:schemeClr>
            </a:solidFill>
            <a:ln>
              <a:noFill/>
            </a:ln>
            <a:effectLst>
              <a:glow rad="63500">
                <a:schemeClr val="accent1">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1"/>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2"/>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3">
                <a:lumMod val="60000"/>
                <a:lumOff val="40000"/>
              </a:schemeClr>
            </a:solidFill>
            <a:ln>
              <a:noFill/>
            </a:ln>
            <a:effectLst>
              <a:glow rad="63500">
                <a:schemeClr val="accent3">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3"/>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1">
                <a:lumMod val="60000"/>
                <a:lumOff val="40000"/>
              </a:schemeClr>
            </a:solidFill>
            <a:ln>
              <a:noFill/>
            </a:ln>
            <a:effectLst>
              <a:glow rad="63500">
                <a:schemeClr val="accent1">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3">
                <a:lumMod val="60000"/>
                <a:lumOff val="40000"/>
              </a:schemeClr>
            </a:solidFill>
            <a:ln>
              <a:noFill/>
            </a:ln>
            <a:effectLst>
              <a:glow rad="63500">
                <a:schemeClr val="accent3">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1">
                <a:lumMod val="60000"/>
                <a:lumOff val="40000"/>
              </a:schemeClr>
            </a:solidFill>
            <a:ln>
              <a:noFill/>
            </a:ln>
            <a:effectLst>
              <a:glow rad="63500">
                <a:schemeClr val="accent1">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3">
                <a:lumMod val="60000"/>
                <a:lumOff val="40000"/>
              </a:schemeClr>
            </a:solidFill>
            <a:ln>
              <a:noFill/>
            </a:ln>
            <a:effectLst>
              <a:glow rad="63500">
                <a:schemeClr val="accent3">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genre!$E$4</c:f>
              <c:strCache>
                <c:ptCount val="1"/>
                <c:pt idx="0">
                  <c:v>Average of imdb_score</c:v>
                </c:pt>
              </c:strCache>
            </c:strRef>
          </c:tx>
          <c:spPr>
            <a:ln w="22225" cap="rnd">
              <a:solidFill>
                <a:schemeClr val="accent1"/>
              </a:solidFill>
            </a:ln>
            <a:effectLst>
              <a:glow rad="139700">
                <a:schemeClr val="accent1">
                  <a:satMod val="175000"/>
                  <a:alpha val="14000"/>
                </a:schemeClr>
              </a:glow>
            </a:effectLst>
          </c:spPr>
          <c:marker>
            <c:symbol val="circle"/>
            <c:size val="4"/>
            <c:spPr>
              <a:solidFill>
                <a:schemeClr val="accent1">
                  <a:lumMod val="60000"/>
                  <a:lumOff val="40000"/>
                </a:schemeClr>
              </a:solidFill>
              <a:ln>
                <a:noFill/>
              </a:ln>
              <a:effectLst>
                <a:glow rad="63500">
                  <a:schemeClr val="accent1">
                    <a:satMod val="175000"/>
                    <a:alpha val="25000"/>
                  </a:schemeClr>
                </a:glow>
              </a:effectLst>
            </c:spPr>
          </c:marker>
          <c:cat>
            <c:strRef>
              <c:f>genre!$D$5:$D$22</c:f>
              <c:strCache>
                <c:ptCount val="17"/>
                <c:pt idx="0">
                  <c:v>Action</c:v>
                </c:pt>
                <c:pt idx="1">
                  <c:v>Adventure</c:v>
                </c:pt>
                <c:pt idx="2">
                  <c:v>Animation</c:v>
                </c:pt>
                <c:pt idx="3">
                  <c:v>Biography</c:v>
                </c:pt>
                <c:pt idx="4">
                  <c:v>Comedy</c:v>
                </c:pt>
                <c:pt idx="5">
                  <c:v>Crime</c:v>
                </c:pt>
                <c:pt idx="6">
                  <c:v>Documentary</c:v>
                </c:pt>
                <c:pt idx="7">
                  <c:v>Drama</c:v>
                </c:pt>
                <c:pt idx="8">
                  <c:v>Family</c:v>
                </c:pt>
                <c:pt idx="9">
                  <c:v>Fantasy</c:v>
                </c:pt>
                <c:pt idx="10">
                  <c:v>Horror</c:v>
                </c:pt>
                <c:pt idx="11">
                  <c:v>Musical</c:v>
                </c:pt>
                <c:pt idx="12">
                  <c:v>Mystery</c:v>
                </c:pt>
                <c:pt idx="13">
                  <c:v>Romance</c:v>
                </c:pt>
                <c:pt idx="14">
                  <c:v>Sci-Fi</c:v>
                </c:pt>
                <c:pt idx="15">
                  <c:v>Thriller</c:v>
                </c:pt>
                <c:pt idx="16">
                  <c:v>Western</c:v>
                </c:pt>
              </c:strCache>
            </c:strRef>
          </c:cat>
          <c:val>
            <c:numRef>
              <c:f>genre!$E$5:$E$22</c:f>
              <c:numCache>
                <c:formatCode>0.00</c:formatCode>
                <c:ptCount val="17"/>
                <c:pt idx="0">
                  <c:v>6.0586538461538506</c:v>
                </c:pt>
                <c:pt idx="1">
                  <c:v>6.3541401273885354</c:v>
                </c:pt>
                <c:pt idx="2">
                  <c:v>6.6023809523809538</c:v>
                </c:pt>
                <c:pt idx="3">
                  <c:v>7.121212121212122</c:v>
                </c:pt>
                <c:pt idx="4">
                  <c:v>6.1717179902755319</c:v>
                </c:pt>
                <c:pt idx="5">
                  <c:v>6.8710843373493944</c:v>
                </c:pt>
                <c:pt idx="6">
                  <c:v>7.1536585365853664</c:v>
                </c:pt>
                <c:pt idx="7">
                  <c:v>6.7448087431693953</c:v>
                </c:pt>
                <c:pt idx="8">
                  <c:v>5.49</c:v>
                </c:pt>
                <c:pt idx="9">
                  <c:v>6.4333333333333327</c:v>
                </c:pt>
                <c:pt idx="10">
                  <c:v>5.6410714285714301</c:v>
                </c:pt>
                <c:pt idx="11">
                  <c:v>5.6000000000000005</c:v>
                </c:pt>
                <c:pt idx="12">
                  <c:v>6.4724137931034473</c:v>
                </c:pt>
                <c:pt idx="13">
                  <c:v>5.8833333333333329</c:v>
                </c:pt>
                <c:pt idx="14">
                  <c:v>6</c:v>
                </c:pt>
                <c:pt idx="15">
                  <c:v>5.5809523809523798</c:v>
                </c:pt>
                <c:pt idx="16">
                  <c:v>6.5833333333333321</c:v>
                </c:pt>
              </c:numCache>
            </c:numRef>
          </c:val>
          <c:smooth val="0"/>
          <c:extLst>
            <c:ext xmlns:c16="http://schemas.microsoft.com/office/drawing/2014/chart" uri="{C3380CC4-5D6E-409C-BE32-E72D297353CC}">
              <c16:uniqueId val="{00000000-C76B-478A-9A12-26267B045DF0}"/>
            </c:ext>
          </c:extLst>
        </c:ser>
        <c:ser>
          <c:idx val="1"/>
          <c:order val="1"/>
          <c:tx>
            <c:strRef>
              <c:f>genre!$F$4</c:f>
              <c:strCache>
                <c:ptCount val="1"/>
                <c:pt idx="0">
                  <c:v>Min of imdb_score</c:v>
                </c:pt>
              </c:strCache>
            </c:strRef>
          </c:tx>
          <c:spPr>
            <a:ln w="22225" cap="rnd">
              <a:solidFill>
                <a:schemeClr val="accent2"/>
              </a:solidFill>
            </a:ln>
            <a:effectLst>
              <a:glow rad="139700">
                <a:schemeClr val="accent2">
                  <a:satMod val="175000"/>
                  <a:alpha val="14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cat>
            <c:strRef>
              <c:f>genre!$D$5:$D$22</c:f>
              <c:strCache>
                <c:ptCount val="17"/>
                <c:pt idx="0">
                  <c:v>Action</c:v>
                </c:pt>
                <c:pt idx="1">
                  <c:v>Adventure</c:v>
                </c:pt>
                <c:pt idx="2">
                  <c:v>Animation</c:v>
                </c:pt>
                <c:pt idx="3">
                  <c:v>Biography</c:v>
                </c:pt>
                <c:pt idx="4">
                  <c:v>Comedy</c:v>
                </c:pt>
                <c:pt idx="5">
                  <c:v>Crime</c:v>
                </c:pt>
                <c:pt idx="6">
                  <c:v>Documentary</c:v>
                </c:pt>
                <c:pt idx="7">
                  <c:v>Drama</c:v>
                </c:pt>
                <c:pt idx="8">
                  <c:v>Family</c:v>
                </c:pt>
                <c:pt idx="9">
                  <c:v>Fantasy</c:v>
                </c:pt>
                <c:pt idx="10">
                  <c:v>Horror</c:v>
                </c:pt>
                <c:pt idx="11">
                  <c:v>Musical</c:v>
                </c:pt>
                <c:pt idx="12">
                  <c:v>Mystery</c:v>
                </c:pt>
                <c:pt idx="13">
                  <c:v>Romance</c:v>
                </c:pt>
                <c:pt idx="14">
                  <c:v>Sci-Fi</c:v>
                </c:pt>
                <c:pt idx="15">
                  <c:v>Thriller</c:v>
                </c:pt>
                <c:pt idx="16">
                  <c:v>Western</c:v>
                </c:pt>
              </c:strCache>
            </c:strRef>
          </c:cat>
          <c:val>
            <c:numRef>
              <c:f>genre!$F$5:$F$22</c:f>
              <c:numCache>
                <c:formatCode>0.00</c:formatCode>
                <c:ptCount val="17"/>
                <c:pt idx="0">
                  <c:v>1.7</c:v>
                </c:pt>
                <c:pt idx="1">
                  <c:v>2.2999999999999998</c:v>
                </c:pt>
                <c:pt idx="2">
                  <c:v>3.7</c:v>
                </c:pt>
                <c:pt idx="3">
                  <c:v>4.5</c:v>
                </c:pt>
                <c:pt idx="4">
                  <c:v>1.9</c:v>
                </c:pt>
                <c:pt idx="5">
                  <c:v>3.1</c:v>
                </c:pt>
                <c:pt idx="6">
                  <c:v>1.6</c:v>
                </c:pt>
                <c:pt idx="7">
                  <c:v>2</c:v>
                </c:pt>
                <c:pt idx="8">
                  <c:v>2.8</c:v>
                </c:pt>
                <c:pt idx="9">
                  <c:v>4.3</c:v>
                </c:pt>
                <c:pt idx="10">
                  <c:v>2.2000000000000002</c:v>
                </c:pt>
                <c:pt idx="11">
                  <c:v>3.4</c:v>
                </c:pt>
                <c:pt idx="12">
                  <c:v>3.2</c:v>
                </c:pt>
                <c:pt idx="13">
                  <c:v>5.0999999999999996</c:v>
                </c:pt>
                <c:pt idx="14">
                  <c:v>2.8</c:v>
                </c:pt>
                <c:pt idx="15">
                  <c:v>3.4</c:v>
                </c:pt>
                <c:pt idx="16">
                  <c:v>3.8</c:v>
                </c:pt>
              </c:numCache>
            </c:numRef>
          </c:val>
          <c:smooth val="0"/>
          <c:extLst>
            <c:ext xmlns:c16="http://schemas.microsoft.com/office/drawing/2014/chart" uri="{C3380CC4-5D6E-409C-BE32-E72D297353CC}">
              <c16:uniqueId val="{00000001-C76B-478A-9A12-26267B045DF0}"/>
            </c:ext>
          </c:extLst>
        </c:ser>
        <c:ser>
          <c:idx val="2"/>
          <c:order val="2"/>
          <c:tx>
            <c:strRef>
              <c:f>genre!$G$4</c:f>
              <c:strCache>
                <c:ptCount val="1"/>
                <c:pt idx="0">
                  <c:v>Max of imdb_score</c:v>
                </c:pt>
              </c:strCache>
            </c:strRef>
          </c:tx>
          <c:spPr>
            <a:ln w="22225" cap="rnd">
              <a:solidFill>
                <a:schemeClr val="accent3"/>
              </a:solidFill>
            </a:ln>
            <a:effectLst>
              <a:glow rad="139700">
                <a:schemeClr val="accent3">
                  <a:satMod val="175000"/>
                  <a:alpha val="14000"/>
                </a:schemeClr>
              </a:glow>
            </a:effectLst>
          </c:spPr>
          <c:marker>
            <c:symbol val="circle"/>
            <c:size val="4"/>
            <c:spPr>
              <a:solidFill>
                <a:schemeClr val="accent3">
                  <a:lumMod val="60000"/>
                  <a:lumOff val="40000"/>
                </a:schemeClr>
              </a:solidFill>
              <a:ln>
                <a:noFill/>
              </a:ln>
              <a:effectLst>
                <a:glow rad="63500">
                  <a:schemeClr val="accent3">
                    <a:satMod val="175000"/>
                    <a:alpha val="25000"/>
                  </a:schemeClr>
                </a:glow>
              </a:effectLst>
            </c:spPr>
          </c:marker>
          <c:cat>
            <c:strRef>
              <c:f>genre!$D$5:$D$22</c:f>
              <c:strCache>
                <c:ptCount val="17"/>
                <c:pt idx="0">
                  <c:v>Action</c:v>
                </c:pt>
                <c:pt idx="1">
                  <c:v>Adventure</c:v>
                </c:pt>
                <c:pt idx="2">
                  <c:v>Animation</c:v>
                </c:pt>
                <c:pt idx="3">
                  <c:v>Biography</c:v>
                </c:pt>
                <c:pt idx="4">
                  <c:v>Comedy</c:v>
                </c:pt>
                <c:pt idx="5">
                  <c:v>Crime</c:v>
                </c:pt>
                <c:pt idx="6">
                  <c:v>Documentary</c:v>
                </c:pt>
                <c:pt idx="7">
                  <c:v>Drama</c:v>
                </c:pt>
                <c:pt idx="8">
                  <c:v>Family</c:v>
                </c:pt>
                <c:pt idx="9">
                  <c:v>Fantasy</c:v>
                </c:pt>
                <c:pt idx="10">
                  <c:v>Horror</c:v>
                </c:pt>
                <c:pt idx="11">
                  <c:v>Musical</c:v>
                </c:pt>
                <c:pt idx="12">
                  <c:v>Mystery</c:v>
                </c:pt>
                <c:pt idx="13">
                  <c:v>Romance</c:v>
                </c:pt>
                <c:pt idx="14">
                  <c:v>Sci-Fi</c:v>
                </c:pt>
                <c:pt idx="15">
                  <c:v>Thriller</c:v>
                </c:pt>
                <c:pt idx="16">
                  <c:v>Western</c:v>
                </c:pt>
              </c:strCache>
            </c:strRef>
          </c:cat>
          <c:val>
            <c:numRef>
              <c:f>genre!$G$5:$G$22</c:f>
              <c:numCache>
                <c:formatCode>0.00</c:formatCode>
                <c:ptCount val="17"/>
                <c:pt idx="0">
                  <c:v>9.1</c:v>
                </c:pt>
                <c:pt idx="1">
                  <c:v>8.6</c:v>
                </c:pt>
                <c:pt idx="2">
                  <c:v>8.4</c:v>
                </c:pt>
                <c:pt idx="3">
                  <c:v>8.9</c:v>
                </c:pt>
                <c:pt idx="4">
                  <c:v>9.5</c:v>
                </c:pt>
                <c:pt idx="5">
                  <c:v>9.3000000000000007</c:v>
                </c:pt>
                <c:pt idx="6">
                  <c:v>8.6999999999999993</c:v>
                </c:pt>
                <c:pt idx="7">
                  <c:v>9.1</c:v>
                </c:pt>
                <c:pt idx="8">
                  <c:v>8.6</c:v>
                </c:pt>
                <c:pt idx="9">
                  <c:v>7.9</c:v>
                </c:pt>
                <c:pt idx="10">
                  <c:v>8.5</c:v>
                </c:pt>
                <c:pt idx="11">
                  <c:v>7.1</c:v>
                </c:pt>
                <c:pt idx="12">
                  <c:v>8.5</c:v>
                </c:pt>
                <c:pt idx="13">
                  <c:v>7.1</c:v>
                </c:pt>
                <c:pt idx="14">
                  <c:v>8.1999999999999993</c:v>
                </c:pt>
                <c:pt idx="15">
                  <c:v>8.1</c:v>
                </c:pt>
                <c:pt idx="16">
                  <c:v>8.9</c:v>
                </c:pt>
              </c:numCache>
            </c:numRef>
          </c:val>
          <c:smooth val="0"/>
          <c:extLst>
            <c:ext xmlns:c16="http://schemas.microsoft.com/office/drawing/2014/chart" uri="{C3380CC4-5D6E-409C-BE32-E72D297353CC}">
              <c16:uniqueId val="{00000002-C76B-478A-9A12-26267B045DF0}"/>
            </c:ext>
          </c:extLst>
        </c:ser>
        <c:dLbls>
          <c:showLegendKey val="0"/>
          <c:showVal val="0"/>
          <c:showCatName val="0"/>
          <c:showSerName val="0"/>
          <c:showPercent val="0"/>
          <c:showBubbleSize val="0"/>
        </c:dLbls>
        <c:marker val="1"/>
        <c:smooth val="0"/>
        <c:axId val="789699648"/>
        <c:axId val="789689568"/>
      </c:lineChart>
      <c:catAx>
        <c:axId val="789699648"/>
        <c:scaling>
          <c:orientation val="minMax"/>
        </c:scaling>
        <c:delete val="0"/>
        <c:axPos val="b"/>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789689568"/>
        <c:crosses val="autoZero"/>
        <c:auto val="1"/>
        <c:lblAlgn val="ctr"/>
        <c:lblOffset val="100"/>
        <c:noMultiLvlLbl val="0"/>
      </c:catAx>
      <c:valAx>
        <c:axId val="789689568"/>
        <c:scaling>
          <c:orientation val="minMax"/>
        </c:scaling>
        <c:delete val="0"/>
        <c:axPos val="l"/>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78969964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dk1">
        <a:lumMod val="75000"/>
        <a:lumOff val="25000"/>
      </a:schemeClr>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[imdb.csv]genre!PivotTable24</c:name>
    <c:fmtId val="26"/>
  </c:pivotSource>
  <c:chart>
    <c:autoTitleDeleted val="0"/>
    <c:pivotFmts>
      <c:pivotFmt>
        <c:idx val="0"/>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1">
                <a:lumMod val="60000"/>
                <a:lumOff val="40000"/>
              </a:schemeClr>
            </a:solidFill>
            <a:ln>
              <a:noFill/>
            </a:ln>
            <a:effectLst>
              <a:glow rad="63500">
                <a:schemeClr val="accent1">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3">
                <a:lumMod val="60000"/>
                <a:lumOff val="40000"/>
              </a:schemeClr>
            </a:solidFill>
            <a:ln>
              <a:noFill/>
            </a:ln>
            <a:effectLst>
              <a:glow rad="63500">
                <a:schemeClr val="accent3">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1">
                <a:lumMod val="60000"/>
                <a:lumOff val="40000"/>
              </a:schemeClr>
            </a:solidFill>
            <a:ln>
              <a:noFill/>
            </a:ln>
            <a:effectLst>
              <a:glow rad="63500">
                <a:schemeClr val="accent1">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3">
                <a:lumMod val="60000"/>
                <a:lumOff val="40000"/>
              </a:schemeClr>
            </a:solidFill>
            <a:ln>
              <a:noFill/>
            </a:ln>
            <a:effectLst>
              <a:glow rad="63500">
                <a:schemeClr val="accent3">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1">
                <a:lumMod val="60000"/>
                <a:lumOff val="40000"/>
              </a:schemeClr>
            </a:solidFill>
            <a:ln>
              <a:noFill/>
            </a:ln>
            <a:effectLst>
              <a:glow rad="63500">
                <a:schemeClr val="accent1">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3">
                <a:lumMod val="60000"/>
                <a:lumOff val="40000"/>
              </a:schemeClr>
            </a:solidFill>
            <a:ln>
              <a:noFill/>
            </a:ln>
            <a:effectLst>
              <a:glow rad="63500">
                <a:schemeClr val="accent3">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genre!$J$4</c:f>
              <c:strCache>
                <c:ptCount val="1"/>
                <c:pt idx="0">
                  <c:v>Average of imdb_score</c:v>
                </c:pt>
              </c:strCache>
            </c:strRef>
          </c:tx>
          <c:spPr>
            <a:ln w="22225" cap="rnd">
              <a:solidFill>
                <a:schemeClr val="accent1"/>
              </a:solidFill>
            </a:ln>
            <a:effectLst>
              <a:glow rad="139700">
                <a:schemeClr val="accent1">
                  <a:satMod val="175000"/>
                  <a:alpha val="14000"/>
                </a:schemeClr>
              </a:glow>
            </a:effectLst>
          </c:spPr>
          <c:marker>
            <c:symbol val="circle"/>
            <c:size val="4"/>
            <c:spPr>
              <a:solidFill>
                <a:schemeClr val="accent1">
                  <a:lumMod val="60000"/>
                  <a:lumOff val="40000"/>
                </a:schemeClr>
              </a:solidFill>
              <a:ln>
                <a:noFill/>
              </a:ln>
              <a:effectLst>
                <a:glow rad="63500">
                  <a:schemeClr val="accent1">
                    <a:satMod val="175000"/>
                    <a:alpha val="25000"/>
                  </a:schemeClr>
                </a:glow>
              </a:effectLst>
            </c:spPr>
          </c:marker>
          <c:cat>
            <c:strRef>
              <c:f>genre!$I$5:$I$22</c:f>
              <c:strCache>
                <c:ptCount val="17"/>
                <c:pt idx="0">
                  <c:v>Action</c:v>
                </c:pt>
                <c:pt idx="1">
                  <c:v>Adventure</c:v>
                </c:pt>
                <c:pt idx="2">
                  <c:v>Animation</c:v>
                </c:pt>
                <c:pt idx="3">
                  <c:v>Biography</c:v>
                </c:pt>
                <c:pt idx="4">
                  <c:v>Comedy</c:v>
                </c:pt>
                <c:pt idx="5">
                  <c:v>Crime</c:v>
                </c:pt>
                <c:pt idx="6">
                  <c:v>Documentary</c:v>
                </c:pt>
                <c:pt idx="7">
                  <c:v>Drama</c:v>
                </c:pt>
                <c:pt idx="8">
                  <c:v>Family</c:v>
                </c:pt>
                <c:pt idx="9">
                  <c:v>Fantasy</c:v>
                </c:pt>
                <c:pt idx="10">
                  <c:v>Horror</c:v>
                </c:pt>
                <c:pt idx="11">
                  <c:v>Musical</c:v>
                </c:pt>
                <c:pt idx="12">
                  <c:v>Mystery</c:v>
                </c:pt>
                <c:pt idx="13">
                  <c:v>Romance</c:v>
                </c:pt>
                <c:pt idx="14">
                  <c:v>Sci-Fi</c:v>
                </c:pt>
                <c:pt idx="15">
                  <c:v>Thriller</c:v>
                </c:pt>
                <c:pt idx="16">
                  <c:v>Western</c:v>
                </c:pt>
              </c:strCache>
            </c:strRef>
          </c:cat>
          <c:val>
            <c:numRef>
              <c:f>genre!$J$5:$J$22</c:f>
              <c:numCache>
                <c:formatCode>0.00</c:formatCode>
                <c:ptCount val="17"/>
                <c:pt idx="0">
                  <c:v>6.0586538461538506</c:v>
                </c:pt>
                <c:pt idx="1">
                  <c:v>6.3541401273885354</c:v>
                </c:pt>
                <c:pt idx="2">
                  <c:v>6.6023809523809538</c:v>
                </c:pt>
                <c:pt idx="3">
                  <c:v>7.121212121212122</c:v>
                </c:pt>
                <c:pt idx="4">
                  <c:v>6.1717179902755319</c:v>
                </c:pt>
                <c:pt idx="5">
                  <c:v>6.8710843373493944</c:v>
                </c:pt>
                <c:pt idx="6">
                  <c:v>7.1536585365853664</c:v>
                </c:pt>
                <c:pt idx="7">
                  <c:v>6.7448087431693953</c:v>
                </c:pt>
                <c:pt idx="8">
                  <c:v>5.49</c:v>
                </c:pt>
                <c:pt idx="9">
                  <c:v>6.4333333333333327</c:v>
                </c:pt>
                <c:pt idx="10">
                  <c:v>5.6410714285714301</c:v>
                </c:pt>
                <c:pt idx="11">
                  <c:v>5.6000000000000005</c:v>
                </c:pt>
                <c:pt idx="12">
                  <c:v>6.4724137931034473</c:v>
                </c:pt>
                <c:pt idx="13">
                  <c:v>5.8833333333333329</c:v>
                </c:pt>
                <c:pt idx="14">
                  <c:v>6</c:v>
                </c:pt>
                <c:pt idx="15">
                  <c:v>5.5809523809523798</c:v>
                </c:pt>
                <c:pt idx="16">
                  <c:v>6.5833333333333321</c:v>
                </c:pt>
              </c:numCache>
            </c:numRef>
          </c:val>
          <c:smooth val="0"/>
          <c:extLst>
            <c:ext xmlns:c16="http://schemas.microsoft.com/office/drawing/2014/chart" uri="{C3380CC4-5D6E-409C-BE32-E72D297353CC}">
              <c16:uniqueId val="{00000000-FCFE-4760-888E-8483C2B7CA65}"/>
            </c:ext>
          </c:extLst>
        </c:ser>
        <c:ser>
          <c:idx val="1"/>
          <c:order val="1"/>
          <c:tx>
            <c:strRef>
              <c:f>genre!$K$4</c:f>
              <c:strCache>
                <c:ptCount val="1"/>
                <c:pt idx="0">
                  <c:v>Var of imdb_score</c:v>
                </c:pt>
              </c:strCache>
            </c:strRef>
          </c:tx>
          <c:spPr>
            <a:ln w="22225" cap="rnd">
              <a:solidFill>
                <a:schemeClr val="accent2"/>
              </a:solidFill>
            </a:ln>
            <a:effectLst>
              <a:glow rad="139700">
                <a:schemeClr val="accent2">
                  <a:satMod val="175000"/>
                  <a:alpha val="14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cat>
            <c:strRef>
              <c:f>genre!$I$5:$I$22</c:f>
              <c:strCache>
                <c:ptCount val="17"/>
                <c:pt idx="0">
                  <c:v>Action</c:v>
                </c:pt>
                <c:pt idx="1">
                  <c:v>Adventure</c:v>
                </c:pt>
                <c:pt idx="2">
                  <c:v>Animation</c:v>
                </c:pt>
                <c:pt idx="3">
                  <c:v>Biography</c:v>
                </c:pt>
                <c:pt idx="4">
                  <c:v>Comedy</c:v>
                </c:pt>
                <c:pt idx="5">
                  <c:v>Crime</c:v>
                </c:pt>
                <c:pt idx="6">
                  <c:v>Documentary</c:v>
                </c:pt>
                <c:pt idx="7">
                  <c:v>Drama</c:v>
                </c:pt>
                <c:pt idx="8">
                  <c:v>Family</c:v>
                </c:pt>
                <c:pt idx="9">
                  <c:v>Fantasy</c:v>
                </c:pt>
                <c:pt idx="10">
                  <c:v>Horror</c:v>
                </c:pt>
                <c:pt idx="11">
                  <c:v>Musical</c:v>
                </c:pt>
                <c:pt idx="12">
                  <c:v>Mystery</c:v>
                </c:pt>
                <c:pt idx="13">
                  <c:v>Romance</c:v>
                </c:pt>
                <c:pt idx="14">
                  <c:v>Sci-Fi</c:v>
                </c:pt>
                <c:pt idx="15">
                  <c:v>Thriller</c:v>
                </c:pt>
                <c:pt idx="16">
                  <c:v>Western</c:v>
                </c:pt>
              </c:strCache>
            </c:strRef>
          </c:cat>
          <c:val>
            <c:numRef>
              <c:f>genre!$K$5:$K$22</c:f>
              <c:numCache>
                <c:formatCode>0.00</c:formatCode>
                <c:ptCount val="17"/>
                <c:pt idx="0">
                  <c:v>1.2451476441728875</c:v>
                </c:pt>
                <c:pt idx="1">
                  <c:v>1.320957245477322</c:v>
                </c:pt>
                <c:pt idx="2">
                  <c:v>1.7085307781649079</c:v>
                </c:pt>
                <c:pt idx="3">
                  <c:v>0.48976548089593291</c:v>
                </c:pt>
                <c:pt idx="4">
                  <c:v>1.1978937208925406</c:v>
                </c:pt>
                <c:pt idx="5">
                  <c:v>0.94478069377212803</c:v>
                </c:pt>
                <c:pt idx="6">
                  <c:v>1.4346160794941372</c:v>
                </c:pt>
                <c:pt idx="7">
                  <c:v>0.99790245243991871</c:v>
                </c:pt>
                <c:pt idx="8">
                  <c:v>3.7143333333333306</c:v>
                </c:pt>
                <c:pt idx="9">
                  <c:v>0.82026666666668457</c:v>
                </c:pt>
                <c:pt idx="10">
                  <c:v>1.2446732863548811</c:v>
                </c:pt>
                <c:pt idx="11">
                  <c:v>3.7899999999999991</c:v>
                </c:pt>
                <c:pt idx="12">
                  <c:v>1.3613546798029819</c:v>
                </c:pt>
                <c:pt idx="13">
                  <c:v>0.75766666666667104</c:v>
                </c:pt>
                <c:pt idx="14">
                  <c:v>2.2116666666666638</c:v>
                </c:pt>
                <c:pt idx="15">
                  <c:v>1.7736190476190585</c:v>
                </c:pt>
                <c:pt idx="16">
                  <c:v>2.5596969696969878</c:v>
                </c:pt>
              </c:numCache>
            </c:numRef>
          </c:val>
          <c:smooth val="0"/>
          <c:extLst>
            <c:ext xmlns:c16="http://schemas.microsoft.com/office/drawing/2014/chart" uri="{C3380CC4-5D6E-409C-BE32-E72D297353CC}">
              <c16:uniqueId val="{00000001-FCFE-4760-888E-8483C2B7CA65}"/>
            </c:ext>
          </c:extLst>
        </c:ser>
        <c:ser>
          <c:idx val="2"/>
          <c:order val="2"/>
          <c:tx>
            <c:strRef>
              <c:f>genre!$L$4</c:f>
              <c:strCache>
                <c:ptCount val="1"/>
                <c:pt idx="0">
                  <c:v>StdDev of imdb_score</c:v>
                </c:pt>
              </c:strCache>
            </c:strRef>
          </c:tx>
          <c:spPr>
            <a:ln w="22225" cap="rnd">
              <a:solidFill>
                <a:schemeClr val="accent3"/>
              </a:solidFill>
            </a:ln>
            <a:effectLst>
              <a:glow rad="139700">
                <a:schemeClr val="accent3">
                  <a:satMod val="175000"/>
                  <a:alpha val="14000"/>
                </a:schemeClr>
              </a:glow>
            </a:effectLst>
          </c:spPr>
          <c:marker>
            <c:symbol val="circle"/>
            <c:size val="4"/>
            <c:spPr>
              <a:solidFill>
                <a:schemeClr val="accent3">
                  <a:lumMod val="60000"/>
                  <a:lumOff val="40000"/>
                </a:schemeClr>
              </a:solidFill>
              <a:ln>
                <a:noFill/>
              </a:ln>
              <a:effectLst>
                <a:glow rad="63500">
                  <a:schemeClr val="accent3">
                    <a:satMod val="175000"/>
                    <a:alpha val="25000"/>
                  </a:schemeClr>
                </a:glow>
              </a:effectLst>
            </c:spPr>
          </c:marker>
          <c:cat>
            <c:strRef>
              <c:f>genre!$I$5:$I$22</c:f>
              <c:strCache>
                <c:ptCount val="17"/>
                <c:pt idx="0">
                  <c:v>Action</c:v>
                </c:pt>
                <c:pt idx="1">
                  <c:v>Adventure</c:v>
                </c:pt>
                <c:pt idx="2">
                  <c:v>Animation</c:v>
                </c:pt>
                <c:pt idx="3">
                  <c:v>Biography</c:v>
                </c:pt>
                <c:pt idx="4">
                  <c:v>Comedy</c:v>
                </c:pt>
                <c:pt idx="5">
                  <c:v>Crime</c:v>
                </c:pt>
                <c:pt idx="6">
                  <c:v>Documentary</c:v>
                </c:pt>
                <c:pt idx="7">
                  <c:v>Drama</c:v>
                </c:pt>
                <c:pt idx="8">
                  <c:v>Family</c:v>
                </c:pt>
                <c:pt idx="9">
                  <c:v>Fantasy</c:v>
                </c:pt>
                <c:pt idx="10">
                  <c:v>Horror</c:v>
                </c:pt>
                <c:pt idx="11">
                  <c:v>Musical</c:v>
                </c:pt>
                <c:pt idx="12">
                  <c:v>Mystery</c:v>
                </c:pt>
                <c:pt idx="13">
                  <c:v>Romance</c:v>
                </c:pt>
                <c:pt idx="14">
                  <c:v>Sci-Fi</c:v>
                </c:pt>
                <c:pt idx="15">
                  <c:v>Thriller</c:v>
                </c:pt>
                <c:pt idx="16">
                  <c:v>Western</c:v>
                </c:pt>
              </c:strCache>
            </c:strRef>
          </c:cat>
          <c:val>
            <c:numRef>
              <c:f>genre!$L$5:$L$22</c:f>
              <c:numCache>
                <c:formatCode>0.00</c:formatCode>
                <c:ptCount val="17"/>
                <c:pt idx="0">
                  <c:v>1.1158618391955555</c:v>
                </c:pt>
                <c:pt idx="1">
                  <c:v>1.14932904143127</c:v>
                </c:pt>
                <c:pt idx="2">
                  <c:v>1.307107791333564</c:v>
                </c:pt>
                <c:pt idx="3">
                  <c:v>0.69983246630599594</c:v>
                </c:pt>
                <c:pt idx="4">
                  <c:v>1.0944833122951398</c:v>
                </c:pt>
                <c:pt idx="5">
                  <c:v>0.97199829926401005</c:v>
                </c:pt>
                <c:pt idx="6">
                  <c:v>1.1977545990285894</c:v>
                </c:pt>
                <c:pt idx="7">
                  <c:v>0.99895067567919427</c:v>
                </c:pt>
                <c:pt idx="8">
                  <c:v>1.9272605774345437</c:v>
                </c:pt>
                <c:pt idx="9">
                  <c:v>0.90568574387956702</c:v>
                </c:pt>
                <c:pt idx="10">
                  <c:v>1.115649266729863</c:v>
                </c:pt>
                <c:pt idx="11">
                  <c:v>1.9467922333931782</c:v>
                </c:pt>
                <c:pt idx="12">
                  <c:v>1.1667710485793612</c:v>
                </c:pt>
                <c:pt idx="13">
                  <c:v>0.87044050150867347</c:v>
                </c:pt>
                <c:pt idx="14">
                  <c:v>1.4871673297469468</c:v>
                </c:pt>
                <c:pt idx="15">
                  <c:v>1.3317728964125448</c:v>
                </c:pt>
                <c:pt idx="16">
                  <c:v>1.5999053002277941</c:v>
                </c:pt>
              </c:numCache>
            </c:numRef>
          </c:val>
          <c:smooth val="0"/>
          <c:extLst>
            <c:ext xmlns:c16="http://schemas.microsoft.com/office/drawing/2014/chart" uri="{C3380CC4-5D6E-409C-BE32-E72D297353CC}">
              <c16:uniqueId val="{00000002-FCFE-4760-888E-8483C2B7CA65}"/>
            </c:ext>
          </c:extLst>
        </c:ser>
        <c:dLbls>
          <c:showLegendKey val="0"/>
          <c:showVal val="0"/>
          <c:showCatName val="0"/>
          <c:showSerName val="0"/>
          <c:showPercent val="0"/>
          <c:showBubbleSize val="0"/>
        </c:dLbls>
        <c:marker val="1"/>
        <c:smooth val="0"/>
        <c:axId val="774530080"/>
        <c:axId val="774531040"/>
      </c:lineChart>
      <c:catAx>
        <c:axId val="774530080"/>
        <c:scaling>
          <c:orientation val="minMax"/>
        </c:scaling>
        <c:delete val="0"/>
        <c:axPos val="b"/>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774531040"/>
        <c:crosses val="autoZero"/>
        <c:auto val="1"/>
        <c:lblAlgn val="ctr"/>
        <c:lblOffset val="100"/>
        <c:noMultiLvlLbl val="0"/>
      </c:catAx>
      <c:valAx>
        <c:axId val="774531040"/>
        <c:scaling>
          <c:orientation val="minMax"/>
        </c:scaling>
        <c:delete val="0"/>
        <c:axPos val="l"/>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77453008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dk1">
        <a:lumMod val="75000"/>
        <a:lumOff val="25000"/>
      </a:schemeClr>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[imdb.csv]genre!PivotTable21</c:name>
    <c:fmtId val="24"/>
  </c:pivotSource>
  <c:chart>
    <c:autoTitleDeleted val="0"/>
    <c:pivotFmts>
      <c:pivotFmt>
        <c:idx val="0"/>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1">
                <a:lumMod val="60000"/>
                <a:lumOff val="40000"/>
              </a:schemeClr>
            </a:solidFill>
            <a:ln>
              <a:noFill/>
            </a:ln>
            <a:effectLst>
              <a:glow rad="63500">
                <a:schemeClr val="accent1">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1"/>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2"/>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3">
                <a:lumMod val="60000"/>
                <a:lumOff val="40000"/>
              </a:schemeClr>
            </a:solidFill>
            <a:ln>
              <a:noFill/>
            </a:ln>
            <a:effectLst>
              <a:glow rad="63500">
                <a:schemeClr val="accent3">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extLst>
        </c:dLbl>
      </c:pivotFmt>
      <c:pivotFmt>
        <c:idx val="3"/>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1">
                <a:lumMod val="60000"/>
                <a:lumOff val="40000"/>
              </a:schemeClr>
            </a:solidFill>
            <a:ln>
              <a:noFill/>
            </a:ln>
            <a:effectLst>
              <a:glow rad="63500">
                <a:schemeClr val="accent1">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3">
                <a:lumMod val="60000"/>
                <a:lumOff val="40000"/>
              </a:schemeClr>
            </a:solidFill>
            <a:ln>
              <a:noFill/>
            </a:ln>
            <a:effectLst>
              <a:glow rad="63500">
                <a:schemeClr val="accent3">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1">
                <a:lumMod val="60000"/>
                <a:lumOff val="40000"/>
              </a:schemeClr>
            </a:solidFill>
            <a:ln>
              <a:noFill/>
            </a:ln>
            <a:effectLst>
              <a:glow rad="63500">
                <a:schemeClr val="accent1">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3">
                <a:lumMod val="60000"/>
                <a:lumOff val="40000"/>
              </a:schemeClr>
            </a:solidFill>
            <a:ln>
              <a:noFill/>
            </a:ln>
            <a:effectLst>
              <a:glow rad="63500">
                <a:schemeClr val="accent3">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genre!$E$4</c:f>
              <c:strCache>
                <c:ptCount val="1"/>
                <c:pt idx="0">
                  <c:v>Average of imdb_score</c:v>
                </c:pt>
              </c:strCache>
            </c:strRef>
          </c:tx>
          <c:spPr>
            <a:ln w="22225" cap="rnd">
              <a:solidFill>
                <a:schemeClr val="accent1"/>
              </a:solidFill>
            </a:ln>
            <a:effectLst>
              <a:glow rad="139700">
                <a:schemeClr val="accent1">
                  <a:satMod val="175000"/>
                  <a:alpha val="14000"/>
                </a:schemeClr>
              </a:glow>
            </a:effectLst>
          </c:spPr>
          <c:marker>
            <c:symbol val="circle"/>
            <c:size val="4"/>
            <c:spPr>
              <a:solidFill>
                <a:schemeClr val="accent1">
                  <a:lumMod val="60000"/>
                  <a:lumOff val="40000"/>
                </a:schemeClr>
              </a:solidFill>
              <a:ln>
                <a:noFill/>
              </a:ln>
              <a:effectLst>
                <a:glow rad="63500">
                  <a:schemeClr val="accent1">
                    <a:satMod val="175000"/>
                    <a:alpha val="25000"/>
                  </a:schemeClr>
                </a:glow>
              </a:effectLst>
            </c:spPr>
          </c:marker>
          <c:cat>
            <c:strRef>
              <c:f>genre!$D$5:$D$22</c:f>
              <c:strCache>
                <c:ptCount val="17"/>
                <c:pt idx="0">
                  <c:v>Action</c:v>
                </c:pt>
                <c:pt idx="1">
                  <c:v>Adventure</c:v>
                </c:pt>
                <c:pt idx="2">
                  <c:v>Animation</c:v>
                </c:pt>
                <c:pt idx="3">
                  <c:v>Biography</c:v>
                </c:pt>
                <c:pt idx="4">
                  <c:v>Comedy</c:v>
                </c:pt>
                <c:pt idx="5">
                  <c:v>Crime</c:v>
                </c:pt>
                <c:pt idx="6">
                  <c:v>Documentary</c:v>
                </c:pt>
                <c:pt idx="7">
                  <c:v>Drama</c:v>
                </c:pt>
                <c:pt idx="8">
                  <c:v>Family</c:v>
                </c:pt>
                <c:pt idx="9">
                  <c:v>Fantasy</c:v>
                </c:pt>
                <c:pt idx="10">
                  <c:v>Horror</c:v>
                </c:pt>
                <c:pt idx="11">
                  <c:v>Musical</c:v>
                </c:pt>
                <c:pt idx="12">
                  <c:v>Mystery</c:v>
                </c:pt>
                <c:pt idx="13">
                  <c:v>Romance</c:v>
                </c:pt>
                <c:pt idx="14">
                  <c:v>Sci-Fi</c:v>
                </c:pt>
                <c:pt idx="15">
                  <c:v>Thriller</c:v>
                </c:pt>
                <c:pt idx="16">
                  <c:v>Western</c:v>
                </c:pt>
              </c:strCache>
            </c:strRef>
          </c:cat>
          <c:val>
            <c:numRef>
              <c:f>genre!$E$5:$E$22</c:f>
              <c:numCache>
                <c:formatCode>0.00</c:formatCode>
                <c:ptCount val="17"/>
                <c:pt idx="0">
                  <c:v>6.0586538461538506</c:v>
                </c:pt>
                <c:pt idx="1">
                  <c:v>6.3541401273885354</c:v>
                </c:pt>
                <c:pt idx="2">
                  <c:v>6.6023809523809538</c:v>
                </c:pt>
                <c:pt idx="3">
                  <c:v>7.121212121212122</c:v>
                </c:pt>
                <c:pt idx="4">
                  <c:v>6.1717179902755319</c:v>
                </c:pt>
                <c:pt idx="5">
                  <c:v>6.8710843373493944</c:v>
                </c:pt>
                <c:pt idx="6">
                  <c:v>7.1536585365853664</c:v>
                </c:pt>
                <c:pt idx="7">
                  <c:v>6.7448087431693953</c:v>
                </c:pt>
                <c:pt idx="8">
                  <c:v>5.49</c:v>
                </c:pt>
                <c:pt idx="9">
                  <c:v>6.4333333333333327</c:v>
                </c:pt>
                <c:pt idx="10">
                  <c:v>5.6410714285714301</c:v>
                </c:pt>
                <c:pt idx="11">
                  <c:v>5.6000000000000005</c:v>
                </c:pt>
                <c:pt idx="12">
                  <c:v>6.4724137931034473</c:v>
                </c:pt>
                <c:pt idx="13">
                  <c:v>5.8833333333333329</c:v>
                </c:pt>
                <c:pt idx="14">
                  <c:v>6</c:v>
                </c:pt>
                <c:pt idx="15">
                  <c:v>5.5809523809523798</c:v>
                </c:pt>
                <c:pt idx="16">
                  <c:v>6.5833333333333321</c:v>
                </c:pt>
              </c:numCache>
            </c:numRef>
          </c:val>
          <c:smooth val="0"/>
          <c:extLst>
            <c:ext xmlns:c16="http://schemas.microsoft.com/office/drawing/2014/chart" uri="{C3380CC4-5D6E-409C-BE32-E72D297353CC}">
              <c16:uniqueId val="{00000000-7292-4A75-A264-7AC4904256FF}"/>
            </c:ext>
          </c:extLst>
        </c:ser>
        <c:ser>
          <c:idx val="1"/>
          <c:order val="1"/>
          <c:tx>
            <c:strRef>
              <c:f>genre!$F$4</c:f>
              <c:strCache>
                <c:ptCount val="1"/>
                <c:pt idx="0">
                  <c:v>Min of imdb_score</c:v>
                </c:pt>
              </c:strCache>
            </c:strRef>
          </c:tx>
          <c:spPr>
            <a:ln w="22225" cap="rnd">
              <a:solidFill>
                <a:schemeClr val="accent2"/>
              </a:solidFill>
            </a:ln>
            <a:effectLst>
              <a:glow rad="139700">
                <a:schemeClr val="accent2">
                  <a:satMod val="175000"/>
                  <a:alpha val="14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cat>
            <c:strRef>
              <c:f>genre!$D$5:$D$22</c:f>
              <c:strCache>
                <c:ptCount val="17"/>
                <c:pt idx="0">
                  <c:v>Action</c:v>
                </c:pt>
                <c:pt idx="1">
                  <c:v>Adventure</c:v>
                </c:pt>
                <c:pt idx="2">
                  <c:v>Animation</c:v>
                </c:pt>
                <c:pt idx="3">
                  <c:v>Biography</c:v>
                </c:pt>
                <c:pt idx="4">
                  <c:v>Comedy</c:v>
                </c:pt>
                <c:pt idx="5">
                  <c:v>Crime</c:v>
                </c:pt>
                <c:pt idx="6">
                  <c:v>Documentary</c:v>
                </c:pt>
                <c:pt idx="7">
                  <c:v>Drama</c:v>
                </c:pt>
                <c:pt idx="8">
                  <c:v>Family</c:v>
                </c:pt>
                <c:pt idx="9">
                  <c:v>Fantasy</c:v>
                </c:pt>
                <c:pt idx="10">
                  <c:v>Horror</c:v>
                </c:pt>
                <c:pt idx="11">
                  <c:v>Musical</c:v>
                </c:pt>
                <c:pt idx="12">
                  <c:v>Mystery</c:v>
                </c:pt>
                <c:pt idx="13">
                  <c:v>Romance</c:v>
                </c:pt>
                <c:pt idx="14">
                  <c:v>Sci-Fi</c:v>
                </c:pt>
                <c:pt idx="15">
                  <c:v>Thriller</c:v>
                </c:pt>
                <c:pt idx="16">
                  <c:v>Western</c:v>
                </c:pt>
              </c:strCache>
            </c:strRef>
          </c:cat>
          <c:val>
            <c:numRef>
              <c:f>genre!$F$5:$F$22</c:f>
              <c:numCache>
                <c:formatCode>0.00</c:formatCode>
                <c:ptCount val="17"/>
                <c:pt idx="0">
                  <c:v>1.7</c:v>
                </c:pt>
                <c:pt idx="1">
                  <c:v>2.2999999999999998</c:v>
                </c:pt>
                <c:pt idx="2">
                  <c:v>3.7</c:v>
                </c:pt>
                <c:pt idx="3">
                  <c:v>4.5</c:v>
                </c:pt>
                <c:pt idx="4">
                  <c:v>1.9</c:v>
                </c:pt>
                <c:pt idx="5">
                  <c:v>3.1</c:v>
                </c:pt>
                <c:pt idx="6">
                  <c:v>1.6</c:v>
                </c:pt>
                <c:pt idx="7">
                  <c:v>2</c:v>
                </c:pt>
                <c:pt idx="8">
                  <c:v>2.8</c:v>
                </c:pt>
                <c:pt idx="9">
                  <c:v>4.3</c:v>
                </c:pt>
                <c:pt idx="10">
                  <c:v>2.2000000000000002</c:v>
                </c:pt>
                <c:pt idx="11">
                  <c:v>3.4</c:v>
                </c:pt>
                <c:pt idx="12">
                  <c:v>3.2</c:v>
                </c:pt>
                <c:pt idx="13">
                  <c:v>5.0999999999999996</c:v>
                </c:pt>
                <c:pt idx="14">
                  <c:v>2.8</c:v>
                </c:pt>
                <c:pt idx="15">
                  <c:v>3.4</c:v>
                </c:pt>
                <c:pt idx="16">
                  <c:v>3.8</c:v>
                </c:pt>
              </c:numCache>
            </c:numRef>
          </c:val>
          <c:smooth val="0"/>
          <c:extLst>
            <c:ext xmlns:c16="http://schemas.microsoft.com/office/drawing/2014/chart" uri="{C3380CC4-5D6E-409C-BE32-E72D297353CC}">
              <c16:uniqueId val="{00000001-7292-4A75-A264-7AC4904256FF}"/>
            </c:ext>
          </c:extLst>
        </c:ser>
        <c:ser>
          <c:idx val="2"/>
          <c:order val="2"/>
          <c:tx>
            <c:strRef>
              <c:f>genre!$G$4</c:f>
              <c:strCache>
                <c:ptCount val="1"/>
                <c:pt idx="0">
                  <c:v>Max of imdb_score</c:v>
                </c:pt>
              </c:strCache>
            </c:strRef>
          </c:tx>
          <c:spPr>
            <a:ln w="22225" cap="rnd">
              <a:solidFill>
                <a:schemeClr val="accent3"/>
              </a:solidFill>
            </a:ln>
            <a:effectLst>
              <a:glow rad="139700">
                <a:schemeClr val="accent3">
                  <a:satMod val="175000"/>
                  <a:alpha val="14000"/>
                </a:schemeClr>
              </a:glow>
            </a:effectLst>
          </c:spPr>
          <c:marker>
            <c:symbol val="circle"/>
            <c:size val="4"/>
            <c:spPr>
              <a:solidFill>
                <a:schemeClr val="accent3">
                  <a:lumMod val="60000"/>
                  <a:lumOff val="40000"/>
                </a:schemeClr>
              </a:solidFill>
              <a:ln>
                <a:noFill/>
              </a:ln>
              <a:effectLst>
                <a:glow rad="63500">
                  <a:schemeClr val="accent3">
                    <a:satMod val="175000"/>
                    <a:alpha val="25000"/>
                  </a:schemeClr>
                </a:glow>
              </a:effectLst>
            </c:spPr>
          </c:marker>
          <c:cat>
            <c:strRef>
              <c:f>genre!$D$5:$D$22</c:f>
              <c:strCache>
                <c:ptCount val="17"/>
                <c:pt idx="0">
                  <c:v>Action</c:v>
                </c:pt>
                <c:pt idx="1">
                  <c:v>Adventure</c:v>
                </c:pt>
                <c:pt idx="2">
                  <c:v>Animation</c:v>
                </c:pt>
                <c:pt idx="3">
                  <c:v>Biography</c:v>
                </c:pt>
                <c:pt idx="4">
                  <c:v>Comedy</c:v>
                </c:pt>
                <c:pt idx="5">
                  <c:v>Crime</c:v>
                </c:pt>
                <c:pt idx="6">
                  <c:v>Documentary</c:v>
                </c:pt>
                <c:pt idx="7">
                  <c:v>Drama</c:v>
                </c:pt>
                <c:pt idx="8">
                  <c:v>Family</c:v>
                </c:pt>
                <c:pt idx="9">
                  <c:v>Fantasy</c:v>
                </c:pt>
                <c:pt idx="10">
                  <c:v>Horror</c:v>
                </c:pt>
                <c:pt idx="11">
                  <c:v>Musical</c:v>
                </c:pt>
                <c:pt idx="12">
                  <c:v>Mystery</c:v>
                </c:pt>
                <c:pt idx="13">
                  <c:v>Romance</c:v>
                </c:pt>
                <c:pt idx="14">
                  <c:v>Sci-Fi</c:v>
                </c:pt>
                <c:pt idx="15">
                  <c:v>Thriller</c:v>
                </c:pt>
                <c:pt idx="16">
                  <c:v>Western</c:v>
                </c:pt>
              </c:strCache>
            </c:strRef>
          </c:cat>
          <c:val>
            <c:numRef>
              <c:f>genre!$G$5:$G$22</c:f>
              <c:numCache>
                <c:formatCode>0.00</c:formatCode>
                <c:ptCount val="17"/>
                <c:pt idx="0">
                  <c:v>9.1</c:v>
                </c:pt>
                <c:pt idx="1">
                  <c:v>8.6</c:v>
                </c:pt>
                <c:pt idx="2">
                  <c:v>8.4</c:v>
                </c:pt>
                <c:pt idx="3">
                  <c:v>8.9</c:v>
                </c:pt>
                <c:pt idx="4">
                  <c:v>9.5</c:v>
                </c:pt>
                <c:pt idx="5">
                  <c:v>9.3000000000000007</c:v>
                </c:pt>
                <c:pt idx="6">
                  <c:v>8.6999999999999993</c:v>
                </c:pt>
                <c:pt idx="7">
                  <c:v>9.1</c:v>
                </c:pt>
                <c:pt idx="8">
                  <c:v>8.6</c:v>
                </c:pt>
                <c:pt idx="9">
                  <c:v>7.9</c:v>
                </c:pt>
                <c:pt idx="10">
                  <c:v>8.5</c:v>
                </c:pt>
                <c:pt idx="11">
                  <c:v>7.1</c:v>
                </c:pt>
                <c:pt idx="12">
                  <c:v>8.5</c:v>
                </c:pt>
                <c:pt idx="13">
                  <c:v>7.1</c:v>
                </c:pt>
                <c:pt idx="14">
                  <c:v>8.1999999999999993</c:v>
                </c:pt>
                <c:pt idx="15">
                  <c:v>8.1</c:v>
                </c:pt>
                <c:pt idx="16">
                  <c:v>8.9</c:v>
                </c:pt>
              </c:numCache>
            </c:numRef>
          </c:val>
          <c:smooth val="0"/>
          <c:extLst>
            <c:ext xmlns:c16="http://schemas.microsoft.com/office/drawing/2014/chart" uri="{C3380CC4-5D6E-409C-BE32-E72D297353CC}">
              <c16:uniqueId val="{00000002-7292-4A75-A264-7AC4904256FF}"/>
            </c:ext>
          </c:extLst>
        </c:ser>
        <c:dLbls>
          <c:showLegendKey val="0"/>
          <c:showVal val="0"/>
          <c:showCatName val="0"/>
          <c:showSerName val="0"/>
          <c:showPercent val="0"/>
          <c:showBubbleSize val="0"/>
        </c:dLbls>
        <c:marker val="1"/>
        <c:smooth val="0"/>
        <c:axId val="789699648"/>
        <c:axId val="789689568"/>
      </c:lineChart>
      <c:catAx>
        <c:axId val="789699648"/>
        <c:scaling>
          <c:orientation val="minMax"/>
        </c:scaling>
        <c:delete val="0"/>
        <c:axPos val="b"/>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789689568"/>
        <c:crosses val="autoZero"/>
        <c:auto val="1"/>
        <c:lblAlgn val="ctr"/>
        <c:lblOffset val="100"/>
        <c:noMultiLvlLbl val="0"/>
      </c:catAx>
      <c:valAx>
        <c:axId val="789689568"/>
        <c:scaling>
          <c:orientation val="minMax"/>
        </c:scaling>
        <c:delete val="0"/>
        <c:axPos val="l"/>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78969964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dk1">
        <a:lumMod val="75000"/>
        <a:lumOff val="25000"/>
      </a:schemeClr>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[imdb.csv]genre!PivotTable24</c:name>
    <c:fmtId val="29"/>
  </c:pivotSource>
  <c:chart>
    <c:autoTitleDeleted val="0"/>
    <c:pivotFmts>
      <c:pivotFmt>
        <c:idx val="0"/>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1">
                <a:lumMod val="60000"/>
                <a:lumOff val="40000"/>
              </a:schemeClr>
            </a:solidFill>
            <a:ln>
              <a:noFill/>
            </a:ln>
            <a:effectLst>
              <a:glow rad="63500">
                <a:schemeClr val="accent1">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3">
                <a:lumMod val="60000"/>
                <a:lumOff val="40000"/>
              </a:schemeClr>
            </a:solidFill>
            <a:ln>
              <a:noFill/>
            </a:ln>
            <a:effectLst>
              <a:glow rad="63500">
                <a:schemeClr val="accent3">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1">
                <a:lumMod val="60000"/>
                <a:lumOff val="40000"/>
              </a:schemeClr>
            </a:solidFill>
            <a:ln>
              <a:noFill/>
            </a:ln>
            <a:effectLst>
              <a:glow rad="63500">
                <a:schemeClr val="accent1">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3">
                <a:lumMod val="60000"/>
                <a:lumOff val="40000"/>
              </a:schemeClr>
            </a:solidFill>
            <a:ln>
              <a:noFill/>
            </a:ln>
            <a:effectLst>
              <a:glow rad="63500">
                <a:schemeClr val="accent3">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1">
                <a:lumMod val="60000"/>
                <a:lumOff val="40000"/>
              </a:schemeClr>
            </a:solidFill>
            <a:ln>
              <a:noFill/>
            </a:ln>
            <a:effectLst>
              <a:glow rad="63500">
                <a:schemeClr val="accent1">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3">
                <a:lumMod val="60000"/>
                <a:lumOff val="40000"/>
              </a:schemeClr>
            </a:solidFill>
            <a:ln>
              <a:noFill/>
            </a:ln>
            <a:effectLst>
              <a:glow rad="63500">
                <a:schemeClr val="accent3">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genre!$J$4</c:f>
              <c:strCache>
                <c:ptCount val="1"/>
                <c:pt idx="0">
                  <c:v>Average of imdb_score</c:v>
                </c:pt>
              </c:strCache>
            </c:strRef>
          </c:tx>
          <c:spPr>
            <a:ln w="22225" cap="rnd">
              <a:solidFill>
                <a:schemeClr val="accent1"/>
              </a:solidFill>
            </a:ln>
            <a:effectLst>
              <a:glow rad="139700">
                <a:schemeClr val="accent1">
                  <a:satMod val="175000"/>
                  <a:alpha val="14000"/>
                </a:schemeClr>
              </a:glow>
            </a:effectLst>
          </c:spPr>
          <c:marker>
            <c:symbol val="circle"/>
            <c:size val="4"/>
            <c:spPr>
              <a:solidFill>
                <a:schemeClr val="accent1">
                  <a:lumMod val="60000"/>
                  <a:lumOff val="40000"/>
                </a:schemeClr>
              </a:solidFill>
              <a:ln>
                <a:noFill/>
              </a:ln>
              <a:effectLst>
                <a:glow rad="63500">
                  <a:schemeClr val="accent1">
                    <a:satMod val="175000"/>
                    <a:alpha val="25000"/>
                  </a:schemeClr>
                </a:glow>
              </a:effectLst>
            </c:spPr>
          </c:marker>
          <c:cat>
            <c:strRef>
              <c:f>genre!$I$5:$I$22</c:f>
              <c:strCache>
                <c:ptCount val="17"/>
                <c:pt idx="0">
                  <c:v>Action</c:v>
                </c:pt>
                <c:pt idx="1">
                  <c:v>Adventure</c:v>
                </c:pt>
                <c:pt idx="2">
                  <c:v>Animation</c:v>
                </c:pt>
                <c:pt idx="3">
                  <c:v>Biography</c:v>
                </c:pt>
                <c:pt idx="4">
                  <c:v>Comedy</c:v>
                </c:pt>
                <c:pt idx="5">
                  <c:v>Crime</c:v>
                </c:pt>
                <c:pt idx="6">
                  <c:v>Documentary</c:v>
                </c:pt>
                <c:pt idx="7">
                  <c:v>Drama</c:v>
                </c:pt>
                <c:pt idx="8">
                  <c:v>Family</c:v>
                </c:pt>
                <c:pt idx="9">
                  <c:v>Fantasy</c:v>
                </c:pt>
                <c:pt idx="10">
                  <c:v>Horror</c:v>
                </c:pt>
                <c:pt idx="11">
                  <c:v>Musical</c:v>
                </c:pt>
                <c:pt idx="12">
                  <c:v>Mystery</c:v>
                </c:pt>
                <c:pt idx="13">
                  <c:v>Romance</c:v>
                </c:pt>
                <c:pt idx="14">
                  <c:v>Sci-Fi</c:v>
                </c:pt>
                <c:pt idx="15">
                  <c:v>Thriller</c:v>
                </c:pt>
                <c:pt idx="16">
                  <c:v>Western</c:v>
                </c:pt>
              </c:strCache>
            </c:strRef>
          </c:cat>
          <c:val>
            <c:numRef>
              <c:f>genre!$J$5:$J$22</c:f>
              <c:numCache>
                <c:formatCode>0.00</c:formatCode>
                <c:ptCount val="17"/>
                <c:pt idx="0">
                  <c:v>6.0586538461538506</c:v>
                </c:pt>
                <c:pt idx="1">
                  <c:v>6.3541401273885354</c:v>
                </c:pt>
                <c:pt idx="2">
                  <c:v>6.6023809523809538</c:v>
                </c:pt>
                <c:pt idx="3">
                  <c:v>7.121212121212122</c:v>
                </c:pt>
                <c:pt idx="4">
                  <c:v>6.1717179902755319</c:v>
                </c:pt>
                <c:pt idx="5">
                  <c:v>6.8710843373493944</c:v>
                </c:pt>
                <c:pt idx="6">
                  <c:v>7.1536585365853664</c:v>
                </c:pt>
                <c:pt idx="7">
                  <c:v>6.7448087431693953</c:v>
                </c:pt>
                <c:pt idx="8">
                  <c:v>5.49</c:v>
                </c:pt>
                <c:pt idx="9">
                  <c:v>6.4333333333333327</c:v>
                </c:pt>
                <c:pt idx="10">
                  <c:v>5.6410714285714301</c:v>
                </c:pt>
                <c:pt idx="11">
                  <c:v>5.6000000000000005</c:v>
                </c:pt>
                <c:pt idx="12">
                  <c:v>6.4724137931034473</c:v>
                </c:pt>
                <c:pt idx="13">
                  <c:v>5.8833333333333329</c:v>
                </c:pt>
                <c:pt idx="14">
                  <c:v>6</c:v>
                </c:pt>
                <c:pt idx="15">
                  <c:v>5.5809523809523798</c:v>
                </c:pt>
                <c:pt idx="16">
                  <c:v>6.5833333333333321</c:v>
                </c:pt>
              </c:numCache>
            </c:numRef>
          </c:val>
          <c:smooth val="0"/>
          <c:extLst>
            <c:ext xmlns:c16="http://schemas.microsoft.com/office/drawing/2014/chart" uri="{C3380CC4-5D6E-409C-BE32-E72D297353CC}">
              <c16:uniqueId val="{00000000-7B35-493E-AFDD-403C7DD048C0}"/>
            </c:ext>
          </c:extLst>
        </c:ser>
        <c:ser>
          <c:idx val="1"/>
          <c:order val="1"/>
          <c:tx>
            <c:strRef>
              <c:f>genre!$K$4</c:f>
              <c:strCache>
                <c:ptCount val="1"/>
                <c:pt idx="0">
                  <c:v>Var of imdb_score</c:v>
                </c:pt>
              </c:strCache>
            </c:strRef>
          </c:tx>
          <c:spPr>
            <a:ln w="22225" cap="rnd">
              <a:solidFill>
                <a:schemeClr val="accent2"/>
              </a:solidFill>
            </a:ln>
            <a:effectLst>
              <a:glow rad="139700">
                <a:schemeClr val="accent2">
                  <a:satMod val="175000"/>
                  <a:alpha val="14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cat>
            <c:strRef>
              <c:f>genre!$I$5:$I$22</c:f>
              <c:strCache>
                <c:ptCount val="17"/>
                <c:pt idx="0">
                  <c:v>Action</c:v>
                </c:pt>
                <c:pt idx="1">
                  <c:v>Adventure</c:v>
                </c:pt>
                <c:pt idx="2">
                  <c:v>Animation</c:v>
                </c:pt>
                <c:pt idx="3">
                  <c:v>Biography</c:v>
                </c:pt>
                <c:pt idx="4">
                  <c:v>Comedy</c:v>
                </c:pt>
                <c:pt idx="5">
                  <c:v>Crime</c:v>
                </c:pt>
                <c:pt idx="6">
                  <c:v>Documentary</c:v>
                </c:pt>
                <c:pt idx="7">
                  <c:v>Drama</c:v>
                </c:pt>
                <c:pt idx="8">
                  <c:v>Family</c:v>
                </c:pt>
                <c:pt idx="9">
                  <c:v>Fantasy</c:v>
                </c:pt>
                <c:pt idx="10">
                  <c:v>Horror</c:v>
                </c:pt>
                <c:pt idx="11">
                  <c:v>Musical</c:v>
                </c:pt>
                <c:pt idx="12">
                  <c:v>Mystery</c:v>
                </c:pt>
                <c:pt idx="13">
                  <c:v>Romance</c:v>
                </c:pt>
                <c:pt idx="14">
                  <c:v>Sci-Fi</c:v>
                </c:pt>
                <c:pt idx="15">
                  <c:v>Thriller</c:v>
                </c:pt>
                <c:pt idx="16">
                  <c:v>Western</c:v>
                </c:pt>
              </c:strCache>
            </c:strRef>
          </c:cat>
          <c:val>
            <c:numRef>
              <c:f>genre!$K$5:$K$22</c:f>
              <c:numCache>
                <c:formatCode>0.00</c:formatCode>
                <c:ptCount val="17"/>
                <c:pt idx="0">
                  <c:v>1.2451476441728875</c:v>
                </c:pt>
                <c:pt idx="1">
                  <c:v>1.320957245477322</c:v>
                </c:pt>
                <c:pt idx="2">
                  <c:v>1.7085307781649079</c:v>
                </c:pt>
                <c:pt idx="3">
                  <c:v>0.48976548089593291</c:v>
                </c:pt>
                <c:pt idx="4">
                  <c:v>1.1978937208925406</c:v>
                </c:pt>
                <c:pt idx="5">
                  <c:v>0.94478069377212803</c:v>
                </c:pt>
                <c:pt idx="6">
                  <c:v>1.4346160794941372</c:v>
                </c:pt>
                <c:pt idx="7">
                  <c:v>0.99790245243991871</c:v>
                </c:pt>
                <c:pt idx="8">
                  <c:v>3.7143333333333306</c:v>
                </c:pt>
                <c:pt idx="9">
                  <c:v>0.82026666666668457</c:v>
                </c:pt>
                <c:pt idx="10">
                  <c:v>1.2446732863548811</c:v>
                </c:pt>
                <c:pt idx="11">
                  <c:v>3.7899999999999991</c:v>
                </c:pt>
                <c:pt idx="12">
                  <c:v>1.3613546798029819</c:v>
                </c:pt>
                <c:pt idx="13">
                  <c:v>0.75766666666667104</c:v>
                </c:pt>
                <c:pt idx="14">
                  <c:v>2.2116666666666638</c:v>
                </c:pt>
                <c:pt idx="15">
                  <c:v>1.7736190476190585</c:v>
                </c:pt>
                <c:pt idx="16">
                  <c:v>2.5596969696969878</c:v>
                </c:pt>
              </c:numCache>
            </c:numRef>
          </c:val>
          <c:smooth val="0"/>
          <c:extLst>
            <c:ext xmlns:c16="http://schemas.microsoft.com/office/drawing/2014/chart" uri="{C3380CC4-5D6E-409C-BE32-E72D297353CC}">
              <c16:uniqueId val="{00000001-7B35-493E-AFDD-403C7DD048C0}"/>
            </c:ext>
          </c:extLst>
        </c:ser>
        <c:ser>
          <c:idx val="2"/>
          <c:order val="2"/>
          <c:tx>
            <c:strRef>
              <c:f>genre!$L$4</c:f>
              <c:strCache>
                <c:ptCount val="1"/>
                <c:pt idx="0">
                  <c:v>StdDev of imdb_score</c:v>
                </c:pt>
              </c:strCache>
            </c:strRef>
          </c:tx>
          <c:spPr>
            <a:ln w="22225" cap="rnd">
              <a:solidFill>
                <a:schemeClr val="accent3"/>
              </a:solidFill>
            </a:ln>
            <a:effectLst>
              <a:glow rad="139700">
                <a:schemeClr val="accent3">
                  <a:satMod val="175000"/>
                  <a:alpha val="14000"/>
                </a:schemeClr>
              </a:glow>
            </a:effectLst>
          </c:spPr>
          <c:marker>
            <c:symbol val="circle"/>
            <c:size val="4"/>
            <c:spPr>
              <a:solidFill>
                <a:schemeClr val="accent3">
                  <a:lumMod val="60000"/>
                  <a:lumOff val="40000"/>
                </a:schemeClr>
              </a:solidFill>
              <a:ln>
                <a:noFill/>
              </a:ln>
              <a:effectLst>
                <a:glow rad="63500">
                  <a:schemeClr val="accent3">
                    <a:satMod val="175000"/>
                    <a:alpha val="25000"/>
                  </a:schemeClr>
                </a:glow>
              </a:effectLst>
            </c:spPr>
          </c:marker>
          <c:cat>
            <c:strRef>
              <c:f>genre!$I$5:$I$22</c:f>
              <c:strCache>
                <c:ptCount val="17"/>
                <c:pt idx="0">
                  <c:v>Action</c:v>
                </c:pt>
                <c:pt idx="1">
                  <c:v>Adventure</c:v>
                </c:pt>
                <c:pt idx="2">
                  <c:v>Animation</c:v>
                </c:pt>
                <c:pt idx="3">
                  <c:v>Biography</c:v>
                </c:pt>
                <c:pt idx="4">
                  <c:v>Comedy</c:v>
                </c:pt>
                <c:pt idx="5">
                  <c:v>Crime</c:v>
                </c:pt>
                <c:pt idx="6">
                  <c:v>Documentary</c:v>
                </c:pt>
                <c:pt idx="7">
                  <c:v>Drama</c:v>
                </c:pt>
                <c:pt idx="8">
                  <c:v>Family</c:v>
                </c:pt>
                <c:pt idx="9">
                  <c:v>Fantasy</c:v>
                </c:pt>
                <c:pt idx="10">
                  <c:v>Horror</c:v>
                </c:pt>
                <c:pt idx="11">
                  <c:v>Musical</c:v>
                </c:pt>
                <c:pt idx="12">
                  <c:v>Mystery</c:v>
                </c:pt>
                <c:pt idx="13">
                  <c:v>Romance</c:v>
                </c:pt>
                <c:pt idx="14">
                  <c:v>Sci-Fi</c:v>
                </c:pt>
                <c:pt idx="15">
                  <c:v>Thriller</c:v>
                </c:pt>
                <c:pt idx="16">
                  <c:v>Western</c:v>
                </c:pt>
              </c:strCache>
            </c:strRef>
          </c:cat>
          <c:val>
            <c:numRef>
              <c:f>genre!$L$5:$L$22</c:f>
              <c:numCache>
                <c:formatCode>0.00</c:formatCode>
                <c:ptCount val="17"/>
                <c:pt idx="0">
                  <c:v>1.1158618391955555</c:v>
                </c:pt>
                <c:pt idx="1">
                  <c:v>1.14932904143127</c:v>
                </c:pt>
                <c:pt idx="2">
                  <c:v>1.307107791333564</c:v>
                </c:pt>
                <c:pt idx="3">
                  <c:v>0.69983246630599594</c:v>
                </c:pt>
                <c:pt idx="4">
                  <c:v>1.0944833122951398</c:v>
                </c:pt>
                <c:pt idx="5">
                  <c:v>0.97199829926401005</c:v>
                </c:pt>
                <c:pt idx="6">
                  <c:v>1.1977545990285894</c:v>
                </c:pt>
                <c:pt idx="7">
                  <c:v>0.99895067567919427</c:v>
                </c:pt>
                <c:pt idx="8">
                  <c:v>1.9272605774345437</c:v>
                </c:pt>
                <c:pt idx="9">
                  <c:v>0.90568574387956702</c:v>
                </c:pt>
                <c:pt idx="10">
                  <c:v>1.115649266729863</c:v>
                </c:pt>
                <c:pt idx="11">
                  <c:v>1.9467922333931782</c:v>
                </c:pt>
                <c:pt idx="12">
                  <c:v>1.1667710485793612</c:v>
                </c:pt>
                <c:pt idx="13">
                  <c:v>0.87044050150867347</c:v>
                </c:pt>
                <c:pt idx="14">
                  <c:v>1.4871673297469468</c:v>
                </c:pt>
                <c:pt idx="15">
                  <c:v>1.3317728964125448</c:v>
                </c:pt>
                <c:pt idx="16">
                  <c:v>1.5999053002277941</c:v>
                </c:pt>
              </c:numCache>
            </c:numRef>
          </c:val>
          <c:smooth val="0"/>
          <c:extLst>
            <c:ext xmlns:c16="http://schemas.microsoft.com/office/drawing/2014/chart" uri="{C3380CC4-5D6E-409C-BE32-E72D297353CC}">
              <c16:uniqueId val="{00000002-7B35-493E-AFDD-403C7DD048C0}"/>
            </c:ext>
          </c:extLst>
        </c:ser>
        <c:dLbls>
          <c:showLegendKey val="0"/>
          <c:showVal val="0"/>
          <c:showCatName val="0"/>
          <c:showSerName val="0"/>
          <c:showPercent val="0"/>
          <c:showBubbleSize val="0"/>
        </c:dLbls>
        <c:marker val="1"/>
        <c:smooth val="0"/>
        <c:axId val="774530080"/>
        <c:axId val="774531040"/>
      </c:lineChart>
      <c:catAx>
        <c:axId val="774530080"/>
        <c:scaling>
          <c:orientation val="minMax"/>
        </c:scaling>
        <c:delete val="0"/>
        <c:axPos val="b"/>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774531040"/>
        <c:crosses val="autoZero"/>
        <c:auto val="1"/>
        <c:lblAlgn val="ctr"/>
        <c:lblOffset val="100"/>
        <c:noMultiLvlLbl val="0"/>
      </c:catAx>
      <c:valAx>
        <c:axId val="774531040"/>
        <c:scaling>
          <c:orientation val="minMax"/>
        </c:scaling>
        <c:delete val="0"/>
        <c:axPos val="l"/>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77453008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dk1">
        <a:lumMod val="75000"/>
        <a:lumOff val="25000"/>
      </a:schemeClr>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[imdb.csv]duration!PivotTable4</c:name>
    <c:fmtId val="6"/>
  </c:pivotSource>
  <c:chart>
    <c:autoTitleDeleted val="0"/>
    <c:pivotFmts>
      <c:pivotFmt>
        <c:idx val="0"/>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1">
                <a:lumMod val="60000"/>
                <a:lumOff val="40000"/>
              </a:schemeClr>
            </a:solidFill>
            <a:ln>
              <a:noFill/>
            </a:ln>
            <a:effectLst>
              <a:glow rad="63500">
                <a:schemeClr val="accent1">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3">
                <a:lumMod val="60000"/>
                <a:lumOff val="40000"/>
              </a:schemeClr>
            </a:solidFill>
            <a:ln>
              <a:noFill/>
            </a:ln>
            <a:effectLst>
              <a:glow rad="63500">
                <a:schemeClr val="accent3">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4">
                <a:lumMod val="60000"/>
                <a:lumOff val="40000"/>
              </a:schemeClr>
            </a:solidFill>
            <a:ln>
              <a:noFill/>
            </a:ln>
            <a:effectLst>
              <a:glow rad="63500">
                <a:schemeClr val="accent4">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1">
                <a:lumMod val="60000"/>
                <a:lumOff val="40000"/>
              </a:schemeClr>
            </a:solidFill>
            <a:ln>
              <a:noFill/>
            </a:ln>
            <a:effectLst>
              <a:glow rad="63500">
                <a:schemeClr val="accent1">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3">
                <a:lumMod val="60000"/>
                <a:lumOff val="40000"/>
              </a:schemeClr>
            </a:solidFill>
            <a:ln>
              <a:noFill/>
            </a:ln>
            <a:effectLst>
              <a:glow rad="63500">
                <a:schemeClr val="accent3">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4">
                <a:lumMod val="60000"/>
                <a:lumOff val="40000"/>
              </a:schemeClr>
            </a:solidFill>
            <a:ln>
              <a:noFill/>
            </a:ln>
            <a:effectLst>
              <a:glow rad="63500">
                <a:schemeClr val="accent4">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1">
                <a:lumMod val="60000"/>
                <a:lumOff val="40000"/>
              </a:schemeClr>
            </a:solidFill>
            <a:ln>
              <a:noFill/>
            </a:ln>
            <a:effectLst>
              <a:glow rad="63500">
                <a:schemeClr val="accent1">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3">
                <a:lumMod val="60000"/>
                <a:lumOff val="40000"/>
              </a:schemeClr>
            </a:solidFill>
            <a:ln>
              <a:noFill/>
            </a:ln>
            <a:effectLst>
              <a:glow rad="63500">
                <a:schemeClr val="accent3">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4">
                <a:lumMod val="60000"/>
                <a:lumOff val="40000"/>
              </a:schemeClr>
            </a:solidFill>
            <a:ln>
              <a:noFill/>
            </a:ln>
            <a:effectLst>
              <a:glow rad="63500">
                <a:schemeClr val="accent4">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duration!$B$3</c:f>
              <c:strCache>
                <c:ptCount val="1"/>
                <c:pt idx="0">
                  <c:v>Average of imdb_score</c:v>
                </c:pt>
              </c:strCache>
            </c:strRef>
          </c:tx>
          <c:spPr>
            <a:ln w="22225" cap="rnd">
              <a:solidFill>
                <a:schemeClr val="accent1"/>
              </a:solidFill>
            </a:ln>
            <a:effectLst>
              <a:glow rad="139700">
                <a:schemeClr val="accent1">
                  <a:satMod val="175000"/>
                  <a:alpha val="14000"/>
                </a:schemeClr>
              </a:glow>
            </a:effectLst>
          </c:spPr>
          <c:marker>
            <c:symbol val="circle"/>
            <c:size val="4"/>
            <c:spPr>
              <a:solidFill>
                <a:schemeClr val="accent1">
                  <a:lumMod val="60000"/>
                  <a:lumOff val="40000"/>
                </a:schemeClr>
              </a:solidFill>
              <a:ln>
                <a:noFill/>
              </a:ln>
              <a:effectLst>
                <a:glow rad="63500">
                  <a:schemeClr val="accent1">
                    <a:satMod val="175000"/>
                    <a:alpha val="25000"/>
                  </a:schemeClr>
                </a:glow>
              </a:effectLst>
            </c:spPr>
          </c:marker>
          <c:trendline>
            <c:spPr>
              <a:ln w="25400" cap="rnd">
                <a:solidFill>
                  <a:schemeClr val="accent1">
                    <a:alpha val="50000"/>
                  </a:schemeClr>
                </a:solidFill>
              </a:ln>
              <a:effectLst/>
            </c:spPr>
            <c:trendlineType val="movingAvg"/>
            <c:period val="2"/>
            <c:dispRSqr val="0"/>
            <c:dispEq val="0"/>
          </c:trendline>
          <c:cat>
            <c:strRef>
              <c:f>duration!$A$4:$A$12</c:f>
              <c:strCache>
                <c:ptCount val="8"/>
                <c:pt idx="0">
                  <c:v>&lt;1 or (blank)</c:v>
                </c:pt>
                <c:pt idx="1">
                  <c:v>1-51</c:v>
                </c:pt>
                <c:pt idx="2">
                  <c:v>51-101</c:v>
                </c:pt>
                <c:pt idx="3">
                  <c:v>101-151</c:v>
                </c:pt>
                <c:pt idx="4">
                  <c:v>151-201</c:v>
                </c:pt>
                <c:pt idx="5">
                  <c:v>201-251</c:v>
                </c:pt>
                <c:pt idx="6">
                  <c:v>251-301</c:v>
                </c:pt>
                <c:pt idx="7">
                  <c:v>301-351</c:v>
                </c:pt>
              </c:strCache>
            </c:strRef>
          </c:cat>
          <c:val>
            <c:numRef>
              <c:f>duration!$B$4:$B$12</c:f>
              <c:numCache>
                <c:formatCode>0.00</c:formatCode>
                <c:ptCount val="8"/>
                <c:pt idx="1">
                  <c:v>7.3450704225352093</c:v>
                </c:pt>
                <c:pt idx="2">
                  <c:v>5.9978417266187209</c:v>
                </c:pt>
                <c:pt idx="3">
                  <c:v>6.6296061566319731</c:v>
                </c:pt>
                <c:pt idx="4">
                  <c:v>7.3980582524271821</c:v>
                </c:pt>
                <c:pt idx="5">
                  <c:v>7.6928571428571422</c:v>
                </c:pt>
                <c:pt idx="6">
                  <c:v>7.6000000000000005</c:v>
                </c:pt>
                <c:pt idx="7">
                  <c:v>7.5</c:v>
                </c:pt>
              </c:numCache>
            </c:numRef>
          </c:val>
          <c:smooth val="0"/>
          <c:extLst>
            <c:ext xmlns:c16="http://schemas.microsoft.com/office/drawing/2014/chart" uri="{C3380CC4-5D6E-409C-BE32-E72D297353CC}">
              <c16:uniqueId val="{00000001-98E2-4579-B521-2864357983A3}"/>
            </c:ext>
          </c:extLst>
        </c:ser>
        <c:ser>
          <c:idx val="1"/>
          <c:order val="1"/>
          <c:tx>
            <c:strRef>
              <c:f>duration!$C$3</c:f>
              <c:strCache>
                <c:ptCount val="1"/>
                <c:pt idx="0">
                  <c:v>Max of imdb_score</c:v>
                </c:pt>
              </c:strCache>
            </c:strRef>
          </c:tx>
          <c:spPr>
            <a:ln w="22225" cap="rnd">
              <a:solidFill>
                <a:schemeClr val="accent2"/>
              </a:solidFill>
            </a:ln>
            <a:effectLst>
              <a:glow rad="139700">
                <a:schemeClr val="accent2">
                  <a:satMod val="175000"/>
                  <a:alpha val="14000"/>
                </a:schemeClr>
              </a:glow>
            </a:effectLst>
          </c:spPr>
          <c:marker>
            <c:symbol val="circle"/>
            <c:size val="4"/>
            <c:spPr>
              <a:solidFill>
                <a:schemeClr val="accent2">
                  <a:lumMod val="60000"/>
                  <a:lumOff val="40000"/>
                </a:schemeClr>
              </a:solidFill>
              <a:ln>
                <a:noFill/>
              </a:ln>
              <a:effectLst>
                <a:glow rad="63500">
                  <a:schemeClr val="accent2">
                    <a:satMod val="175000"/>
                    <a:alpha val="25000"/>
                  </a:schemeClr>
                </a:glow>
              </a:effectLst>
            </c:spPr>
          </c:marker>
          <c:cat>
            <c:strRef>
              <c:f>duration!$A$4:$A$12</c:f>
              <c:strCache>
                <c:ptCount val="8"/>
                <c:pt idx="0">
                  <c:v>&lt;1 or (blank)</c:v>
                </c:pt>
                <c:pt idx="1">
                  <c:v>1-51</c:v>
                </c:pt>
                <c:pt idx="2">
                  <c:v>51-101</c:v>
                </c:pt>
                <c:pt idx="3">
                  <c:v>101-151</c:v>
                </c:pt>
                <c:pt idx="4">
                  <c:v>151-201</c:v>
                </c:pt>
                <c:pt idx="5">
                  <c:v>201-251</c:v>
                </c:pt>
                <c:pt idx="6">
                  <c:v>251-301</c:v>
                </c:pt>
                <c:pt idx="7">
                  <c:v>301-351</c:v>
                </c:pt>
              </c:strCache>
            </c:strRef>
          </c:cat>
          <c:val>
            <c:numRef>
              <c:f>duration!$C$4:$C$12</c:f>
              <c:numCache>
                <c:formatCode>0.00</c:formatCode>
                <c:ptCount val="8"/>
                <c:pt idx="1">
                  <c:v>8.8000000000000007</c:v>
                </c:pt>
                <c:pt idx="2">
                  <c:v>9.5</c:v>
                </c:pt>
                <c:pt idx="3">
                  <c:v>9.3000000000000007</c:v>
                </c:pt>
                <c:pt idx="4">
                  <c:v>8.9</c:v>
                </c:pt>
                <c:pt idx="5">
                  <c:v>9</c:v>
                </c:pt>
                <c:pt idx="6">
                  <c:v>8.5</c:v>
                </c:pt>
                <c:pt idx="7">
                  <c:v>8</c:v>
                </c:pt>
              </c:numCache>
            </c:numRef>
          </c:val>
          <c:smooth val="0"/>
          <c:extLst>
            <c:ext xmlns:c16="http://schemas.microsoft.com/office/drawing/2014/chart" uri="{C3380CC4-5D6E-409C-BE32-E72D297353CC}">
              <c16:uniqueId val="{00000002-98E2-4579-B521-2864357983A3}"/>
            </c:ext>
          </c:extLst>
        </c:ser>
        <c:ser>
          <c:idx val="2"/>
          <c:order val="2"/>
          <c:tx>
            <c:strRef>
              <c:f>duration!$D$3</c:f>
              <c:strCache>
                <c:ptCount val="1"/>
                <c:pt idx="0">
                  <c:v>Min of imdb_score</c:v>
                </c:pt>
              </c:strCache>
            </c:strRef>
          </c:tx>
          <c:spPr>
            <a:ln w="22225" cap="rnd">
              <a:solidFill>
                <a:schemeClr val="accent3"/>
              </a:solidFill>
            </a:ln>
            <a:effectLst>
              <a:glow rad="139700">
                <a:schemeClr val="accent3">
                  <a:satMod val="175000"/>
                  <a:alpha val="14000"/>
                </a:schemeClr>
              </a:glow>
            </a:effectLst>
          </c:spPr>
          <c:marker>
            <c:symbol val="circle"/>
            <c:size val="4"/>
            <c:spPr>
              <a:solidFill>
                <a:schemeClr val="accent3">
                  <a:lumMod val="60000"/>
                  <a:lumOff val="40000"/>
                </a:schemeClr>
              </a:solidFill>
              <a:ln>
                <a:noFill/>
              </a:ln>
              <a:effectLst>
                <a:glow rad="63500">
                  <a:schemeClr val="accent3">
                    <a:satMod val="175000"/>
                    <a:alpha val="25000"/>
                  </a:schemeClr>
                </a:glow>
              </a:effectLst>
            </c:spPr>
          </c:marker>
          <c:cat>
            <c:strRef>
              <c:f>duration!$A$4:$A$12</c:f>
              <c:strCache>
                <c:ptCount val="8"/>
                <c:pt idx="0">
                  <c:v>&lt;1 or (blank)</c:v>
                </c:pt>
                <c:pt idx="1">
                  <c:v>1-51</c:v>
                </c:pt>
                <c:pt idx="2">
                  <c:v>51-101</c:v>
                </c:pt>
                <c:pt idx="3">
                  <c:v>101-151</c:v>
                </c:pt>
                <c:pt idx="4">
                  <c:v>151-201</c:v>
                </c:pt>
                <c:pt idx="5">
                  <c:v>201-251</c:v>
                </c:pt>
                <c:pt idx="6">
                  <c:v>251-301</c:v>
                </c:pt>
                <c:pt idx="7">
                  <c:v>301-351</c:v>
                </c:pt>
              </c:strCache>
            </c:strRef>
          </c:cat>
          <c:val>
            <c:numRef>
              <c:f>duration!$D$4:$D$12</c:f>
              <c:numCache>
                <c:formatCode>0.00</c:formatCode>
                <c:ptCount val="8"/>
                <c:pt idx="1">
                  <c:v>3.5</c:v>
                </c:pt>
                <c:pt idx="2">
                  <c:v>1.7</c:v>
                </c:pt>
                <c:pt idx="3">
                  <c:v>1.6</c:v>
                </c:pt>
                <c:pt idx="4">
                  <c:v>3.8</c:v>
                </c:pt>
                <c:pt idx="5">
                  <c:v>5.8</c:v>
                </c:pt>
                <c:pt idx="6">
                  <c:v>6.3</c:v>
                </c:pt>
                <c:pt idx="7">
                  <c:v>6.8</c:v>
                </c:pt>
              </c:numCache>
            </c:numRef>
          </c:val>
          <c:smooth val="0"/>
          <c:extLst>
            <c:ext xmlns:c16="http://schemas.microsoft.com/office/drawing/2014/chart" uri="{C3380CC4-5D6E-409C-BE32-E72D297353CC}">
              <c16:uniqueId val="{00000003-98E2-4579-B521-2864357983A3}"/>
            </c:ext>
          </c:extLst>
        </c:ser>
        <c:ser>
          <c:idx val="3"/>
          <c:order val="3"/>
          <c:tx>
            <c:strRef>
              <c:f>duration!$E$3</c:f>
              <c:strCache>
                <c:ptCount val="1"/>
                <c:pt idx="0">
                  <c:v>StdDev of imdb_score</c:v>
                </c:pt>
              </c:strCache>
            </c:strRef>
          </c:tx>
          <c:spPr>
            <a:ln w="22225" cap="rnd">
              <a:solidFill>
                <a:schemeClr val="accent4"/>
              </a:solidFill>
            </a:ln>
            <a:effectLst>
              <a:glow rad="139700">
                <a:schemeClr val="accent4">
                  <a:satMod val="175000"/>
                  <a:alpha val="14000"/>
                </a:schemeClr>
              </a:glow>
            </a:effectLst>
          </c:spPr>
          <c:marker>
            <c:symbol val="circle"/>
            <c:size val="4"/>
            <c:spPr>
              <a:solidFill>
                <a:schemeClr val="accent4">
                  <a:lumMod val="60000"/>
                  <a:lumOff val="40000"/>
                </a:schemeClr>
              </a:solidFill>
              <a:ln>
                <a:noFill/>
              </a:ln>
              <a:effectLst>
                <a:glow rad="63500">
                  <a:schemeClr val="accent4">
                    <a:satMod val="175000"/>
                    <a:alpha val="25000"/>
                  </a:schemeClr>
                </a:glow>
              </a:effectLst>
            </c:spPr>
          </c:marker>
          <c:cat>
            <c:strRef>
              <c:f>duration!$A$4:$A$12</c:f>
              <c:strCache>
                <c:ptCount val="8"/>
                <c:pt idx="0">
                  <c:v>&lt;1 or (blank)</c:v>
                </c:pt>
                <c:pt idx="1">
                  <c:v>1-51</c:v>
                </c:pt>
                <c:pt idx="2">
                  <c:v>51-101</c:v>
                </c:pt>
                <c:pt idx="3">
                  <c:v>101-151</c:v>
                </c:pt>
                <c:pt idx="4">
                  <c:v>151-201</c:v>
                </c:pt>
                <c:pt idx="5">
                  <c:v>201-251</c:v>
                </c:pt>
                <c:pt idx="6">
                  <c:v>251-301</c:v>
                </c:pt>
                <c:pt idx="7">
                  <c:v>301-351</c:v>
                </c:pt>
              </c:strCache>
            </c:strRef>
          </c:cat>
          <c:val>
            <c:numRef>
              <c:f>duration!$E$4:$E$12</c:f>
              <c:numCache>
                <c:formatCode>0.00</c:formatCode>
                <c:ptCount val="8"/>
                <c:pt idx="1">
                  <c:v>1.0041042536075087</c:v>
                </c:pt>
                <c:pt idx="2">
                  <c:v>1.2081111763927708</c:v>
                </c:pt>
                <c:pt idx="3">
                  <c:v>0.94687791644825547</c:v>
                </c:pt>
                <c:pt idx="4">
                  <c:v>0.89792577781004879</c:v>
                </c:pt>
                <c:pt idx="5">
                  <c:v>0.88792262805190669</c:v>
                </c:pt>
                <c:pt idx="6">
                  <c:v>0.86520022455580869</c:v>
                </c:pt>
                <c:pt idx="7">
                  <c:v>0.62449979983984027</c:v>
                </c:pt>
              </c:numCache>
            </c:numRef>
          </c:val>
          <c:smooth val="0"/>
          <c:extLst>
            <c:ext xmlns:c16="http://schemas.microsoft.com/office/drawing/2014/chart" uri="{C3380CC4-5D6E-409C-BE32-E72D297353CC}">
              <c16:uniqueId val="{00000004-98E2-4579-B521-2864357983A3}"/>
            </c:ext>
          </c:extLst>
        </c:ser>
        <c:dLbls>
          <c:showLegendKey val="0"/>
          <c:showVal val="0"/>
          <c:showCatName val="0"/>
          <c:showSerName val="0"/>
          <c:showPercent val="0"/>
          <c:showBubbleSize val="0"/>
        </c:dLbls>
        <c:marker val="1"/>
        <c:smooth val="0"/>
        <c:axId val="2028759696"/>
        <c:axId val="2028767856"/>
      </c:lineChart>
      <c:catAx>
        <c:axId val="2028759696"/>
        <c:scaling>
          <c:orientation val="minMax"/>
        </c:scaling>
        <c:delete val="0"/>
        <c:axPos val="b"/>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lt1">
                    <a:lumMod val="75000"/>
                  </a:schemeClr>
                </a:solidFill>
                <a:latin typeface="+mn-lt"/>
                <a:ea typeface="+mn-ea"/>
                <a:cs typeface="+mn-cs"/>
              </a:defRPr>
            </a:pPr>
            <a:endParaRPr lang="en-US"/>
          </a:p>
        </c:txPr>
        <c:crossAx val="2028767856"/>
        <c:crosses val="autoZero"/>
        <c:auto val="1"/>
        <c:lblAlgn val="ctr"/>
        <c:lblOffset val="100"/>
        <c:noMultiLvlLbl val="0"/>
      </c:catAx>
      <c:valAx>
        <c:axId val="2028767856"/>
        <c:scaling>
          <c:orientation val="minMax"/>
        </c:scaling>
        <c:delete val="0"/>
        <c:axPos val="l"/>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lt1">
                    <a:lumMod val="75000"/>
                  </a:schemeClr>
                </a:solidFill>
                <a:latin typeface="+mn-lt"/>
                <a:ea typeface="+mn-ea"/>
                <a:cs typeface="+mn-cs"/>
              </a:defRPr>
            </a:pPr>
            <a:endParaRPr lang="en-US"/>
          </a:p>
        </c:txPr>
        <c:crossAx val="202875969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400" b="0" i="0" u="none" strike="noStrike" kern="1200" baseline="0">
              <a:solidFill>
                <a:schemeClr val="lt1">
                  <a:lumMod val="7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dk1">
        <a:lumMod val="75000"/>
        <a:lumOff val="25000"/>
      </a:schemeClr>
    </a:solidFill>
    <a:ln w="9525" cap="flat" cmpd="sng" algn="ctr">
      <a:solidFill>
        <a:schemeClr val="dk1">
          <a:lumMod val="15000"/>
          <a:lumOff val="85000"/>
        </a:schemeClr>
      </a:solidFill>
      <a:round/>
    </a:ln>
    <a:effectLst/>
  </c:spPr>
  <c:txPr>
    <a:bodyPr/>
    <a:lstStyle/>
    <a:p>
      <a:pPr>
        <a:defRPr sz="1400"/>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36">
  <cs:axisTitle>
    <cs:lnRef idx="0"/>
    <cs:fillRef idx="0"/>
    <cs:effectRef idx="0"/>
    <cs:fontRef idx="minor">
      <a:schemeClr val="lt1">
        <a:lumMod val="75000"/>
      </a:schemeClr>
    </cs:fontRef>
    <cs:defRPr sz="900" b="1" kern="1200"/>
  </cs:axisTitle>
  <cs:categoryAxis>
    <cs:lnRef idx="0"/>
    <cs:fillRef idx="0"/>
    <cs:effectRef idx="0"/>
    <cs:fontRef idx="minor">
      <a:schemeClr val="lt1">
        <a:lumMod val="75000"/>
      </a:schemeClr>
    </cs:fontRef>
    <cs:defRPr sz="900"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9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900"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75000"/>
                <a:lumOff val="25000"/>
              </a:schemeClr>
            </a:gs>
            <a:gs pos="0">
              <a:schemeClr val="dk1">
                <a:lumMod val="65000"/>
                <a:lumOff val="3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dk1">
                <a:lumMod val="75000"/>
                <a:lumOff val="25000"/>
                <a:alpha val="25000"/>
              </a:schemeClr>
            </a:gs>
            <a:gs pos="0">
              <a:schemeClr val="dk1">
                <a:lumMod val="65000"/>
                <a:lumOff val="35000"/>
                <a:alpha val="25000"/>
              </a:schemeClr>
            </a:gs>
          </a:gsLst>
          <a:lin ang="5400000" scaled="0"/>
        </a:gra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900"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400"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36">
  <cs:axisTitle>
    <cs:lnRef idx="0"/>
    <cs:fillRef idx="0"/>
    <cs:effectRef idx="0"/>
    <cs:fontRef idx="minor">
      <a:schemeClr val="lt1">
        <a:lumMod val="75000"/>
      </a:schemeClr>
    </cs:fontRef>
    <cs:defRPr sz="900" b="1" kern="1200"/>
  </cs:axisTitle>
  <cs:categoryAxis>
    <cs:lnRef idx="0"/>
    <cs:fillRef idx="0"/>
    <cs:effectRef idx="0"/>
    <cs:fontRef idx="minor">
      <a:schemeClr val="lt1">
        <a:lumMod val="75000"/>
      </a:schemeClr>
    </cs:fontRef>
    <cs:defRPr sz="900"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9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900"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75000"/>
                <a:lumOff val="25000"/>
              </a:schemeClr>
            </a:gs>
            <a:gs pos="0">
              <a:schemeClr val="dk1">
                <a:lumMod val="65000"/>
                <a:lumOff val="3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dk1">
                <a:lumMod val="75000"/>
                <a:lumOff val="25000"/>
                <a:alpha val="25000"/>
              </a:schemeClr>
            </a:gs>
            <a:gs pos="0">
              <a:schemeClr val="dk1">
                <a:lumMod val="65000"/>
                <a:lumOff val="35000"/>
                <a:alpha val="25000"/>
              </a:schemeClr>
            </a:gs>
          </a:gsLst>
          <a:lin ang="5400000" scaled="0"/>
        </a:gra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900"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400"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36">
  <cs:axisTitle>
    <cs:lnRef idx="0"/>
    <cs:fillRef idx="0"/>
    <cs:effectRef idx="0"/>
    <cs:fontRef idx="minor">
      <a:schemeClr val="lt1">
        <a:lumMod val="75000"/>
      </a:schemeClr>
    </cs:fontRef>
    <cs:defRPr sz="900" b="1" kern="1200"/>
  </cs:axisTitle>
  <cs:categoryAxis>
    <cs:lnRef idx="0"/>
    <cs:fillRef idx="0"/>
    <cs:effectRef idx="0"/>
    <cs:fontRef idx="minor">
      <a:schemeClr val="lt1">
        <a:lumMod val="75000"/>
      </a:schemeClr>
    </cs:fontRef>
    <cs:defRPr sz="900"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9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900"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75000"/>
                <a:lumOff val="25000"/>
              </a:schemeClr>
            </a:gs>
            <a:gs pos="0">
              <a:schemeClr val="dk1">
                <a:lumMod val="65000"/>
                <a:lumOff val="3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dk1">
                <a:lumMod val="75000"/>
                <a:lumOff val="25000"/>
                <a:alpha val="25000"/>
              </a:schemeClr>
            </a:gs>
            <a:gs pos="0">
              <a:schemeClr val="dk1">
                <a:lumMod val="65000"/>
                <a:lumOff val="35000"/>
                <a:alpha val="25000"/>
              </a:schemeClr>
            </a:gs>
          </a:gsLst>
          <a:lin ang="5400000" scaled="0"/>
        </a:gra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900"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400"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36">
  <cs:axisTitle>
    <cs:lnRef idx="0"/>
    <cs:fillRef idx="0"/>
    <cs:effectRef idx="0"/>
    <cs:fontRef idx="minor">
      <a:schemeClr val="lt1">
        <a:lumMod val="75000"/>
      </a:schemeClr>
    </cs:fontRef>
    <cs:defRPr sz="900" b="1" kern="1200"/>
  </cs:axisTitle>
  <cs:categoryAxis>
    <cs:lnRef idx="0"/>
    <cs:fillRef idx="0"/>
    <cs:effectRef idx="0"/>
    <cs:fontRef idx="minor">
      <a:schemeClr val="lt1">
        <a:lumMod val="75000"/>
      </a:schemeClr>
    </cs:fontRef>
    <cs:defRPr sz="900"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9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900"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75000"/>
                <a:lumOff val="25000"/>
              </a:schemeClr>
            </a:gs>
            <a:gs pos="0">
              <a:schemeClr val="dk1">
                <a:lumMod val="65000"/>
                <a:lumOff val="3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dk1">
                <a:lumMod val="75000"/>
                <a:lumOff val="25000"/>
                <a:alpha val="25000"/>
              </a:schemeClr>
            </a:gs>
            <a:gs pos="0">
              <a:schemeClr val="dk1">
                <a:lumMod val="65000"/>
                <a:lumOff val="35000"/>
                <a:alpha val="25000"/>
              </a:schemeClr>
            </a:gs>
          </a:gsLst>
          <a:lin ang="5400000" scaled="0"/>
        </a:gra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900"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400"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36">
  <cs:axisTitle>
    <cs:lnRef idx="0"/>
    <cs:fillRef idx="0"/>
    <cs:effectRef idx="0"/>
    <cs:fontRef idx="minor">
      <a:schemeClr val="lt1">
        <a:lumMod val="75000"/>
      </a:schemeClr>
    </cs:fontRef>
    <cs:defRPr sz="900" b="1" kern="1200"/>
  </cs:axisTitle>
  <cs:categoryAxis>
    <cs:lnRef idx="0"/>
    <cs:fillRef idx="0"/>
    <cs:effectRef idx="0"/>
    <cs:fontRef idx="minor">
      <a:schemeClr val="lt1">
        <a:lumMod val="75000"/>
      </a:schemeClr>
    </cs:fontRef>
    <cs:defRPr sz="900"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9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900"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75000"/>
                <a:lumOff val="25000"/>
              </a:schemeClr>
            </a:gs>
            <a:gs pos="0">
              <a:schemeClr val="dk1">
                <a:lumMod val="65000"/>
                <a:lumOff val="3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dk1">
                <a:lumMod val="75000"/>
                <a:lumOff val="25000"/>
                <a:alpha val="25000"/>
              </a:schemeClr>
            </a:gs>
            <a:gs pos="0">
              <a:schemeClr val="dk1">
                <a:lumMod val="65000"/>
                <a:lumOff val="35000"/>
                <a:alpha val="25000"/>
              </a:schemeClr>
            </a:gs>
          </a:gsLst>
          <a:lin ang="5400000" scaled="0"/>
        </a:gra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900"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400"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defRPr sz="900"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32B718F-463B-475B-ABCB-041908FC70BD}"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IN"/>
        </a:p>
      </dgm:t>
    </dgm:pt>
    <dgm:pt modelId="{8031DA84-D6F5-4123-B0EC-02D1A77E4B85}">
      <dgm:prSet phldrT="[Text]" custT="1"/>
      <dgm:spPr/>
      <dgm:t>
        <a:bodyPr/>
        <a:lstStyle/>
        <a:p>
          <a:pPr algn="l"/>
          <a:r>
            <a:rPr lang="en-IN" sz="3200" dirty="0">
              <a:solidFill>
                <a:schemeClr val="accent5">
                  <a:lumMod val="60000"/>
                  <a:lumOff val="40000"/>
                </a:schemeClr>
              </a:solidFill>
            </a:rPr>
            <a:t>Movie genre analysis</a:t>
          </a:r>
        </a:p>
      </dgm:t>
    </dgm:pt>
    <dgm:pt modelId="{370B99BB-5E2F-42CC-B31F-DDEDE5F2F582}" type="parTrans" cxnId="{067A82E6-266B-4E2C-856A-E8DB76E9C0CD}">
      <dgm:prSet/>
      <dgm:spPr/>
      <dgm:t>
        <a:bodyPr/>
        <a:lstStyle/>
        <a:p>
          <a:endParaRPr lang="en-IN"/>
        </a:p>
      </dgm:t>
    </dgm:pt>
    <dgm:pt modelId="{A7977B41-162B-4440-8F68-BC7DB8657AE0}" type="sibTrans" cxnId="{067A82E6-266B-4E2C-856A-E8DB76E9C0CD}">
      <dgm:prSet/>
      <dgm:spPr/>
      <dgm:t>
        <a:bodyPr/>
        <a:lstStyle/>
        <a:p>
          <a:endParaRPr lang="en-IN"/>
        </a:p>
      </dgm:t>
    </dgm:pt>
    <dgm:pt modelId="{3F8F9E85-CF77-408C-8AF9-B028731EE5DC}">
      <dgm:prSet phldrT="[Text]" custT="1"/>
      <dgm:spPr/>
      <dgm:t>
        <a:bodyPr/>
        <a:lstStyle/>
        <a:p>
          <a:pPr algn="l"/>
          <a:r>
            <a:rPr lang="en-IN" sz="3200" dirty="0">
              <a:solidFill>
                <a:schemeClr val="accent5">
                  <a:lumMod val="60000"/>
                  <a:lumOff val="40000"/>
                </a:schemeClr>
              </a:solidFill>
            </a:rPr>
            <a:t>Movie duration analysis</a:t>
          </a:r>
        </a:p>
      </dgm:t>
    </dgm:pt>
    <dgm:pt modelId="{44C5C83B-94B7-4565-B241-D3A3994B8C78}" type="parTrans" cxnId="{796D4ECA-4982-4916-8B2E-F1351D8203DD}">
      <dgm:prSet/>
      <dgm:spPr/>
      <dgm:t>
        <a:bodyPr/>
        <a:lstStyle/>
        <a:p>
          <a:endParaRPr lang="en-IN"/>
        </a:p>
      </dgm:t>
    </dgm:pt>
    <dgm:pt modelId="{4B82BBE8-A23F-4F6D-8694-A2AACED8B914}" type="sibTrans" cxnId="{796D4ECA-4982-4916-8B2E-F1351D8203DD}">
      <dgm:prSet/>
      <dgm:spPr/>
      <dgm:t>
        <a:bodyPr/>
        <a:lstStyle/>
        <a:p>
          <a:endParaRPr lang="en-IN"/>
        </a:p>
      </dgm:t>
    </dgm:pt>
    <dgm:pt modelId="{3317AC34-6EBD-4180-B8C2-21C621D241B9}">
      <dgm:prSet phldrT="[Text]" custT="1"/>
      <dgm:spPr/>
      <dgm:t>
        <a:bodyPr/>
        <a:lstStyle/>
        <a:p>
          <a:pPr algn="l"/>
          <a:r>
            <a:rPr lang="en-IN" sz="3200" dirty="0">
              <a:solidFill>
                <a:schemeClr val="accent5">
                  <a:lumMod val="60000"/>
                  <a:lumOff val="40000"/>
                </a:schemeClr>
              </a:solidFill>
            </a:rPr>
            <a:t>Language analysis</a:t>
          </a:r>
        </a:p>
      </dgm:t>
    </dgm:pt>
    <dgm:pt modelId="{2A31E2E2-52CC-4FC9-B019-976447CEBB93}" type="parTrans" cxnId="{4DA22729-A658-4722-AB7C-5D2EAA42BE43}">
      <dgm:prSet/>
      <dgm:spPr/>
      <dgm:t>
        <a:bodyPr/>
        <a:lstStyle/>
        <a:p>
          <a:endParaRPr lang="en-IN"/>
        </a:p>
      </dgm:t>
    </dgm:pt>
    <dgm:pt modelId="{F355480C-1671-4AB3-8A4F-0AD4065F28B3}" type="sibTrans" cxnId="{4DA22729-A658-4722-AB7C-5D2EAA42BE43}">
      <dgm:prSet/>
      <dgm:spPr/>
      <dgm:t>
        <a:bodyPr/>
        <a:lstStyle/>
        <a:p>
          <a:endParaRPr lang="en-IN"/>
        </a:p>
      </dgm:t>
    </dgm:pt>
    <dgm:pt modelId="{24152425-1044-441D-853F-BBD96651989C}">
      <dgm:prSet phldrT="[Text]" custT="1"/>
      <dgm:spPr/>
      <dgm:t>
        <a:bodyPr/>
        <a:lstStyle/>
        <a:p>
          <a:pPr algn="l"/>
          <a:r>
            <a:rPr lang="en-IN" sz="3200" dirty="0">
              <a:solidFill>
                <a:schemeClr val="accent5">
                  <a:lumMod val="60000"/>
                  <a:lumOff val="40000"/>
                </a:schemeClr>
              </a:solidFill>
            </a:rPr>
            <a:t>Director</a:t>
          </a:r>
          <a:r>
            <a:rPr lang="en-IN" sz="3200" dirty="0"/>
            <a:t> </a:t>
          </a:r>
          <a:r>
            <a:rPr lang="en-IN" sz="3200" dirty="0">
              <a:solidFill>
                <a:schemeClr val="accent5">
                  <a:lumMod val="60000"/>
                  <a:lumOff val="40000"/>
                </a:schemeClr>
              </a:solidFill>
            </a:rPr>
            <a:t>analysis</a:t>
          </a:r>
        </a:p>
      </dgm:t>
    </dgm:pt>
    <dgm:pt modelId="{31AABF0A-6C18-4209-9113-55900F12E2B4}" type="parTrans" cxnId="{37530DA7-54B8-4AA5-B9B0-7FB741C7B733}">
      <dgm:prSet/>
      <dgm:spPr/>
      <dgm:t>
        <a:bodyPr/>
        <a:lstStyle/>
        <a:p>
          <a:endParaRPr lang="en-IN"/>
        </a:p>
      </dgm:t>
    </dgm:pt>
    <dgm:pt modelId="{00BEF827-A088-466A-AC57-E53351EE402E}" type="sibTrans" cxnId="{37530DA7-54B8-4AA5-B9B0-7FB741C7B733}">
      <dgm:prSet/>
      <dgm:spPr/>
      <dgm:t>
        <a:bodyPr/>
        <a:lstStyle/>
        <a:p>
          <a:endParaRPr lang="en-IN"/>
        </a:p>
      </dgm:t>
    </dgm:pt>
    <dgm:pt modelId="{7D8889B0-642E-4809-95AE-42ABA2202799}">
      <dgm:prSet phldrT="[Text]" custT="1"/>
      <dgm:spPr/>
      <dgm:t>
        <a:bodyPr/>
        <a:lstStyle/>
        <a:p>
          <a:pPr algn="l"/>
          <a:r>
            <a:rPr lang="en-IN" sz="3200" dirty="0">
              <a:solidFill>
                <a:schemeClr val="accent5">
                  <a:lumMod val="60000"/>
                  <a:lumOff val="40000"/>
                </a:schemeClr>
              </a:solidFill>
            </a:rPr>
            <a:t>Budget analysis</a:t>
          </a:r>
        </a:p>
      </dgm:t>
    </dgm:pt>
    <dgm:pt modelId="{A81B3232-838E-4A20-8861-D73E712A66AD}" type="parTrans" cxnId="{05A70704-C818-49E5-BECC-77AD74A5A32B}">
      <dgm:prSet/>
      <dgm:spPr/>
      <dgm:t>
        <a:bodyPr/>
        <a:lstStyle/>
        <a:p>
          <a:endParaRPr lang="en-IN"/>
        </a:p>
      </dgm:t>
    </dgm:pt>
    <dgm:pt modelId="{B135C8F4-0248-4391-9AFF-B4A9F2F466CF}" type="sibTrans" cxnId="{05A70704-C818-49E5-BECC-77AD74A5A32B}">
      <dgm:prSet/>
      <dgm:spPr/>
      <dgm:t>
        <a:bodyPr/>
        <a:lstStyle/>
        <a:p>
          <a:endParaRPr lang="en-IN"/>
        </a:p>
      </dgm:t>
    </dgm:pt>
    <dgm:pt modelId="{4CAED011-1D12-4134-AB31-18805C12ADBA}" type="pres">
      <dgm:prSet presAssocID="{132B718F-463B-475B-ABCB-041908FC70BD}" presName="diagram" presStyleCnt="0">
        <dgm:presLayoutVars>
          <dgm:dir/>
          <dgm:resizeHandles val="exact"/>
        </dgm:presLayoutVars>
      </dgm:prSet>
      <dgm:spPr/>
    </dgm:pt>
    <dgm:pt modelId="{92883728-CAEA-4E94-8916-ED448FCF0A49}" type="pres">
      <dgm:prSet presAssocID="{8031DA84-D6F5-4123-B0EC-02D1A77E4B85}" presName="node" presStyleLbl="node1" presStyleIdx="0" presStyleCnt="5">
        <dgm:presLayoutVars>
          <dgm:bulletEnabled val="1"/>
        </dgm:presLayoutVars>
      </dgm:prSet>
      <dgm:spPr/>
    </dgm:pt>
    <dgm:pt modelId="{6E438FED-6551-4E81-B012-9ADE905CCB0B}" type="pres">
      <dgm:prSet presAssocID="{A7977B41-162B-4440-8F68-BC7DB8657AE0}" presName="sibTrans" presStyleCnt="0"/>
      <dgm:spPr/>
    </dgm:pt>
    <dgm:pt modelId="{73BE14FD-7947-43E7-9894-5FF8B1D876D8}" type="pres">
      <dgm:prSet presAssocID="{3F8F9E85-CF77-408C-8AF9-B028731EE5DC}" presName="node" presStyleLbl="node1" presStyleIdx="1" presStyleCnt="5">
        <dgm:presLayoutVars>
          <dgm:bulletEnabled val="1"/>
        </dgm:presLayoutVars>
      </dgm:prSet>
      <dgm:spPr/>
    </dgm:pt>
    <dgm:pt modelId="{0144D366-F54A-4E32-B2A7-0FCBF799A4A5}" type="pres">
      <dgm:prSet presAssocID="{4B82BBE8-A23F-4F6D-8694-A2AACED8B914}" presName="sibTrans" presStyleCnt="0"/>
      <dgm:spPr/>
    </dgm:pt>
    <dgm:pt modelId="{CBFF9B8B-6B9A-4134-A6B8-61DC254BAF3C}" type="pres">
      <dgm:prSet presAssocID="{3317AC34-6EBD-4180-B8C2-21C621D241B9}" presName="node" presStyleLbl="node1" presStyleIdx="2" presStyleCnt="5">
        <dgm:presLayoutVars>
          <dgm:bulletEnabled val="1"/>
        </dgm:presLayoutVars>
      </dgm:prSet>
      <dgm:spPr/>
    </dgm:pt>
    <dgm:pt modelId="{C6C425D5-5797-429F-9C0C-B715614640CC}" type="pres">
      <dgm:prSet presAssocID="{F355480C-1671-4AB3-8A4F-0AD4065F28B3}" presName="sibTrans" presStyleCnt="0"/>
      <dgm:spPr/>
    </dgm:pt>
    <dgm:pt modelId="{97BC1EC8-B374-4E62-85E4-20A6BE13C04E}" type="pres">
      <dgm:prSet presAssocID="{24152425-1044-441D-853F-BBD96651989C}" presName="node" presStyleLbl="node1" presStyleIdx="3" presStyleCnt="5">
        <dgm:presLayoutVars>
          <dgm:bulletEnabled val="1"/>
        </dgm:presLayoutVars>
      </dgm:prSet>
      <dgm:spPr/>
    </dgm:pt>
    <dgm:pt modelId="{BC1401CC-818F-431D-AADA-02CFE6341A4D}" type="pres">
      <dgm:prSet presAssocID="{00BEF827-A088-466A-AC57-E53351EE402E}" presName="sibTrans" presStyleCnt="0"/>
      <dgm:spPr/>
    </dgm:pt>
    <dgm:pt modelId="{C5034F99-30A7-483E-808F-05FD908D44D8}" type="pres">
      <dgm:prSet presAssocID="{7D8889B0-642E-4809-95AE-42ABA2202799}" presName="node" presStyleLbl="node1" presStyleIdx="4" presStyleCnt="5">
        <dgm:presLayoutVars>
          <dgm:bulletEnabled val="1"/>
        </dgm:presLayoutVars>
      </dgm:prSet>
      <dgm:spPr/>
    </dgm:pt>
  </dgm:ptLst>
  <dgm:cxnLst>
    <dgm:cxn modelId="{EC2EBF01-D5B4-4D0E-8AE0-5EE6AB1BA111}" type="presOf" srcId="{3317AC34-6EBD-4180-B8C2-21C621D241B9}" destId="{CBFF9B8B-6B9A-4134-A6B8-61DC254BAF3C}" srcOrd="0" destOrd="0" presId="urn:microsoft.com/office/officeart/2005/8/layout/default"/>
    <dgm:cxn modelId="{05A70704-C818-49E5-BECC-77AD74A5A32B}" srcId="{132B718F-463B-475B-ABCB-041908FC70BD}" destId="{7D8889B0-642E-4809-95AE-42ABA2202799}" srcOrd="4" destOrd="0" parTransId="{A81B3232-838E-4A20-8861-D73E712A66AD}" sibTransId="{B135C8F4-0248-4391-9AFF-B4A9F2F466CF}"/>
    <dgm:cxn modelId="{B2E88A12-7B63-4EDE-BD7D-8D45C5733745}" type="presOf" srcId="{7D8889B0-642E-4809-95AE-42ABA2202799}" destId="{C5034F99-30A7-483E-808F-05FD908D44D8}" srcOrd="0" destOrd="0" presId="urn:microsoft.com/office/officeart/2005/8/layout/default"/>
    <dgm:cxn modelId="{4DA22729-A658-4722-AB7C-5D2EAA42BE43}" srcId="{132B718F-463B-475B-ABCB-041908FC70BD}" destId="{3317AC34-6EBD-4180-B8C2-21C621D241B9}" srcOrd="2" destOrd="0" parTransId="{2A31E2E2-52CC-4FC9-B019-976447CEBB93}" sibTransId="{F355480C-1671-4AB3-8A4F-0AD4065F28B3}"/>
    <dgm:cxn modelId="{245A053E-CAB9-474B-8C44-8C7F32C89A9F}" type="presOf" srcId="{8031DA84-D6F5-4123-B0EC-02D1A77E4B85}" destId="{92883728-CAEA-4E94-8916-ED448FCF0A49}" srcOrd="0" destOrd="0" presId="urn:microsoft.com/office/officeart/2005/8/layout/default"/>
    <dgm:cxn modelId="{7D21A08E-6AEE-4D9E-B16C-6A4051F7E775}" type="presOf" srcId="{132B718F-463B-475B-ABCB-041908FC70BD}" destId="{4CAED011-1D12-4134-AB31-18805C12ADBA}" srcOrd="0" destOrd="0" presId="urn:microsoft.com/office/officeart/2005/8/layout/default"/>
    <dgm:cxn modelId="{23D246A5-817F-4535-A778-A743978C3264}" type="presOf" srcId="{3F8F9E85-CF77-408C-8AF9-B028731EE5DC}" destId="{73BE14FD-7947-43E7-9894-5FF8B1D876D8}" srcOrd="0" destOrd="0" presId="urn:microsoft.com/office/officeart/2005/8/layout/default"/>
    <dgm:cxn modelId="{37530DA7-54B8-4AA5-B9B0-7FB741C7B733}" srcId="{132B718F-463B-475B-ABCB-041908FC70BD}" destId="{24152425-1044-441D-853F-BBD96651989C}" srcOrd="3" destOrd="0" parTransId="{31AABF0A-6C18-4209-9113-55900F12E2B4}" sibTransId="{00BEF827-A088-466A-AC57-E53351EE402E}"/>
    <dgm:cxn modelId="{796D4ECA-4982-4916-8B2E-F1351D8203DD}" srcId="{132B718F-463B-475B-ABCB-041908FC70BD}" destId="{3F8F9E85-CF77-408C-8AF9-B028731EE5DC}" srcOrd="1" destOrd="0" parTransId="{44C5C83B-94B7-4565-B241-D3A3994B8C78}" sibTransId="{4B82BBE8-A23F-4F6D-8694-A2AACED8B914}"/>
    <dgm:cxn modelId="{EC03ACE5-4951-4340-95CC-F09C7ED562EF}" type="presOf" srcId="{24152425-1044-441D-853F-BBD96651989C}" destId="{97BC1EC8-B374-4E62-85E4-20A6BE13C04E}" srcOrd="0" destOrd="0" presId="urn:microsoft.com/office/officeart/2005/8/layout/default"/>
    <dgm:cxn modelId="{067A82E6-266B-4E2C-856A-E8DB76E9C0CD}" srcId="{132B718F-463B-475B-ABCB-041908FC70BD}" destId="{8031DA84-D6F5-4123-B0EC-02D1A77E4B85}" srcOrd="0" destOrd="0" parTransId="{370B99BB-5E2F-42CC-B31F-DDEDE5F2F582}" sibTransId="{A7977B41-162B-4440-8F68-BC7DB8657AE0}"/>
    <dgm:cxn modelId="{6665185E-B89B-48B1-A421-B5A73116327B}" type="presParOf" srcId="{4CAED011-1D12-4134-AB31-18805C12ADBA}" destId="{92883728-CAEA-4E94-8916-ED448FCF0A49}" srcOrd="0" destOrd="0" presId="urn:microsoft.com/office/officeart/2005/8/layout/default"/>
    <dgm:cxn modelId="{6BB59528-88A1-4212-908E-29E43561AB48}" type="presParOf" srcId="{4CAED011-1D12-4134-AB31-18805C12ADBA}" destId="{6E438FED-6551-4E81-B012-9ADE905CCB0B}" srcOrd="1" destOrd="0" presId="urn:microsoft.com/office/officeart/2005/8/layout/default"/>
    <dgm:cxn modelId="{3BA5833F-7A0D-4061-902B-1775D9106AA3}" type="presParOf" srcId="{4CAED011-1D12-4134-AB31-18805C12ADBA}" destId="{73BE14FD-7947-43E7-9894-5FF8B1D876D8}" srcOrd="2" destOrd="0" presId="urn:microsoft.com/office/officeart/2005/8/layout/default"/>
    <dgm:cxn modelId="{E62A6209-0CF8-46FF-8F8B-C6FD19C76CEA}" type="presParOf" srcId="{4CAED011-1D12-4134-AB31-18805C12ADBA}" destId="{0144D366-F54A-4E32-B2A7-0FCBF799A4A5}" srcOrd="3" destOrd="0" presId="urn:microsoft.com/office/officeart/2005/8/layout/default"/>
    <dgm:cxn modelId="{BC5AE316-532E-4819-911B-9FF38F331F52}" type="presParOf" srcId="{4CAED011-1D12-4134-AB31-18805C12ADBA}" destId="{CBFF9B8B-6B9A-4134-A6B8-61DC254BAF3C}" srcOrd="4" destOrd="0" presId="urn:microsoft.com/office/officeart/2005/8/layout/default"/>
    <dgm:cxn modelId="{0567E6EC-91CB-45E2-943A-0CE2D8CCFD00}" type="presParOf" srcId="{4CAED011-1D12-4134-AB31-18805C12ADBA}" destId="{C6C425D5-5797-429F-9C0C-B715614640CC}" srcOrd="5" destOrd="0" presId="urn:microsoft.com/office/officeart/2005/8/layout/default"/>
    <dgm:cxn modelId="{C2ED7693-145E-4D41-9ADF-8D8D323B7262}" type="presParOf" srcId="{4CAED011-1D12-4134-AB31-18805C12ADBA}" destId="{97BC1EC8-B374-4E62-85E4-20A6BE13C04E}" srcOrd="6" destOrd="0" presId="urn:microsoft.com/office/officeart/2005/8/layout/default"/>
    <dgm:cxn modelId="{D5817177-E2DD-41C9-A768-CB7C2D19836D}" type="presParOf" srcId="{4CAED011-1D12-4134-AB31-18805C12ADBA}" destId="{BC1401CC-818F-431D-AADA-02CFE6341A4D}" srcOrd="7" destOrd="0" presId="urn:microsoft.com/office/officeart/2005/8/layout/default"/>
    <dgm:cxn modelId="{19EA8821-44A7-46F4-A686-11C3C61C623C}" type="presParOf" srcId="{4CAED011-1D12-4134-AB31-18805C12ADBA}" destId="{C5034F99-30A7-483E-808F-05FD908D44D8}"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883728-CAEA-4E94-8916-ED448FCF0A49}">
      <dsp:nvSpPr>
        <dsp:cNvPr id="0" name=""/>
        <dsp:cNvSpPr/>
      </dsp:nvSpPr>
      <dsp:spPr>
        <a:xfrm>
          <a:off x="887213" y="1878"/>
          <a:ext cx="3056046" cy="1833627"/>
        </a:xfrm>
        <a:prstGeom prst="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IN" sz="3200" kern="1200" dirty="0">
              <a:solidFill>
                <a:schemeClr val="accent5">
                  <a:lumMod val="60000"/>
                  <a:lumOff val="40000"/>
                </a:schemeClr>
              </a:solidFill>
            </a:rPr>
            <a:t>Movie genre analysis</a:t>
          </a:r>
        </a:p>
      </dsp:txBody>
      <dsp:txXfrm>
        <a:off x="887213" y="1878"/>
        <a:ext cx="3056046" cy="1833627"/>
      </dsp:txXfrm>
    </dsp:sp>
    <dsp:sp modelId="{73BE14FD-7947-43E7-9894-5FF8B1D876D8}">
      <dsp:nvSpPr>
        <dsp:cNvPr id="0" name=""/>
        <dsp:cNvSpPr/>
      </dsp:nvSpPr>
      <dsp:spPr>
        <a:xfrm>
          <a:off x="4248864" y="1878"/>
          <a:ext cx="3056046" cy="1833627"/>
        </a:xfrm>
        <a:prstGeom prst="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IN" sz="3200" kern="1200" dirty="0">
              <a:solidFill>
                <a:schemeClr val="accent5">
                  <a:lumMod val="60000"/>
                  <a:lumOff val="40000"/>
                </a:schemeClr>
              </a:solidFill>
            </a:rPr>
            <a:t>Movie duration analysis</a:t>
          </a:r>
        </a:p>
      </dsp:txBody>
      <dsp:txXfrm>
        <a:off x="4248864" y="1878"/>
        <a:ext cx="3056046" cy="1833627"/>
      </dsp:txXfrm>
    </dsp:sp>
    <dsp:sp modelId="{CBFF9B8B-6B9A-4134-A6B8-61DC254BAF3C}">
      <dsp:nvSpPr>
        <dsp:cNvPr id="0" name=""/>
        <dsp:cNvSpPr/>
      </dsp:nvSpPr>
      <dsp:spPr>
        <a:xfrm>
          <a:off x="887213" y="2141110"/>
          <a:ext cx="3056046" cy="1833627"/>
        </a:xfrm>
        <a:prstGeom prst="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IN" sz="3200" kern="1200" dirty="0">
              <a:solidFill>
                <a:schemeClr val="accent5">
                  <a:lumMod val="60000"/>
                  <a:lumOff val="40000"/>
                </a:schemeClr>
              </a:solidFill>
            </a:rPr>
            <a:t>Language analysis</a:t>
          </a:r>
        </a:p>
      </dsp:txBody>
      <dsp:txXfrm>
        <a:off x="887213" y="2141110"/>
        <a:ext cx="3056046" cy="1833627"/>
      </dsp:txXfrm>
    </dsp:sp>
    <dsp:sp modelId="{97BC1EC8-B374-4E62-85E4-20A6BE13C04E}">
      <dsp:nvSpPr>
        <dsp:cNvPr id="0" name=""/>
        <dsp:cNvSpPr/>
      </dsp:nvSpPr>
      <dsp:spPr>
        <a:xfrm>
          <a:off x="4248864" y="2141110"/>
          <a:ext cx="3056046" cy="1833627"/>
        </a:xfrm>
        <a:prstGeom prst="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IN" sz="3200" kern="1200" dirty="0">
              <a:solidFill>
                <a:schemeClr val="accent5">
                  <a:lumMod val="60000"/>
                  <a:lumOff val="40000"/>
                </a:schemeClr>
              </a:solidFill>
            </a:rPr>
            <a:t>Director</a:t>
          </a:r>
          <a:r>
            <a:rPr lang="en-IN" sz="3200" kern="1200" dirty="0"/>
            <a:t> </a:t>
          </a:r>
          <a:r>
            <a:rPr lang="en-IN" sz="3200" kern="1200" dirty="0">
              <a:solidFill>
                <a:schemeClr val="accent5">
                  <a:lumMod val="60000"/>
                  <a:lumOff val="40000"/>
                </a:schemeClr>
              </a:solidFill>
            </a:rPr>
            <a:t>analysis</a:t>
          </a:r>
        </a:p>
      </dsp:txBody>
      <dsp:txXfrm>
        <a:off x="4248864" y="2141110"/>
        <a:ext cx="3056046" cy="1833627"/>
      </dsp:txXfrm>
    </dsp:sp>
    <dsp:sp modelId="{C5034F99-30A7-483E-808F-05FD908D44D8}">
      <dsp:nvSpPr>
        <dsp:cNvPr id="0" name=""/>
        <dsp:cNvSpPr/>
      </dsp:nvSpPr>
      <dsp:spPr>
        <a:xfrm>
          <a:off x="2568038" y="4280343"/>
          <a:ext cx="3056046" cy="1833627"/>
        </a:xfrm>
        <a:prstGeom prst="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IN" sz="3200" kern="1200" dirty="0">
              <a:solidFill>
                <a:schemeClr val="accent5">
                  <a:lumMod val="60000"/>
                  <a:lumOff val="40000"/>
                </a:schemeClr>
              </a:solidFill>
            </a:rPr>
            <a:t>Budget analysis</a:t>
          </a:r>
        </a:p>
      </dsp:txBody>
      <dsp:txXfrm>
        <a:off x="2568038" y="4280343"/>
        <a:ext cx="3056046" cy="1833627"/>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5/15/2024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5/15/2024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dirty="0"/>
              <a:pPr/>
              <a:t>5/15/2024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5586B75A-687E-405C-8A0B-8D00578BA2C3}" type="datetimeFigureOut">
              <a:rPr lang="en-US" dirty="0"/>
              <a:pPr/>
              <a:t>5/15/2024</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5/15/2024</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5/15/2024</a:t>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dirty="0"/>
              <a:pPr/>
              <a:t>5/15/2024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5/15/2024</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50000"/>
              <a:lumOff val="5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5/15/2024</a:t>
            </a:fld>
            <a:endParaRPr lang="en-US" dirty="0"/>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5/15/2024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5/15/2024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bg2">
                    <a:lumMod val="40000"/>
                    <a:lumOff val="60000"/>
                  </a:schemeClr>
                </a:solidFill>
              </a:defRPr>
            </a:lvl1pPr>
          </a:lstStyle>
          <a:p>
            <a:fld id="{5586B75A-687E-405C-8A0B-8D00578BA2C3}" type="datetimeFigureOut">
              <a:rPr lang="en-US" dirty="0"/>
              <a:pPr/>
              <a:t>5/15/2024</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bg2">
                    <a:lumMod val="40000"/>
                    <a:lumOff val="6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4FAB73BC-B049-4115-A692-8D63A059BFB8}"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tabLst>
          <a:tab pos="1143000" algn="l"/>
        </a:tabLst>
        <a:defRPr sz="2000" kern="1200">
          <a:solidFill>
            <a:schemeClr val="bg2">
              <a:lumMod val="20000"/>
              <a:lumOff val="80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800" kern="1200">
          <a:solidFill>
            <a:schemeClr val="bg2">
              <a:lumMod val="20000"/>
              <a:lumOff val="80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600" kern="1200">
          <a:solidFill>
            <a:schemeClr val="bg2">
              <a:lumMod val="20000"/>
              <a:lumOff val="80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drive.google.com/file/d/1mLiZwk75xwW1L6xcI9rz6rvs30L5qx1d/view?usp=drive_lin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hyperlink" Target="https://drive.google.com/file/d/1ajPFnK6tmdnzCtevNdZ7fiMcLr6UnHgk/view?usp=drive_link" TargetMode="External"/><Relationship Id="rId2" Type="http://schemas.openxmlformats.org/officeDocument/2006/relationships/hyperlink" Target="https://docs.google.com/spreadsheets/d/1uIwq4mJybuF9K1-Q5ihc0NlqccD8esBc/edit?usp=drive_link&amp;ouid=112825000343645558051&amp;rtpof=true&amp;sd=true" TargetMode="Externa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D7550-30AF-0A9A-3C14-B9A8F77DD5D8}"/>
              </a:ext>
            </a:extLst>
          </p:cNvPr>
          <p:cNvSpPr>
            <a:spLocks noGrp="1"/>
          </p:cNvSpPr>
          <p:nvPr>
            <p:ph type="ctrTitle"/>
          </p:nvPr>
        </p:nvSpPr>
        <p:spPr>
          <a:xfrm>
            <a:off x="1069848" y="1298448"/>
            <a:ext cx="7315200" cy="1309841"/>
          </a:xfrm>
        </p:spPr>
        <p:txBody>
          <a:bodyPr>
            <a:normAutofit/>
          </a:bodyPr>
          <a:lstStyle/>
          <a:p>
            <a:r>
              <a:rPr lang="en-IN" sz="6000" b="1" i="1" u="sng" kern="100" dirty="0">
                <a:solidFill>
                  <a:srgbClr val="2F5597"/>
                </a:solidFill>
                <a:effectLst/>
                <a:latin typeface="Calibri" panose="020F0502020204030204" pitchFamily="34" charset="0"/>
                <a:ea typeface="Calibri" panose="020F0502020204030204" pitchFamily="34" charset="0"/>
                <a:cs typeface="Times New Roman" panose="02020603050405020304" pitchFamily="18" charset="0"/>
              </a:rPr>
              <a:t>IMDB MOVIE ANALYSIS</a:t>
            </a:r>
            <a:endParaRPr lang="en-IN" sz="19900" dirty="0"/>
          </a:p>
        </p:txBody>
      </p:sp>
      <p:sp>
        <p:nvSpPr>
          <p:cNvPr id="3" name="Subtitle 2">
            <a:extLst>
              <a:ext uri="{FF2B5EF4-FFF2-40B4-BE49-F238E27FC236}">
                <a16:creationId xmlns:a16="http://schemas.microsoft.com/office/drawing/2014/main" id="{97A29F1B-DFA5-F283-B2EC-DF2F0A0A55F7}"/>
              </a:ext>
            </a:extLst>
          </p:cNvPr>
          <p:cNvSpPr>
            <a:spLocks noGrp="1"/>
          </p:cNvSpPr>
          <p:nvPr>
            <p:ph type="subTitle" idx="1"/>
          </p:nvPr>
        </p:nvSpPr>
        <p:spPr>
          <a:xfrm>
            <a:off x="1100015" y="2773180"/>
            <a:ext cx="7315200" cy="2811466"/>
          </a:xfrm>
        </p:spPr>
        <p:txBody>
          <a:bodyPr/>
          <a:lstStyle/>
          <a:p>
            <a:pPr>
              <a:lnSpc>
                <a:spcPct val="107000"/>
              </a:lnSpc>
              <a:spcAft>
                <a:spcPts val="800"/>
              </a:spcAft>
            </a:pPr>
            <a:r>
              <a:rPr lang="en-IN" sz="2000" kern="100" dirty="0">
                <a:solidFill>
                  <a:schemeClr val="accent2">
                    <a:lumMod val="40000"/>
                    <a:lumOff val="60000"/>
                  </a:schemeClr>
                </a:solidFill>
                <a:effectLst/>
                <a:latin typeface="Calibri" panose="020F0502020204030204" pitchFamily="34" charset="0"/>
                <a:ea typeface="Calibri" panose="020F0502020204030204" pitchFamily="34" charset="0"/>
                <a:cs typeface="Times New Roman" panose="02020603050405020304" pitchFamily="18" charset="0"/>
              </a:rPr>
              <a:t>Here we have been provided with the dataset which shows the information about the movie and its imdb rating from which we have to find the insight related to success of movie with respect to the imdb rating.</a:t>
            </a:r>
          </a:p>
          <a:p>
            <a:pPr>
              <a:lnSpc>
                <a:spcPct val="107000"/>
              </a:lnSpc>
              <a:spcAft>
                <a:spcPts val="800"/>
              </a:spcAft>
            </a:pPr>
            <a:r>
              <a:rPr lang="en-IN" sz="2000" kern="100" dirty="0">
                <a:solidFill>
                  <a:schemeClr val="accent2">
                    <a:lumMod val="40000"/>
                    <a:lumOff val="60000"/>
                  </a:schemeClr>
                </a:solidFill>
                <a:effectLst/>
                <a:latin typeface="Calibri" panose="020F0502020204030204" pitchFamily="34" charset="0"/>
                <a:ea typeface="Calibri" panose="020F0502020204030204" pitchFamily="34" charset="0"/>
                <a:cs typeface="Times New Roman" panose="02020603050405020304" pitchFamily="18" charset="0"/>
              </a:rPr>
              <a:t>Through our insight this will help the people in this industry to understand which type of movie has hope of doing good and help them to make the decision related to future projects.</a:t>
            </a:r>
          </a:p>
          <a:p>
            <a:endParaRPr lang="en-IN" dirty="0">
              <a:solidFill>
                <a:schemeClr val="accent2">
                  <a:lumMod val="40000"/>
                  <a:lumOff val="60000"/>
                </a:schemeClr>
              </a:solidFill>
            </a:endParaRPr>
          </a:p>
        </p:txBody>
      </p:sp>
      <p:sp>
        <p:nvSpPr>
          <p:cNvPr id="4" name="TextBox 3">
            <a:extLst>
              <a:ext uri="{FF2B5EF4-FFF2-40B4-BE49-F238E27FC236}">
                <a16:creationId xmlns:a16="http://schemas.microsoft.com/office/drawing/2014/main" id="{9A4439FD-5C21-86A6-58AA-7DF79A962B26}"/>
              </a:ext>
            </a:extLst>
          </p:cNvPr>
          <p:cNvSpPr txBox="1"/>
          <p:nvPr/>
        </p:nvSpPr>
        <p:spPr>
          <a:xfrm>
            <a:off x="9668655" y="4646951"/>
            <a:ext cx="2323476" cy="923330"/>
          </a:xfrm>
          <a:prstGeom prst="rect">
            <a:avLst/>
          </a:prstGeom>
          <a:noFill/>
        </p:spPr>
        <p:txBody>
          <a:bodyPr wrap="square" rtlCol="0">
            <a:spAutoFit/>
          </a:bodyPr>
          <a:lstStyle/>
          <a:p>
            <a:r>
              <a:rPr lang="en-IN" dirty="0"/>
              <a:t>To see the video for this project please </a:t>
            </a:r>
            <a:r>
              <a:rPr lang="en-IN" dirty="0">
                <a:hlinkClick r:id="rId2"/>
              </a:rPr>
              <a:t>click here</a:t>
            </a:r>
            <a:endParaRPr lang="en-IN" dirty="0"/>
          </a:p>
        </p:txBody>
      </p:sp>
    </p:spTree>
    <p:extLst>
      <p:ext uri="{BB962C8B-B14F-4D97-AF65-F5344CB8AC3E}">
        <p14:creationId xmlns:p14="http://schemas.microsoft.com/office/powerpoint/2010/main" val="34835067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EC9BD-FCA3-4EC6-3CC0-98F8DD9B0CE5}"/>
              </a:ext>
            </a:extLst>
          </p:cNvPr>
          <p:cNvSpPr>
            <a:spLocks noGrp="1"/>
          </p:cNvSpPr>
          <p:nvPr>
            <p:ph type="title"/>
          </p:nvPr>
        </p:nvSpPr>
        <p:spPr/>
        <p:txBody>
          <a:bodyPr>
            <a:normAutofit/>
          </a:bodyPr>
          <a:lstStyle/>
          <a:p>
            <a:r>
              <a:rPr lang="en-IN" sz="6600" b="1" i="1" u="sng" dirty="0">
                <a:solidFill>
                  <a:srgbClr val="0070C0"/>
                </a:solidFill>
              </a:rPr>
              <a:t>content</a:t>
            </a:r>
          </a:p>
        </p:txBody>
      </p:sp>
      <p:sp>
        <p:nvSpPr>
          <p:cNvPr id="3" name="Rectangle: Rounded Corners 2">
            <a:extLst>
              <a:ext uri="{FF2B5EF4-FFF2-40B4-BE49-F238E27FC236}">
                <a16:creationId xmlns:a16="http://schemas.microsoft.com/office/drawing/2014/main" id="{4DC98AD6-A7FA-7362-D971-EF689E240D53}"/>
              </a:ext>
            </a:extLst>
          </p:cNvPr>
          <p:cNvSpPr/>
          <p:nvPr/>
        </p:nvSpPr>
        <p:spPr>
          <a:xfrm>
            <a:off x="4212229" y="82447"/>
            <a:ext cx="7015397" cy="9893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lvl="0" indent="-342900" algn="ctr">
              <a:lnSpc>
                <a:spcPct val="107000"/>
              </a:lnSpc>
              <a:spcAft>
                <a:spcPts val="800"/>
              </a:spcAft>
              <a:buFont typeface="+mj-lt"/>
              <a:buAutoNum type="arabicPeriod"/>
            </a:pPr>
            <a:r>
              <a:rPr lang="en-IN" sz="4400" b="1" kern="100" dirty="0">
                <a:solidFill>
                  <a:srgbClr val="2F5597"/>
                </a:solidFill>
                <a:effectLst/>
                <a:latin typeface="Calibri" panose="020F0502020204030204" pitchFamily="34" charset="0"/>
                <a:ea typeface="Calibri" panose="020F0502020204030204" pitchFamily="34" charset="0"/>
                <a:cs typeface="Times New Roman" panose="02020603050405020304" pitchFamily="18" charset="0"/>
              </a:rPr>
              <a:t>Introduction</a:t>
            </a:r>
            <a:endParaRPr lang="en-IN" sz="4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59E95624-31A7-3F08-32F5-1613E52132EF}"/>
              </a:ext>
            </a:extLst>
          </p:cNvPr>
          <p:cNvSpPr/>
          <p:nvPr/>
        </p:nvSpPr>
        <p:spPr>
          <a:xfrm>
            <a:off x="4212230" y="1224198"/>
            <a:ext cx="7015397" cy="9893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lnSpc>
                <a:spcPct val="107000"/>
              </a:lnSpc>
              <a:spcAft>
                <a:spcPts val="800"/>
              </a:spcAft>
            </a:pPr>
            <a:r>
              <a:rPr lang="en-IN" sz="4400" b="1" kern="100" dirty="0">
                <a:solidFill>
                  <a:srgbClr val="2F5597"/>
                </a:solidFill>
                <a:effectLst/>
                <a:latin typeface="Calibri" panose="020F0502020204030204" pitchFamily="34" charset="0"/>
                <a:ea typeface="Calibri" panose="020F0502020204030204" pitchFamily="34" charset="0"/>
                <a:cs typeface="Times New Roman" panose="02020603050405020304" pitchFamily="18" charset="0"/>
              </a:rPr>
              <a:t>2. Data cleaning</a:t>
            </a:r>
            <a:endParaRPr lang="en-IN" sz="4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Rounded Corners 4">
            <a:extLst>
              <a:ext uri="{FF2B5EF4-FFF2-40B4-BE49-F238E27FC236}">
                <a16:creationId xmlns:a16="http://schemas.microsoft.com/office/drawing/2014/main" id="{75E764B5-6BC9-ECBE-2DE9-E6ABC0F12D6A}"/>
              </a:ext>
            </a:extLst>
          </p:cNvPr>
          <p:cNvSpPr/>
          <p:nvPr/>
        </p:nvSpPr>
        <p:spPr>
          <a:xfrm>
            <a:off x="4212229" y="2358453"/>
            <a:ext cx="7015397" cy="9893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400" b="1" kern="100" dirty="0">
                <a:solidFill>
                  <a:srgbClr val="2F5597"/>
                </a:solidFill>
                <a:latin typeface="Calibri" panose="020F0502020204030204" pitchFamily="34" charset="0"/>
                <a:ea typeface="Calibri" panose="020F0502020204030204" pitchFamily="34" charset="0"/>
                <a:cs typeface="Times New Roman" panose="02020603050405020304" pitchFamily="18" charset="0"/>
              </a:rPr>
              <a:t>3</a:t>
            </a:r>
            <a:r>
              <a:rPr lang="en-IN" sz="4400" b="1" kern="100" dirty="0">
                <a:solidFill>
                  <a:srgbClr val="2F5597"/>
                </a:solidFill>
                <a:effectLst/>
                <a:latin typeface="Calibri" panose="020F0502020204030204" pitchFamily="34" charset="0"/>
                <a:ea typeface="Calibri" panose="020F0502020204030204" pitchFamily="34" charset="0"/>
                <a:cs typeface="Times New Roman" panose="02020603050405020304" pitchFamily="18" charset="0"/>
              </a:rPr>
              <a:t>.Approach</a:t>
            </a:r>
            <a:r>
              <a:rPr lang="en-IN" sz="1800" b="1" kern="100" dirty="0">
                <a:solidFill>
                  <a:srgbClr val="2F5597"/>
                </a:solidFill>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Rounded Corners 5">
            <a:extLst>
              <a:ext uri="{FF2B5EF4-FFF2-40B4-BE49-F238E27FC236}">
                <a16:creationId xmlns:a16="http://schemas.microsoft.com/office/drawing/2014/main" id="{A89D6631-B834-D2E3-1896-FC93AE8DCD31}"/>
              </a:ext>
            </a:extLst>
          </p:cNvPr>
          <p:cNvSpPr/>
          <p:nvPr/>
        </p:nvSpPr>
        <p:spPr>
          <a:xfrm>
            <a:off x="4212233" y="3492709"/>
            <a:ext cx="7015397" cy="9893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400" b="1" kern="100" dirty="0">
                <a:solidFill>
                  <a:srgbClr val="2F5597"/>
                </a:solidFill>
                <a:latin typeface="Calibri" panose="020F0502020204030204" pitchFamily="34" charset="0"/>
                <a:ea typeface="Calibri" panose="020F0502020204030204" pitchFamily="34" charset="0"/>
                <a:cs typeface="Times New Roman" panose="02020603050405020304" pitchFamily="18" charset="0"/>
              </a:rPr>
              <a:t>4</a:t>
            </a:r>
            <a:r>
              <a:rPr lang="en-IN" sz="4400" b="1" kern="100" dirty="0">
                <a:solidFill>
                  <a:srgbClr val="2F5597"/>
                </a:solidFill>
                <a:effectLst/>
                <a:latin typeface="Calibri" panose="020F0502020204030204" pitchFamily="34" charset="0"/>
                <a:ea typeface="Calibri" panose="020F0502020204030204" pitchFamily="34" charset="0"/>
                <a:cs typeface="Times New Roman" panose="02020603050405020304" pitchFamily="18" charset="0"/>
              </a:rPr>
              <a:t>.Analysis </a:t>
            </a:r>
            <a:endParaRPr lang="en-IN" sz="4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Rectangle: Rounded Corners 6">
            <a:extLst>
              <a:ext uri="{FF2B5EF4-FFF2-40B4-BE49-F238E27FC236}">
                <a16:creationId xmlns:a16="http://schemas.microsoft.com/office/drawing/2014/main" id="{6DDBCBFF-C1E3-B33B-15A6-6C272B2F6F53}"/>
              </a:ext>
            </a:extLst>
          </p:cNvPr>
          <p:cNvSpPr/>
          <p:nvPr/>
        </p:nvSpPr>
        <p:spPr>
          <a:xfrm>
            <a:off x="4212234" y="4619469"/>
            <a:ext cx="7015397" cy="9893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IN" sz="4400" b="1" kern="100" dirty="0">
                <a:solidFill>
                  <a:srgbClr val="2F5597"/>
                </a:solidFill>
                <a:effectLst/>
                <a:latin typeface="Calibri" panose="020F0502020204030204" pitchFamily="34" charset="0"/>
                <a:ea typeface="Calibri" panose="020F0502020204030204" pitchFamily="34" charset="0"/>
                <a:cs typeface="Times New Roman" panose="02020603050405020304" pitchFamily="18" charset="0"/>
              </a:rPr>
              <a:t> </a:t>
            </a:r>
            <a:r>
              <a:rPr lang="en-IN" sz="4400" b="1" kern="100" dirty="0">
                <a:solidFill>
                  <a:srgbClr val="005392"/>
                </a:solidFill>
                <a:effectLst/>
                <a:latin typeface="Calibri" panose="020F0502020204030204" pitchFamily="34" charset="0"/>
                <a:ea typeface="Calibri" panose="020F0502020204030204" pitchFamily="34" charset="0"/>
                <a:cs typeface="Times New Roman" panose="02020603050405020304" pitchFamily="18" charset="0"/>
              </a:rPr>
              <a:t>5</a:t>
            </a:r>
            <a:r>
              <a:rPr lang="en-IN" sz="4400" b="1"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a:t>
            </a:r>
            <a:r>
              <a:rPr lang="en-IN" sz="4400" b="1" kern="100" dirty="0">
                <a:solidFill>
                  <a:srgbClr val="005392"/>
                </a:solidFill>
                <a:effectLst/>
                <a:latin typeface="Calibri" panose="020F0502020204030204" pitchFamily="34" charset="0"/>
                <a:ea typeface="Calibri" panose="020F0502020204030204" pitchFamily="34" charset="0"/>
                <a:cs typeface="Times New Roman" panose="02020603050405020304" pitchFamily="18" charset="0"/>
              </a:rPr>
              <a:t>Insight</a:t>
            </a:r>
            <a:endParaRPr lang="en-IN" sz="4400" kern="100" dirty="0">
              <a:solidFill>
                <a:srgbClr val="005392"/>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Rectangle: Rounded Corners 7">
            <a:extLst>
              <a:ext uri="{FF2B5EF4-FFF2-40B4-BE49-F238E27FC236}">
                <a16:creationId xmlns:a16="http://schemas.microsoft.com/office/drawing/2014/main" id="{C899A600-2FDE-304D-4BB3-ECBB8EB4B038}"/>
              </a:ext>
            </a:extLst>
          </p:cNvPr>
          <p:cNvSpPr/>
          <p:nvPr/>
        </p:nvSpPr>
        <p:spPr>
          <a:xfrm>
            <a:off x="4212234" y="5746229"/>
            <a:ext cx="7015397" cy="9893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lnSpc>
                <a:spcPct val="107000"/>
              </a:lnSpc>
              <a:spcAft>
                <a:spcPts val="800"/>
              </a:spcAft>
            </a:pPr>
            <a:r>
              <a:rPr lang="en-IN" sz="4400" b="1" kern="100" dirty="0">
                <a:solidFill>
                  <a:srgbClr val="2F5597"/>
                </a:solidFill>
                <a:effectLst/>
                <a:latin typeface="Calibri" panose="020F0502020204030204" pitchFamily="34" charset="0"/>
                <a:ea typeface="Calibri" panose="020F0502020204030204" pitchFamily="34" charset="0"/>
                <a:cs typeface="Times New Roman" panose="02020603050405020304" pitchFamily="18" charset="0"/>
              </a:rPr>
              <a:t>6.Results</a:t>
            </a:r>
            <a:endParaRPr lang="en-IN" sz="4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315912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C4D42-C4FF-CA79-44EB-5B7270E6497F}"/>
              </a:ext>
            </a:extLst>
          </p:cNvPr>
          <p:cNvSpPr>
            <a:spLocks noGrp="1"/>
          </p:cNvSpPr>
          <p:nvPr>
            <p:ph type="title"/>
          </p:nvPr>
        </p:nvSpPr>
        <p:spPr>
          <a:xfrm>
            <a:off x="0" y="1123837"/>
            <a:ext cx="3357797" cy="4601183"/>
          </a:xfrm>
        </p:spPr>
        <p:txBody>
          <a:bodyPr>
            <a:normAutofit/>
          </a:bodyPr>
          <a:lstStyle/>
          <a:p>
            <a:r>
              <a:rPr lang="en-IN" sz="4400" b="1" i="1" u="sng" dirty="0">
                <a:solidFill>
                  <a:srgbClr val="005392"/>
                </a:solidFill>
              </a:rPr>
              <a:t>Introduction</a:t>
            </a:r>
          </a:p>
        </p:txBody>
      </p:sp>
      <p:sp>
        <p:nvSpPr>
          <p:cNvPr id="3" name="Rectangle 2">
            <a:extLst>
              <a:ext uri="{FF2B5EF4-FFF2-40B4-BE49-F238E27FC236}">
                <a16:creationId xmlns:a16="http://schemas.microsoft.com/office/drawing/2014/main" id="{8704A216-D16D-08AE-723C-B283243B1073}"/>
              </a:ext>
            </a:extLst>
          </p:cNvPr>
          <p:cNvSpPr/>
          <p:nvPr/>
        </p:nvSpPr>
        <p:spPr>
          <a:xfrm>
            <a:off x="3957403" y="194872"/>
            <a:ext cx="7405141" cy="266075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dirty="0">
                <a:solidFill>
                  <a:schemeClr val="accent5">
                    <a:lumMod val="60000"/>
                    <a:lumOff val="40000"/>
                  </a:schemeClr>
                </a:solidFill>
              </a:rPr>
              <a:t>In this project we directly do analysis to find the relation between different factor of movie to the imdb rating. </a:t>
            </a:r>
          </a:p>
        </p:txBody>
      </p:sp>
      <p:sp>
        <p:nvSpPr>
          <p:cNvPr id="8" name="Rectangle 7">
            <a:extLst>
              <a:ext uri="{FF2B5EF4-FFF2-40B4-BE49-F238E27FC236}">
                <a16:creationId xmlns:a16="http://schemas.microsoft.com/office/drawing/2014/main" id="{C0A5412D-0FE6-F517-552A-6726A55733A2}"/>
              </a:ext>
            </a:extLst>
          </p:cNvPr>
          <p:cNvSpPr/>
          <p:nvPr/>
        </p:nvSpPr>
        <p:spPr>
          <a:xfrm>
            <a:off x="3957402" y="3608883"/>
            <a:ext cx="7405141" cy="266075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dirty="0">
                <a:solidFill>
                  <a:schemeClr val="accent5">
                    <a:lumMod val="60000"/>
                    <a:lumOff val="40000"/>
                  </a:schemeClr>
                </a:solidFill>
              </a:rPr>
              <a:t>Through this project, people related to film or entertainment industry will have a meaningful insight of which type of films have higher chance of success</a:t>
            </a:r>
          </a:p>
        </p:txBody>
      </p:sp>
    </p:spTree>
    <p:extLst>
      <p:ext uri="{BB962C8B-B14F-4D97-AF65-F5344CB8AC3E}">
        <p14:creationId xmlns:p14="http://schemas.microsoft.com/office/powerpoint/2010/main" val="3512312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06B98-5999-9D0E-C642-704311C82E7B}"/>
              </a:ext>
            </a:extLst>
          </p:cNvPr>
          <p:cNvSpPr>
            <a:spLocks noGrp="1"/>
          </p:cNvSpPr>
          <p:nvPr>
            <p:ph type="ctrTitle"/>
          </p:nvPr>
        </p:nvSpPr>
        <p:spPr>
          <a:xfrm>
            <a:off x="1069848" y="1298448"/>
            <a:ext cx="7315200" cy="1055008"/>
          </a:xfrm>
        </p:spPr>
        <p:txBody>
          <a:bodyPr/>
          <a:lstStyle/>
          <a:p>
            <a:r>
              <a:rPr lang="en-IN" b="1" i="1" u="sng" dirty="0">
                <a:solidFill>
                  <a:srgbClr val="005392"/>
                </a:solidFill>
              </a:rPr>
              <a:t>Data cleaning </a:t>
            </a:r>
          </a:p>
        </p:txBody>
      </p:sp>
      <p:sp>
        <p:nvSpPr>
          <p:cNvPr id="3" name="Subtitle 2">
            <a:extLst>
              <a:ext uri="{FF2B5EF4-FFF2-40B4-BE49-F238E27FC236}">
                <a16:creationId xmlns:a16="http://schemas.microsoft.com/office/drawing/2014/main" id="{2830773F-100F-C3BC-E3E8-3C158BE3A266}"/>
              </a:ext>
            </a:extLst>
          </p:cNvPr>
          <p:cNvSpPr>
            <a:spLocks noGrp="1"/>
          </p:cNvSpPr>
          <p:nvPr>
            <p:ph type="subTitle" idx="1"/>
          </p:nvPr>
        </p:nvSpPr>
        <p:spPr>
          <a:xfrm>
            <a:off x="1100015" y="2488367"/>
            <a:ext cx="7315200" cy="3096279"/>
          </a:xfrm>
        </p:spPr>
        <p:txBody>
          <a:bodyPr>
            <a:normAutofit/>
          </a:bodyPr>
          <a:lstStyle/>
          <a:p>
            <a:r>
              <a:rPr lang="en-IN" sz="2800" dirty="0">
                <a:solidFill>
                  <a:schemeClr val="accent2">
                    <a:lumMod val="40000"/>
                    <a:lumOff val="60000"/>
                  </a:schemeClr>
                </a:solidFill>
              </a:rPr>
              <a:t>Here, we have very messy data which needs to clean and normalisation. In which we have to handle our missing value, removing non-related column, removing outliers, removing duplicates, converting datatypes and some small changes which increase the efficiency of data and help us to have some clean and easy to analyse the data.</a:t>
            </a:r>
          </a:p>
        </p:txBody>
      </p:sp>
    </p:spTree>
    <p:extLst>
      <p:ext uri="{BB962C8B-B14F-4D97-AF65-F5344CB8AC3E}">
        <p14:creationId xmlns:p14="http://schemas.microsoft.com/office/powerpoint/2010/main" val="18819103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C1E955D8-DA95-769A-A292-9B8C9A920D39}"/>
              </a:ext>
            </a:extLst>
          </p:cNvPr>
          <p:cNvSpPr/>
          <p:nvPr/>
        </p:nvSpPr>
        <p:spPr>
          <a:xfrm>
            <a:off x="4222229" y="329784"/>
            <a:ext cx="3747541" cy="9593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Data  Cleaning</a:t>
            </a:r>
          </a:p>
        </p:txBody>
      </p:sp>
      <p:cxnSp>
        <p:nvCxnSpPr>
          <p:cNvPr id="15" name="Connector: Elbow 14">
            <a:extLst>
              <a:ext uri="{FF2B5EF4-FFF2-40B4-BE49-F238E27FC236}">
                <a16:creationId xmlns:a16="http://schemas.microsoft.com/office/drawing/2014/main" id="{728538DE-DE6A-3E07-7983-C42F1A3DB7B5}"/>
              </a:ext>
            </a:extLst>
          </p:cNvPr>
          <p:cNvCxnSpPr>
            <a:cxnSpLocks/>
            <a:stCxn id="2" idx="2"/>
            <a:endCxn id="33" idx="0"/>
          </p:cNvCxnSpPr>
          <p:nvPr/>
        </p:nvCxnSpPr>
        <p:spPr>
          <a:xfrm rot="10800000" flipV="1">
            <a:off x="1808821" y="809470"/>
            <a:ext cx="2413409" cy="73451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03A98E3F-BF5C-1BF1-8D21-2AEB9FF48012}"/>
              </a:ext>
            </a:extLst>
          </p:cNvPr>
          <p:cNvCxnSpPr>
            <a:cxnSpLocks/>
            <a:stCxn id="2" idx="6"/>
            <a:endCxn id="57" idx="0"/>
          </p:cNvCxnSpPr>
          <p:nvPr/>
        </p:nvCxnSpPr>
        <p:spPr>
          <a:xfrm>
            <a:off x="7969770" y="809470"/>
            <a:ext cx="2413409" cy="61459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Connector: Elbow 31">
            <a:extLst>
              <a:ext uri="{FF2B5EF4-FFF2-40B4-BE49-F238E27FC236}">
                <a16:creationId xmlns:a16="http://schemas.microsoft.com/office/drawing/2014/main" id="{FB64D8CC-1D8B-4982-5582-6BDC8317AF2E}"/>
              </a:ext>
            </a:extLst>
          </p:cNvPr>
          <p:cNvCxnSpPr>
            <a:stCxn id="2" idx="4"/>
          </p:cNvCxnSpPr>
          <p:nvPr/>
        </p:nvCxnSpPr>
        <p:spPr>
          <a:xfrm rot="5400000">
            <a:off x="5968584" y="1416571"/>
            <a:ext cx="254832" cy="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75A830FE-0122-92BC-0E00-80AFF8B86B73}"/>
              </a:ext>
            </a:extLst>
          </p:cNvPr>
          <p:cNvSpPr/>
          <p:nvPr/>
        </p:nvSpPr>
        <p:spPr>
          <a:xfrm>
            <a:off x="379763" y="1543988"/>
            <a:ext cx="2858114" cy="4796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Data removing </a:t>
            </a:r>
          </a:p>
        </p:txBody>
      </p:sp>
      <p:cxnSp>
        <p:nvCxnSpPr>
          <p:cNvPr id="35" name="Connector: Elbow 34">
            <a:extLst>
              <a:ext uri="{FF2B5EF4-FFF2-40B4-BE49-F238E27FC236}">
                <a16:creationId xmlns:a16="http://schemas.microsoft.com/office/drawing/2014/main" id="{837E3BE8-0BBC-7B77-68A1-0FD47365829A}"/>
              </a:ext>
            </a:extLst>
          </p:cNvPr>
          <p:cNvCxnSpPr>
            <a:cxnSpLocks/>
            <a:stCxn id="33" idx="2"/>
          </p:cNvCxnSpPr>
          <p:nvPr/>
        </p:nvCxnSpPr>
        <p:spPr>
          <a:xfrm rot="16200000" flipH="1">
            <a:off x="1606453" y="2226040"/>
            <a:ext cx="404736" cy="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B7EB5623-9F20-898F-B10B-A753DD34278F}"/>
              </a:ext>
            </a:extLst>
          </p:cNvPr>
          <p:cNvSpPr/>
          <p:nvPr/>
        </p:nvSpPr>
        <p:spPr>
          <a:xfrm>
            <a:off x="264833" y="2458392"/>
            <a:ext cx="3087974" cy="40023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r>
              <a:rPr lang="en-IN" dirty="0"/>
              <a:t>Here, when we have the  data it has many column which wasn’t useful in our analyses so we just remove them to make our data more easy to interact with.</a:t>
            </a:r>
          </a:p>
          <a:p>
            <a:pPr marL="285750" indent="-285750" algn="ctr">
              <a:buFont typeface="Arial" panose="020B0604020202020204" pitchFamily="34" charset="0"/>
              <a:buChar char="•"/>
            </a:pPr>
            <a:r>
              <a:rPr lang="en-IN" dirty="0"/>
              <a:t>Then in our gross and budget column we have many outliers which we also remove to get our insights more precise and valuable.</a:t>
            </a:r>
          </a:p>
        </p:txBody>
      </p:sp>
      <p:sp>
        <p:nvSpPr>
          <p:cNvPr id="39" name="Rectangle 38">
            <a:extLst>
              <a:ext uri="{FF2B5EF4-FFF2-40B4-BE49-F238E27FC236}">
                <a16:creationId xmlns:a16="http://schemas.microsoft.com/office/drawing/2014/main" id="{6E2331B0-4709-AB5A-6251-9E9C03D8DB30}"/>
              </a:ext>
            </a:extLst>
          </p:cNvPr>
          <p:cNvSpPr/>
          <p:nvPr/>
        </p:nvSpPr>
        <p:spPr>
          <a:xfrm>
            <a:off x="4666939" y="1543988"/>
            <a:ext cx="2858120" cy="4796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Handling missing value</a:t>
            </a:r>
          </a:p>
        </p:txBody>
      </p:sp>
      <p:cxnSp>
        <p:nvCxnSpPr>
          <p:cNvPr id="45" name="Connector: Elbow 44">
            <a:extLst>
              <a:ext uri="{FF2B5EF4-FFF2-40B4-BE49-F238E27FC236}">
                <a16:creationId xmlns:a16="http://schemas.microsoft.com/office/drawing/2014/main" id="{55FC36A2-6B06-C2F5-71F7-F459555E6150}"/>
              </a:ext>
            </a:extLst>
          </p:cNvPr>
          <p:cNvCxnSpPr>
            <a:cxnSpLocks/>
            <a:stCxn id="39" idx="2"/>
          </p:cNvCxnSpPr>
          <p:nvPr/>
        </p:nvCxnSpPr>
        <p:spPr>
          <a:xfrm rot="16200000" flipH="1">
            <a:off x="5878639" y="2241032"/>
            <a:ext cx="434721" cy="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E956BF96-C9C9-2546-3CB4-596C9CE92671}"/>
              </a:ext>
            </a:extLst>
          </p:cNvPr>
          <p:cNvSpPr/>
          <p:nvPr/>
        </p:nvSpPr>
        <p:spPr>
          <a:xfrm>
            <a:off x="3757535" y="2473384"/>
            <a:ext cx="4676927" cy="40023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r>
              <a:rPr lang="en-IN" dirty="0"/>
              <a:t>In our extracted data there were lots of  null or we can say that many missing values  in string type or numerical type data both were involved. Because of large number of data was missing so we cannot simply remove those rows otherwise our maximum data would be removed.</a:t>
            </a:r>
          </a:p>
          <a:p>
            <a:pPr marL="285750" indent="-285750" algn="ctr">
              <a:buFont typeface="Arial" panose="020B0604020202020204" pitchFamily="34" charset="0"/>
              <a:buChar char="•"/>
            </a:pPr>
            <a:r>
              <a:rPr lang="en-IN" dirty="0"/>
              <a:t>So here we use python libraries like pandas, where we replace the numeric data with average value and string data with mode value</a:t>
            </a:r>
          </a:p>
          <a:p>
            <a:pPr marL="285750" indent="-285750" algn="ctr">
              <a:buFont typeface="Arial" panose="020B0604020202020204" pitchFamily="34" charset="0"/>
              <a:buChar char="•"/>
            </a:pPr>
            <a:r>
              <a:rPr lang="en-IN" dirty="0"/>
              <a:t>But we cannot do this same thing in director name column so we replace those value with unknown</a:t>
            </a:r>
          </a:p>
        </p:txBody>
      </p:sp>
      <p:sp>
        <p:nvSpPr>
          <p:cNvPr id="57" name="Rectangle 56">
            <a:extLst>
              <a:ext uri="{FF2B5EF4-FFF2-40B4-BE49-F238E27FC236}">
                <a16:creationId xmlns:a16="http://schemas.microsoft.com/office/drawing/2014/main" id="{1FEEFF94-BA9B-4686-2B07-E9DEE82EE3D5}"/>
              </a:ext>
            </a:extLst>
          </p:cNvPr>
          <p:cNvSpPr/>
          <p:nvPr/>
        </p:nvSpPr>
        <p:spPr>
          <a:xfrm>
            <a:off x="8954119" y="1424067"/>
            <a:ext cx="2858120" cy="59960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Duplicate value and datatype</a:t>
            </a:r>
          </a:p>
        </p:txBody>
      </p:sp>
      <p:cxnSp>
        <p:nvCxnSpPr>
          <p:cNvPr id="59" name="Connector: Elbow 58">
            <a:extLst>
              <a:ext uri="{FF2B5EF4-FFF2-40B4-BE49-F238E27FC236}">
                <a16:creationId xmlns:a16="http://schemas.microsoft.com/office/drawing/2014/main" id="{8C93C3C1-4AEA-1CAC-BC0A-D79839E2CEEA}"/>
              </a:ext>
            </a:extLst>
          </p:cNvPr>
          <p:cNvCxnSpPr>
            <a:cxnSpLocks/>
            <a:stCxn id="57" idx="2"/>
          </p:cNvCxnSpPr>
          <p:nvPr/>
        </p:nvCxnSpPr>
        <p:spPr>
          <a:xfrm rot="5400000">
            <a:off x="10174461" y="2226041"/>
            <a:ext cx="411086" cy="635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63" name="Rectangle 62">
            <a:extLst>
              <a:ext uri="{FF2B5EF4-FFF2-40B4-BE49-F238E27FC236}">
                <a16:creationId xmlns:a16="http://schemas.microsoft.com/office/drawing/2014/main" id="{E952DB30-0BA6-4512-CD32-5E6DE5B272C4}"/>
              </a:ext>
            </a:extLst>
          </p:cNvPr>
          <p:cNvSpPr/>
          <p:nvPr/>
        </p:nvSpPr>
        <p:spPr>
          <a:xfrm>
            <a:off x="8724265" y="2473384"/>
            <a:ext cx="3087974" cy="40023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r>
              <a:rPr lang="en-IN" dirty="0"/>
              <a:t>After completing the whole process we simply came back to our excel sheet to find and remove the duplicate rows by using the inbuilt function in ms excel.</a:t>
            </a:r>
          </a:p>
          <a:p>
            <a:pPr marL="285750" indent="-285750" algn="ctr">
              <a:buFont typeface="Arial" panose="020B0604020202020204" pitchFamily="34" charset="0"/>
              <a:buChar char="•"/>
            </a:pPr>
            <a:r>
              <a:rPr lang="en-IN" dirty="0"/>
              <a:t>Then we also update or check all the datatype to see that they were in their right condition</a:t>
            </a:r>
          </a:p>
        </p:txBody>
      </p:sp>
    </p:spTree>
    <p:extLst>
      <p:ext uri="{BB962C8B-B14F-4D97-AF65-F5344CB8AC3E}">
        <p14:creationId xmlns:p14="http://schemas.microsoft.com/office/powerpoint/2010/main" val="1505012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7CEF6-EAF6-4D57-DFC6-FBE623FCD788}"/>
              </a:ext>
            </a:extLst>
          </p:cNvPr>
          <p:cNvSpPr>
            <a:spLocks noGrp="1"/>
          </p:cNvSpPr>
          <p:nvPr>
            <p:ph type="title"/>
          </p:nvPr>
        </p:nvSpPr>
        <p:spPr/>
        <p:txBody>
          <a:bodyPr>
            <a:normAutofit/>
          </a:bodyPr>
          <a:lstStyle/>
          <a:p>
            <a:r>
              <a:rPr lang="en-IN" sz="6000" b="1" u="sng" dirty="0">
                <a:solidFill>
                  <a:srgbClr val="005392"/>
                </a:solidFill>
              </a:rPr>
              <a:t>Data Analysis</a:t>
            </a:r>
          </a:p>
        </p:txBody>
      </p:sp>
      <p:graphicFrame>
        <p:nvGraphicFramePr>
          <p:cNvPr id="3" name="Diagram 2">
            <a:extLst>
              <a:ext uri="{FF2B5EF4-FFF2-40B4-BE49-F238E27FC236}">
                <a16:creationId xmlns:a16="http://schemas.microsoft.com/office/drawing/2014/main" id="{CF2863EA-4D8D-2BFB-1944-6F928A3BD0B2}"/>
              </a:ext>
            </a:extLst>
          </p:cNvPr>
          <p:cNvGraphicFramePr/>
          <p:nvPr>
            <p:extLst>
              <p:ext uri="{D42A27DB-BD31-4B8C-83A1-F6EECF244321}">
                <p14:modId xmlns:p14="http://schemas.microsoft.com/office/powerpoint/2010/main" val="2131124226"/>
              </p:ext>
            </p:extLst>
          </p:nvPr>
        </p:nvGraphicFramePr>
        <p:xfrm>
          <a:off x="3200401" y="449843"/>
          <a:ext cx="8192124" cy="61158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105147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B3448-15F6-F9E4-C3B9-8FCF54C182BB}"/>
              </a:ext>
            </a:extLst>
          </p:cNvPr>
          <p:cNvSpPr>
            <a:spLocks noGrp="1"/>
          </p:cNvSpPr>
          <p:nvPr>
            <p:ph type="title"/>
          </p:nvPr>
        </p:nvSpPr>
        <p:spPr>
          <a:xfrm>
            <a:off x="3925509" y="344349"/>
            <a:ext cx="6582596" cy="1079718"/>
          </a:xfrm>
        </p:spPr>
        <p:txBody>
          <a:bodyPr>
            <a:normAutofit/>
          </a:bodyPr>
          <a:lstStyle/>
          <a:p>
            <a:pPr algn="ctr"/>
            <a:r>
              <a:rPr lang="en-IN" sz="6600" b="1" i="1" u="sng" dirty="0">
                <a:solidFill>
                  <a:srgbClr val="FF0000"/>
                </a:solidFill>
              </a:rPr>
              <a:t>Insight </a:t>
            </a:r>
          </a:p>
        </p:txBody>
      </p:sp>
      <p:sp>
        <p:nvSpPr>
          <p:cNvPr id="3" name="TextBox 2">
            <a:extLst>
              <a:ext uri="{FF2B5EF4-FFF2-40B4-BE49-F238E27FC236}">
                <a16:creationId xmlns:a16="http://schemas.microsoft.com/office/drawing/2014/main" id="{ADF4E082-882D-61C6-10DC-DBD90A9C55B3}"/>
              </a:ext>
            </a:extLst>
          </p:cNvPr>
          <p:cNvSpPr txBox="1"/>
          <p:nvPr/>
        </p:nvSpPr>
        <p:spPr>
          <a:xfrm>
            <a:off x="3672590" y="1708879"/>
            <a:ext cx="7570033" cy="4093428"/>
          </a:xfrm>
          <a:prstGeom prst="rect">
            <a:avLst/>
          </a:prstGeom>
          <a:noFill/>
        </p:spPr>
        <p:txBody>
          <a:bodyPr wrap="square" rtlCol="0">
            <a:spAutoFit/>
          </a:bodyPr>
          <a:lstStyle/>
          <a:p>
            <a:r>
              <a:rPr lang="en-IN" sz="2000" dirty="0">
                <a:solidFill>
                  <a:schemeClr val="accent2">
                    <a:lumMod val="40000"/>
                    <a:lumOff val="60000"/>
                  </a:schemeClr>
                </a:solidFill>
              </a:rPr>
              <a:t>Now let move onto  our analysis and the insight which we get from them.</a:t>
            </a:r>
          </a:p>
          <a:p>
            <a:r>
              <a:rPr lang="en-IN" sz="2000" dirty="0">
                <a:solidFill>
                  <a:schemeClr val="accent2">
                    <a:lumMod val="40000"/>
                    <a:lumOff val="60000"/>
                  </a:schemeClr>
                </a:solidFill>
              </a:rPr>
              <a:t>The excel sheet link is given in which we have perform all our operation related to  the topic. To reach that sheet </a:t>
            </a:r>
            <a:r>
              <a:rPr lang="en-IN" sz="2000" dirty="0">
                <a:solidFill>
                  <a:schemeClr val="accent2">
                    <a:lumMod val="40000"/>
                    <a:lumOff val="60000"/>
                  </a:schemeClr>
                </a:solidFill>
                <a:hlinkClick r:id="rId2">
                  <a:extLst>
                    <a:ext uri="{A12FA001-AC4F-418D-AE19-62706E023703}">
                      <ahyp:hlinkClr xmlns:ahyp="http://schemas.microsoft.com/office/drawing/2018/hyperlinkcolor" val="tx"/>
                    </a:ext>
                  </a:extLst>
                </a:hlinkClick>
              </a:rPr>
              <a:t>click here</a:t>
            </a:r>
            <a:r>
              <a:rPr lang="en-IN" sz="2000" dirty="0">
                <a:solidFill>
                  <a:schemeClr val="accent2">
                    <a:lumMod val="40000"/>
                    <a:lumOff val="60000"/>
                  </a:schemeClr>
                </a:solidFill>
              </a:rPr>
              <a:t>.</a:t>
            </a:r>
          </a:p>
          <a:p>
            <a:endParaRPr lang="en-IN" sz="2000" dirty="0">
              <a:solidFill>
                <a:schemeClr val="accent2">
                  <a:lumMod val="40000"/>
                  <a:lumOff val="60000"/>
                </a:schemeClr>
              </a:solidFill>
            </a:endParaRPr>
          </a:p>
          <a:p>
            <a:r>
              <a:rPr lang="en-IN" sz="2000" dirty="0">
                <a:solidFill>
                  <a:schemeClr val="accent2">
                    <a:lumMod val="40000"/>
                    <a:lumOff val="60000"/>
                  </a:schemeClr>
                </a:solidFill>
              </a:rPr>
              <a:t>The python code which I have provide is also given here. To reach it please </a:t>
            </a:r>
            <a:r>
              <a:rPr lang="en-IN" sz="2000" dirty="0">
                <a:solidFill>
                  <a:schemeClr val="accent2">
                    <a:lumMod val="40000"/>
                    <a:lumOff val="60000"/>
                  </a:schemeClr>
                </a:solidFill>
                <a:hlinkClick r:id="rId3"/>
              </a:rPr>
              <a:t>click here</a:t>
            </a:r>
            <a:r>
              <a:rPr lang="en-IN" sz="2000" dirty="0">
                <a:solidFill>
                  <a:schemeClr val="accent2">
                    <a:lumMod val="40000"/>
                    <a:lumOff val="60000"/>
                  </a:schemeClr>
                </a:solidFill>
              </a:rPr>
              <a:t> .</a:t>
            </a:r>
          </a:p>
          <a:p>
            <a:endParaRPr lang="en-IN" sz="2000" dirty="0">
              <a:solidFill>
                <a:schemeClr val="accent2">
                  <a:lumMod val="40000"/>
                  <a:lumOff val="60000"/>
                </a:schemeClr>
              </a:solidFill>
            </a:endParaRPr>
          </a:p>
          <a:p>
            <a:r>
              <a:rPr lang="en-IN" sz="2000" dirty="0">
                <a:solidFill>
                  <a:schemeClr val="accent2">
                    <a:lumMod val="40000"/>
                    <a:lumOff val="60000"/>
                  </a:schemeClr>
                </a:solidFill>
              </a:rPr>
              <a:t>In this project I have gained a very qualitative knowledge of the data cleaning especially handling missing values. This project also help me gain more insight on the data analytics.</a:t>
            </a:r>
          </a:p>
          <a:p>
            <a:endParaRPr lang="en-IN" sz="2000" dirty="0">
              <a:solidFill>
                <a:schemeClr val="accent2">
                  <a:lumMod val="40000"/>
                  <a:lumOff val="60000"/>
                </a:schemeClr>
              </a:solidFill>
            </a:endParaRPr>
          </a:p>
          <a:p>
            <a:r>
              <a:rPr lang="en-IN" sz="2000" dirty="0">
                <a:solidFill>
                  <a:schemeClr val="accent2">
                    <a:lumMod val="40000"/>
                    <a:lumOff val="60000"/>
                  </a:schemeClr>
                </a:solidFill>
              </a:rPr>
              <a:t>So now we share our insight of the project.</a:t>
            </a:r>
          </a:p>
        </p:txBody>
      </p:sp>
    </p:spTree>
    <p:extLst>
      <p:ext uri="{BB962C8B-B14F-4D97-AF65-F5344CB8AC3E}">
        <p14:creationId xmlns:p14="http://schemas.microsoft.com/office/powerpoint/2010/main" val="8492512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961E6D0A-5A96-BFE9-E0F4-30DA0EC62B18}"/>
              </a:ext>
            </a:extLst>
          </p:cNvPr>
          <p:cNvGraphicFramePr>
            <a:graphicFrameLocks/>
          </p:cNvGraphicFramePr>
          <p:nvPr>
            <p:extLst>
              <p:ext uri="{D42A27DB-BD31-4B8C-83A1-F6EECF244321}">
                <p14:modId xmlns:p14="http://schemas.microsoft.com/office/powerpoint/2010/main" val="809343165"/>
              </p:ext>
            </p:extLst>
          </p:nvPr>
        </p:nvGraphicFramePr>
        <p:xfrm>
          <a:off x="6280878" y="198621"/>
          <a:ext cx="5371476" cy="313419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hart 3">
            <a:extLst>
              <a:ext uri="{FF2B5EF4-FFF2-40B4-BE49-F238E27FC236}">
                <a16:creationId xmlns:a16="http://schemas.microsoft.com/office/drawing/2014/main" id="{8912405A-F8AF-6E92-D7EA-D56C09AAE58D}"/>
              </a:ext>
            </a:extLst>
          </p:cNvPr>
          <p:cNvGraphicFramePr>
            <a:graphicFrameLocks/>
          </p:cNvGraphicFramePr>
          <p:nvPr>
            <p:extLst>
              <p:ext uri="{D42A27DB-BD31-4B8C-83A1-F6EECF244321}">
                <p14:modId xmlns:p14="http://schemas.microsoft.com/office/powerpoint/2010/main" val="2129516432"/>
              </p:ext>
            </p:extLst>
          </p:nvPr>
        </p:nvGraphicFramePr>
        <p:xfrm>
          <a:off x="6280878" y="3525187"/>
          <a:ext cx="5371476" cy="3134193"/>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a:extLst>
              <a:ext uri="{FF2B5EF4-FFF2-40B4-BE49-F238E27FC236}">
                <a16:creationId xmlns:a16="http://schemas.microsoft.com/office/drawing/2014/main" id="{93A0FA94-0A0C-5A95-7AD8-C32B03FDFA1B}"/>
              </a:ext>
            </a:extLst>
          </p:cNvPr>
          <p:cNvSpPr txBox="1"/>
          <p:nvPr/>
        </p:nvSpPr>
        <p:spPr>
          <a:xfrm>
            <a:off x="279817" y="1765717"/>
            <a:ext cx="5576341" cy="5016758"/>
          </a:xfrm>
          <a:prstGeom prst="rect">
            <a:avLst/>
          </a:prstGeom>
          <a:noFill/>
        </p:spPr>
        <p:txBody>
          <a:bodyPr wrap="square" rtlCol="0">
            <a:spAutoFit/>
          </a:bodyPr>
          <a:lstStyle/>
          <a:p>
            <a:endParaRPr lang="en-IN" sz="2000" dirty="0">
              <a:solidFill>
                <a:schemeClr val="accent2">
                  <a:lumMod val="60000"/>
                  <a:lumOff val="40000"/>
                </a:schemeClr>
              </a:solidFill>
            </a:endParaRPr>
          </a:p>
          <a:p>
            <a:pPr marL="342900" indent="-342900">
              <a:buFont typeface="Arial" panose="020B0604020202020204" pitchFamily="34" charset="0"/>
              <a:buChar char="•"/>
            </a:pPr>
            <a:r>
              <a:rPr lang="en-IN" sz="2000" dirty="0">
                <a:solidFill>
                  <a:schemeClr val="accent2">
                    <a:lumMod val="60000"/>
                    <a:lumOff val="40000"/>
                  </a:schemeClr>
                </a:solidFill>
              </a:rPr>
              <a:t>Here we have done the analysis on the  genres of the movie. We have only taken the genres which are available more than 100 records in our clean data due to which our analysis result get better.</a:t>
            </a:r>
          </a:p>
          <a:p>
            <a:pPr marL="342900" indent="-342900">
              <a:buFont typeface="Arial" panose="020B0604020202020204" pitchFamily="34" charset="0"/>
              <a:buChar char="•"/>
            </a:pPr>
            <a:endParaRPr lang="en-IN" sz="2000" dirty="0">
              <a:solidFill>
                <a:schemeClr val="accent2">
                  <a:lumMod val="60000"/>
                  <a:lumOff val="40000"/>
                </a:schemeClr>
              </a:solidFill>
            </a:endParaRPr>
          </a:p>
          <a:p>
            <a:pPr marL="342900" indent="-342900">
              <a:buFont typeface="Arial" panose="020B0604020202020204" pitchFamily="34" charset="0"/>
              <a:buChar char="•"/>
            </a:pPr>
            <a:r>
              <a:rPr lang="en-IN" sz="2000" dirty="0">
                <a:solidFill>
                  <a:schemeClr val="accent2">
                    <a:lumMod val="60000"/>
                    <a:lumOff val="40000"/>
                  </a:schemeClr>
                </a:solidFill>
              </a:rPr>
              <a:t>The most common genre of the movie is Drama and as we can see in the graphs that the performance of the is not that bad in fact the variance and standard deviation is also very low and the average rating is very high.</a:t>
            </a:r>
          </a:p>
          <a:p>
            <a:pPr marL="342900" indent="-342900">
              <a:buFont typeface="Arial" panose="020B0604020202020204" pitchFamily="34" charset="0"/>
              <a:buChar char="•"/>
            </a:pPr>
            <a:endParaRPr lang="en-IN" sz="2000" dirty="0">
              <a:solidFill>
                <a:schemeClr val="accent2">
                  <a:lumMod val="60000"/>
                  <a:lumOff val="40000"/>
                </a:schemeClr>
              </a:solidFill>
            </a:endParaRPr>
          </a:p>
          <a:p>
            <a:pPr marL="342900" indent="-342900">
              <a:buFont typeface="Arial" panose="020B0604020202020204" pitchFamily="34" charset="0"/>
              <a:buChar char="•"/>
            </a:pPr>
            <a:r>
              <a:rPr lang="en-IN" sz="2000" dirty="0">
                <a:solidFill>
                  <a:schemeClr val="accent2">
                    <a:lumMod val="60000"/>
                    <a:lumOff val="40000"/>
                  </a:schemeClr>
                </a:solidFill>
              </a:rPr>
              <a:t>The most successful genres we get through our analysis are  romance, biography, documentary and at some point we can also add fantasy.</a:t>
            </a:r>
          </a:p>
        </p:txBody>
      </p:sp>
      <p:sp>
        <p:nvSpPr>
          <p:cNvPr id="6" name="TextBox 5">
            <a:extLst>
              <a:ext uri="{FF2B5EF4-FFF2-40B4-BE49-F238E27FC236}">
                <a16:creationId xmlns:a16="http://schemas.microsoft.com/office/drawing/2014/main" id="{1FAE1FEE-C38A-34F4-96C6-4520412CCF25}"/>
              </a:ext>
            </a:extLst>
          </p:cNvPr>
          <p:cNvSpPr txBox="1"/>
          <p:nvPr/>
        </p:nvSpPr>
        <p:spPr>
          <a:xfrm>
            <a:off x="224852" y="0"/>
            <a:ext cx="6056026" cy="1754326"/>
          </a:xfrm>
          <a:prstGeom prst="rect">
            <a:avLst/>
          </a:prstGeom>
          <a:noFill/>
        </p:spPr>
        <p:txBody>
          <a:bodyPr wrap="square" rtlCol="0">
            <a:spAutoFit/>
          </a:bodyPr>
          <a:lstStyle/>
          <a:p>
            <a:r>
              <a:rPr lang="en-IN" sz="5400" b="1" i="1" u="sng" dirty="0">
                <a:solidFill>
                  <a:srgbClr val="FF0000"/>
                </a:solidFill>
              </a:rPr>
              <a:t>Movie genre analysis</a:t>
            </a:r>
          </a:p>
        </p:txBody>
      </p:sp>
    </p:spTree>
    <p:extLst>
      <p:ext uri="{BB962C8B-B14F-4D97-AF65-F5344CB8AC3E}">
        <p14:creationId xmlns:p14="http://schemas.microsoft.com/office/powerpoint/2010/main" val="32132593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7D7F24C-C25B-589F-4B7D-FDFC9380C611}"/>
              </a:ext>
            </a:extLst>
          </p:cNvPr>
          <p:cNvSpPr txBox="1"/>
          <p:nvPr/>
        </p:nvSpPr>
        <p:spPr>
          <a:xfrm>
            <a:off x="168639" y="108623"/>
            <a:ext cx="6307112" cy="6555641"/>
          </a:xfrm>
          <a:prstGeom prst="rect">
            <a:avLst/>
          </a:prstGeom>
          <a:solidFill>
            <a:schemeClr val="bg2"/>
          </a:solidFill>
        </p:spPr>
        <p:txBody>
          <a:bodyPr wrap="square">
            <a:spAutoFit/>
          </a:bodyPr>
          <a:lstStyle/>
          <a:p>
            <a:pPr marL="342900" indent="-342900">
              <a:buFont typeface="Arial" panose="020B0604020202020204" pitchFamily="34" charset="0"/>
              <a:buChar char="•"/>
            </a:pPr>
            <a:r>
              <a:rPr lang="en-IN" sz="2000" dirty="0">
                <a:solidFill>
                  <a:schemeClr val="accent2">
                    <a:lumMod val="60000"/>
                    <a:lumOff val="40000"/>
                  </a:schemeClr>
                </a:solidFill>
              </a:rPr>
              <a:t>In biography genre as we can see here in charts that average imdb rating is the highest, variance and standard deviance are the lowest and the difference between maximum and minimum rating is also not that high. So according to this we can say that the biography genre are the most successful genre.</a:t>
            </a:r>
          </a:p>
          <a:p>
            <a:pPr marL="342900" indent="-342900">
              <a:buFont typeface="Arial" panose="020B0604020202020204" pitchFamily="34" charset="0"/>
              <a:buChar char="•"/>
            </a:pPr>
            <a:endParaRPr lang="en-IN" sz="2000" dirty="0">
              <a:solidFill>
                <a:schemeClr val="accent2">
                  <a:lumMod val="60000"/>
                  <a:lumOff val="40000"/>
                </a:schemeClr>
              </a:solidFill>
            </a:endParaRPr>
          </a:p>
          <a:p>
            <a:pPr marL="342900" indent="-342900">
              <a:buFont typeface="Arial" panose="020B0604020202020204" pitchFamily="34" charset="0"/>
              <a:buChar char="•"/>
            </a:pPr>
            <a:r>
              <a:rPr lang="en-IN" sz="2000" dirty="0">
                <a:solidFill>
                  <a:schemeClr val="accent2">
                    <a:lumMod val="60000"/>
                    <a:lumOff val="40000"/>
                  </a:schemeClr>
                </a:solidFill>
              </a:rPr>
              <a:t>In romance genre the range between max. and min. ratings are lowest ,variance and standard deviation are also very low,  so we can say that the romance genre is very safe genre where chances of failure is very low.</a:t>
            </a:r>
          </a:p>
          <a:p>
            <a:pPr marL="342900" indent="-342900">
              <a:buFont typeface="Arial" panose="020B0604020202020204" pitchFamily="34" charset="0"/>
              <a:buChar char="•"/>
            </a:pPr>
            <a:endParaRPr lang="en-IN" sz="2000" dirty="0">
              <a:solidFill>
                <a:schemeClr val="accent2">
                  <a:lumMod val="60000"/>
                  <a:lumOff val="40000"/>
                </a:schemeClr>
              </a:solidFill>
            </a:endParaRPr>
          </a:p>
          <a:p>
            <a:pPr marL="342900" indent="-342900">
              <a:buFont typeface="Arial" panose="020B0604020202020204" pitchFamily="34" charset="0"/>
              <a:buChar char="•"/>
            </a:pPr>
            <a:r>
              <a:rPr lang="en-IN" sz="2000" dirty="0">
                <a:solidFill>
                  <a:schemeClr val="accent2">
                    <a:lumMod val="60000"/>
                    <a:lumOff val="40000"/>
                  </a:schemeClr>
                </a:solidFill>
              </a:rPr>
              <a:t>In documentary genre average rating is also the second highest available here and the variance and standard deviation is also not very high so we can consider it too.</a:t>
            </a:r>
          </a:p>
          <a:p>
            <a:pPr marL="342900" indent="-342900">
              <a:buFont typeface="Arial" panose="020B0604020202020204" pitchFamily="34" charset="0"/>
              <a:buChar char="•"/>
            </a:pPr>
            <a:endParaRPr lang="en-IN" sz="2000" dirty="0">
              <a:solidFill>
                <a:schemeClr val="accent2">
                  <a:lumMod val="60000"/>
                  <a:lumOff val="40000"/>
                </a:schemeClr>
              </a:solidFill>
            </a:endParaRPr>
          </a:p>
          <a:p>
            <a:pPr marL="342900" indent="-342900">
              <a:buFont typeface="Arial" panose="020B0604020202020204" pitchFamily="34" charset="0"/>
              <a:buChar char="•"/>
            </a:pPr>
            <a:r>
              <a:rPr lang="en-IN" sz="2000" dirty="0">
                <a:solidFill>
                  <a:schemeClr val="accent2">
                    <a:lumMod val="60000"/>
                    <a:lumOff val="40000"/>
                  </a:schemeClr>
                </a:solidFill>
              </a:rPr>
              <a:t>In fantasy we can see that average value is not that special but the range is not very large and the variance and standard deviation is also very low. So according to it we can say that the fantasy should be considered average not that good and not that bad. </a:t>
            </a:r>
          </a:p>
        </p:txBody>
      </p:sp>
      <p:graphicFrame>
        <p:nvGraphicFramePr>
          <p:cNvPr id="4" name="Chart 3">
            <a:extLst>
              <a:ext uri="{FF2B5EF4-FFF2-40B4-BE49-F238E27FC236}">
                <a16:creationId xmlns:a16="http://schemas.microsoft.com/office/drawing/2014/main" id="{CE22D222-7204-0059-E7A2-8387FAB5D3F5}"/>
              </a:ext>
            </a:extLst>
          </p:cNvPr>
          <p:cNvGraphicFramePr>
            <a:graphicFrameLocks/>
          </p:cNvGraphicFramePr>
          <p:nvPr>
            <p:extLst>
              <p:ext uri="{D42A27DB-BD31-4B8C-83A1-F6EECF244321}">
                <p14:modId xmlns:p14="http://schemas.microsoft.com/office/powerpoint/2010/main" val="1773444369"/>
              </p:ext>
            </p:extLst>
          </p:nvPr>
        </p:nvGraphicFramePr>
        <p:xfrm>
          <a:off x="6651885" y="108624"/>
          <a:ext cx="5371476" cy="313419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59DF2893-B53F-A3FC-25D1-15DDBD96E7D5}"/>
              </a:ext>
            </a:extLst>
          </p:cNvPr>
          <p:cNvGraphicFramePr>
            <a:graphicFrameLocks/>
          </p:cNvGraphicFramePr>
          <p:nvPr>
            <p:extLst>
              <p:ext uri="{D42A27DB-BD31-4B8C-83A1-F6EECF244321}">
                <p14:modId xmlns:p14="http://schemas.microsoft.com/office/powerpoint/2010/main" val="4240245140"/>
              </p:ext>
            </p:extLst>
          </p:nvPr>
        </p:nvGraphicFramePr>
        <p:xfrm>
          <a:off x="6651885" y="3431554"/>
          <a:ext cx="5371476" cy="313419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0207121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4B0D374D-0D57-BE7E-FE2C-C8849864E4AE}"/>
              </a:ext>
            </a:extLst>
          </p:cNvPr>
          <p:cNvGraphicFramePr>
            <a:graphicFrameLocks/>
          </p:cNvGraphicFramePr>
          <p:nvPr>
            <p:extLst>
              <p:ext uri="{D42A27DB-BD31-4B8C-83A1-F6EECF244321}">
                <p14:modId xmlns:p14="http://schemas.microsoft.com/office/powerpoint/2010/main" val="220108547"/>
              </p:ext>
            </p:extLst>
          </p:nvPr>
        </p:nvGraphicFramePr>
        <p:xfrm>
          <a:off x="6475751" y="852566"/>
          <a:ext cx="5456420" cy="5152868"/>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F17B5942-D696-2E6F-FABF-DA327868C9C8}"/>
              </a:ext>
            </a:extLst>
          </p:cNvPr>
          <p:cNvSpPr txBox="1"/>
          <p:nvPr/>
        </p:nvSpPr>
        <p:spPr>
          <a:xfrm>
            <a:off x="0" y="104931"/>
            <a:ext cx="5966085" cy="1569660"/>
          </a:xfrm>
          <a:prstGeom prst="rect">
            <a:avLst/>
          </a:prstGeom>
          <a:noFill/>
        </p:spPr>
        <p:txBody>
          <a:bodyPr wrap="square" rtlCol="0">
            <a:spAutoFit/>
          </a:bodyPr>
          <a:lstStyle/>
          <a:p>
            <a:r>
              <a:rPr lang="en-IN" sz="4800" b="1" i="1" u="sng" dirty="0">
                <a:solidFill>
                  <a:srgbClr val="FF0000"/>
                </a:solidFill>
              </a:rPr>
              <a:t>Movie duration analysis</a:t>
            </a:r>
          </a:p>
        </p:txBody>
      </p:sp>
      <p:sp>
        <p:nvSpPr>
          <p:cNvPr id="5" name="TextBox 4">
            <a:extLst>
              <a:ext uri="{FF2B5EF4-FFF2-40B4-BE49-F238E27FC236}">
                <a16:creationId xmlns:a16="http://schemas.microsoft.com/office/drawing/2014/main" id="{3F04C33A-0D9C-7C88-ABC5-9B143DD41D85}"/>
              </a:ext>
            </a:extLst>
          </p:cNvPr>
          <p:cNvSpPr txBox="1"/>
          <p:nvPr/>
        </p:nvSpPr>
        <p:spPr>
          <a:xfrm>
            <a:off x="119921" y="1674591"/>
            <a:ext cx="6105996" cy="4524315"/>
          </a:xfrm>
          <a:prstGeom prst="rect">
            <a:avLst/>
          </a:prstGeom>
          <a:noFill/>
        </p:spPr>
        <p:txBody>
          <a:bodyPr wrap="square" rtlCol="0">
            <a:spAutoFit/>
          </a:bodyPr>
          <a:lstStyle/>
          <a:p>
            <a:r>
              <a:rPr lang="en-IN" dirty="0">
                <a:solidFill>
                  <a:srgbClr val="FFC000"/>
                </a:solidFill>
              </a:rPr>
              <a:t>Here we will see which movie does better according to their duration. In this analysis we simply convert our time duration into range of 50 to simplify our understanding and make out meaningful insights and we also remove the single longest duration.</a:t>
            </a:r>
          </a:p>
          <a:p>
            <a:endParaRPr lang="en-IN" dirty="0">
              <a:solidFill>
                <a:srgbClr val="FFC000"/>
              </a:solidFill>
            </a:endParaRPr>
          </a:p>
          <a:p>
            <a:r>
              <a:rPr lang="en-IN" dirty="0">
                <a:solidFill>
                  <a:srgbClr val="FFC000"/>
                </a:solidFill>
              </a:rPr>
              <a:t>For finding the better understanding we between time duration and imdb rating we have find the average rating of the range,  maximum rating, minimum rating, standard deviation and we also plot the moving average trendline in average rating.</a:t>
            </a:r>
          </a:p>
          <a:p>
            <a:r>
              <a:rPr lang="en-IN" dirty="0">
                <a:solidFill>
                  <a:srgbClr val="FFC000"/>
                </a:solidFill>
              </a:rPr>
              <a:t> </a:t>
            </a:r>
          </a:p>
          <a:p>
            <a:r>
              <a:rPr lang="en-IN" dirty="0">
                <a:solidFill>
                  <a:srgbClr val="FFC000"/>
                </a:solidFill>
              </a:rPr>
              <a:t>Through charts we can see that the average rating is almost same or in fact getting better by increase in duration. So, for the safe side either range should be between 0-50 or above 150</a:t>
            </a:r>
          </a:p>
          <a:p>
            <a:r>
              <a:rPr lang="en-IN" dirty="0">
                <a:solidFill>
                  <a:srgbClr val="FFC000"/>
                </a:solidFill>
              </a:rPr>
              <a:t>Because here average rating is above 7</a:t>
            </a:r>
          </a:p>
        </p:txBody>
      </p:sp>
    </p:spTree>
    <p:extLst>
      <p:ext uri="{BB962C8B-B14F-4D97-AF65-F5344CB8AC3E}">
        <p14:creationId xmlns:p14="http://schemas.microsoft.com/office/powerpoint/2010/main" val="30944113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26B73-5011-9443-AA8A-CD92F548BAF5}"/>
              </a:ext>
            </a:extLst>
          </p:cNvPr>
          <p:cNvSpPr>
            <a:spLocks noGrp="1"/>
          </p:cNvSpPr>
          <p:nvPr>
            <p:ph type="title"/>
          </p:nvPr>
        </p:nvSpPr>
        <p:spPr>
          <a:xfrm>
            <a:off x="0" y="1123837"/>
            <a:ext cx="3342807" cy="4601183"/>
          </a:xfrm>
        </p:spPr>
        <p:txBody>
          <a:bodyPr>
            <a:normAutofit/>
          </a:bodyPr>
          <a:lstStyle/>
          <a:p>
            <a:r>
              <a:rPr lang="en-IN" sz="6000" b="1" i="1" u="sng" dirty="0">
                <a:solidFill>
                  <a:srgbClr val="FF0000"/>
                </a:solidFill>
              </a:rPr>
              <a:t>Language analysis</a:t>
            </a:r>
          </a:p>
        </p:txBody>
      </p:sp>
      <p:sp>
        <p:nvSpPr>
          <p:cNvPr id="3" name="Content Placeholder 2">
            <a:extLst>
              <a:ext uri="{FF2B5EF4-FFF2-40B4-BE49-F238E27FC236}">
                <a16:creationId xmlns:a16="http://schemas.microsoft.com/office/drawing/2014/main" id="{705DE348-6922-5AF8-99EB-AAA1F172BE1E}"/>
              </a:ext>
            </a:extLst>
          </p:cNvPr>
          <p:cNvSpPr>
            <a:spLocks noGrp="1"/>
          </p:cNvSpPr>
          <p:nvPr>
            <p:ph idx="1"/>
          </p:nvPr>
        </p:nvSpPr>
        <p:spPr>
          <a:xfrm>
            <a:off x="3869268" y="419724"/>
            <a:ext cx="7315200" cy="5981075"/>
          </a:xfrm>
        </p:spPr>
        <p:txBody>
          <a:bodyPr>
            <a:normAutofit lnSpcReduction="10000"/>
          </a:bodyPr>
          <a:lstStyle/>
          <a:p>
            <a:pPr marL="0" indent="0">
              <a:buNone/>
            </a:pPr>
            <a:r>
              <a:rPr lang="en-IN" sz="2400" dirty="0">
                <a:solidFill>
                  <a:schemeClr val="accent2">
                    <a:lumMod val="60000"/>
                    <a:lumOff val="40000"/>
                  </a:schemeClr>
                </a:solidFill>
              </a:rPr>
              <a:t>As per in the link given in insight option we can see that there are many languages are available with us. But before we did any analysis we simply remove all the language which have only one record because we don’t know how they usually work in that area to which we need more values in it.</a:t>
            </a:r>
          </a:p>
          <a:p>
            <a:pPr marL="0" indent="0">
              <a:buNone/>
            </a:pPr>
            <a:endParaRPr lang="en-IN" sz="2400" dirty="0">
              <a:solidFill>
                <a:schemeClr val="accent2">
                  <a:lumMod val="60000"/>
                  <a:lumOff val="40000"/>
                </a:schemeClr>
              </a:solidFill>
            </a:endParaRPr>
          </a:p>
          <a:p>
            <a:pPr marL="0" indent="0">
              <a:buNone/>
            </a:pPr>
            <a:r>
              <a:rPr lang="en-IN" sz="2400" dirty="0">
                <a:solidFill>
                  <a:schemeClr val="accent2">
                    <a:lumMod val="60000"/>
                    <a:lumOff val="40000"/>
                  </a:schemeClr>
                </a:solidFill>
              </a:rPr>
              <a:t>In our analysis we used the same average rating to the language and the standard deviation through which we get some language that are suable to make according to imdb ratings</a:t>
            </a:r>
          </a:p>
          <a:p>
            <a:pPr marL="0" indent="0">
              <a:buNone/>
            </a:pPr>
            <a:endParaRPr lang="en-IN" sz="2400" dirty="0">
              <a:solidFill>
                <a:schemeClr val="accent2">
                  <a:lumMod val="60000"/>
                  <a:lumOff val="40000"/>
                </a:schemeClr>
              </a:solidFill>
            </a:endParaRPr>
          </a:p>
          <a:p>
            <a:pPr marL="0" indent="0">
              <a:buNone/>
            </a:pPr>
            <a:r>
              <a:rPr lang="en-IN" sz="2400" dirty="0">
                <a:solidFill>
                  <a:schemeClr val="accent2">
                    <a:lumMod val="60000"/>
                    <a:lumOff val="40000"/>
                  </a:schemeClr>
                </a:solidFill>
              </a:rPr>
              <a:t>Zulu, Indonesian, Hebrew, Dari and Dutch these language we can say that are the most suitable and safe language for making the film because their average rating is above 7 and standard variance is less than 0.55 </a:t>
            </a:r>
            <a:r>
              <a:rPr lang="en-IN" sz="2800" dirty="0">
                <a:solidFill>
                  <a:schemeClr val="accent2">
                    <a:lumMod val="60000"/>
                    <a:lumOff val="40000"/>
                  </a:schemeClr>
                </a:solidFill>
              </a:rPr>
              <a:t> </a:t>
            </a:r>
            <a:r>
              <a:rPr lang="en-IN" sz="2200" dirty="0">
                <a:solidFill>
                  <a:schemeClr val="accent2">
                    <a:lumMod val="60000"/>
                    <a:lumOff val="40000"/>
                  </a:schemeClr>
                </a:solidFill>
              </a:rPr>
              <a:t>and the median of average rating is  7.28.</a:t>
            </a:r>
            <a:endParaRPr lang="en-IN" sz="2400" dirty="0">
              <a:solidFill>
                <a:schemeClr val="accent2">
                  <a:lumMod val="60000"/>
                  <a:lumOff val="40000"/>
                </a:schemeClr>
              </a:solidFill>
            </a:endParaRPr>
          </a:p>
        </p:txBody>
      </p:sp>
    </p:spTree>
    <p:extLst>
      <p:ext uri="{BB962C8B-B14F-4D97-AF65-F5344CB8AC3E}">
        <p14:creationId xmlns:p14="http://schemas.microsoft.com/office/powerpoint/2010/main" val="5041857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BA57256-6A8A-7AD9-F677-A0746BF0C42A}"/>
              </a:ext>
            </a:extLst>
          </p:cNvPr>
          <p:cNvGraphicFramePr>
            <a:graphicFrameLocks noGrp="1"/>
          </p:cNvGraphicFramePr>
          <p:nvPr>
            <p:extLst>
              <p:ext uri="{D42A27DB-BD31-4B8C-83A1-F6EECF244321}">
                <p14:modId xmlns:p14="http://schemas.microsoft.com/office/powerpoint/2010/main" val="907926738"/>
              </p:ext>
            </p:extLst>
          </p:nvPr>
        </p:nvGraphicFramePr>
        <p:xfrm>
          <a:off x="4961744" y="284813"/>
          <a:ext cx="6805536" cy="6205920"/>
        </p:xfrm>
        <a:graphic>
          <a:graphicData uri="http://schemas.openxmlformats.org/drawingml/2006/table">
            <a:tbl>
              <a:tblPr/>
              <a:tblGrid>
                <a:gridCol w="3402768">
                  <a:extLst>
                    <a:ext uri="{9D8B030D-6E8A-4147-A177-3AD203B41FA5}">
                      <a16:colId xmlns:a16="http://schemas.microsoft.com/office/drawing/2014/main" val="2600069859"/>
                    </a:ext>
                  </a:extLst>
                </a:gridCol>
                <a:gridCol w="3402768">
                  <a:extLst>
                    <a:ext uri="{9D8B030D-6E8A-4147-A177-3AD203B41FA5}">
                      <a16:colId xmlns:a16="http://schemas.microsoft.com/office/drawing/2014/main" val="1824361485"/>
                    </a:ext>
                  </a:extLst>
                </a:gridCol>
              </a:tblGrid>
              <a:tr h="295520">
                <a:tc>
                  <a:txBody>
                    <a:bodyPr/>
                    <a:lstStyle/>
                    <a:p>
                      <a:pPr algn="l" fontAlgn="b"/>
                      <a:r>
                        <a:rPr lang="en-US" sz="1600" b="0" i="0" u="none" strike="noStrike" dirty="0">
                          <a:solidFill>
                            <a:srgbClr val="000000"/>
                          </a:solidFill>
                          <a:effectLst/>
                          <a:highlight>
                            <a:srgbClr val="8EA9DB"/>
                          </a:highlight>
                          <a:latin typeface="Calibri" panose="020F0502020204030204" pitchFamily="34" charset="0"/>
                        </a:rPr>
                        <a:t>top 20 director with highest </a:t>
                      </a:r>
                      <a:r>
                        <a:rPr lang="en-US" sz="1600" b="0" i="0" u="none" strike="noStrike" dirty="0" err="1">
                          <a:solidFill>
                            <a:srgbClr val="000000"/>
                          </a:solidFill>
                          <a:effectLst/>
                          <a:highlight>
                            <a:srgbClr val="8EA9DB"/>
                          </a:highlight>
                          <a:latin typeface="Calibri" panose="020F0502020204030204" pitchFamily="34" charset="0"/>
                        </a:rPr>
                        <a:t>imdb</a:t>
                      </a:r>
                      <a:r>
                        <a:rPr lang="en-US" sz="1600" b="0" i="0" u="none" strike="noStrike" dirty="0">
                          <a:solidFill>
                            <a:srgbClr val="000000"/>
                          </a:solidFill>
                          <a:effectLst/>
                          <a:highlight>
                            <a:srgbClr val="8EA9DB"/>
                          </a:highlight>
                          <a:latin typeface="Calibri" panose="020F0502020204030204" pitchFamily="34" charset="0"/>
                        </a:rPr>
                        <a:t> rating</a:t>
                      </a:r>
                    </a:p>
                  </a:txBody>
                  <a:tcPr marL="9525" marR="9525" marT="9525" marB="0" anchor="b">
                    <a:lnL>
                      <a:noFill/>
                    </a:lnL>
                    <a:lnR>
                      <a:noFill/>
                    </a:lnR>
                    <a:lnT>
                      <a:noFill/>
                    </a:lnT>
                    <a:lnB>
                      <a:noFill/>
                    </a:lnB>
                    <a:solidFill>
                      <a:srgbClr val="8EA9DB"/>
                    </a:solidFill>
                  </a:tcPr>
                </a:tc>
                <a:tc>
                  <a:txBody>
                    <a:bodyPr/>
                    <a:lstStyle/>
                    <a:p>
                      <a:pPr algn="l" fontAlgn="b"/>
                      <a:r>
                        <a:rPr lang="en-IN" sz="1600" b="0" i="0" u="none" strike="noStrike">
                          <a:solidFill>
                            <a:srgbClr val="000000"/>
                          </a:solidFill>
                          <a:effectLst/>
                          <a:highlight>
                            <a:srgbClr val="8EA9DB"/>
                          </a:highlight>
                          <a:latin typeface="Calibri" panose="020F0502020204030204" pitchFamily="34" charset="0"/>
                        </a:rPr>
                        <a:t>thier avg imbd ratings</a:t>
                      </a:r>
                    </a:p>
                  </a:txBody>
                  <a:tcPr marL="9525" marR="9525" marT="9525" marB="0" anchor="b">
                    <a:lnL>
                      <a:noFill/>
                    </a:lnL>
                    <a:lnR>
                      <a:noFill/>
                    </a:lnR>
                    <a:lnT>
                      <a:noFill/>
                    </a:lnT>
                    <a:lnB>
                      <a:noFill/>
                    </a:lnB>
                    <a:solidFill>
                      <a:srgbClr val="8EA9DB"/>
                    </a:solidFill>
                  </a:tcPr>
                </a:tc>
                <a:extLst>
                  <a:ext uri="{0D108BD9-81ED-4DB2-BD59-A6C34878D82A}">
                    <a16:rowId xmlns:a16="http://schemas.microsoft.com/office/drawing/2014/main" val="700345433"/>
                  </a:ext>
                </a:extLst>
              </a:tr>
              <a:tr h="295520">
                <a:tc>
                  <a:txBody>
                    <a:bodyPr/>
                    <a:lstStyle/>
                    <a:p>
                      <a:pPr algn="l" fontAlgn="b"/>
                      <a:r>
                        <a:rPr lang="en-IN" sz="1600" b="0" i="0" u="none" strike="noStrike">
                          <a:solidFill>
                            <a:srgbClr val="000000"/>
                          </a:solidFill>
                          <a:effectLst/>
                          <a:highlight>
                            <a:srgbClr val="F4B084"/>
                          </a:highlight>
                          <a:latin typeface="Calibri" panose="020F0502020204030204" pitchFamily="34" charset="0"/>
                        </a:rPr>
                        <a:t>Akira Kurosawa</a:t>
                      </a:r>
                    </a:p>
                  </a:txBody>
                  <a:tcPr marL="9525" marR="9525" marT="9525" marB="0" anchor="b">
                    <a:lnL>
                      <a:noFill/>
                    </a:lnL>
                    <a:lnR>
                      <a:noFill/>
                    </a:lnR>
                    <a:lnT>
                      <a:noFill/>
                    </a:lnT>
                    <a:lnB>
                      <a:noFill/>
                    </a:lnB>
                    <a:solidFill>
                      <a:srgbClr val="F4B084"/>
                    </a:solidFill>
                  </a:tcPr>
                </a:tc>
                <a:tc>
                  <a:txBody>
                    <a:bodyPr/>
                    <a:lstStyle/>
                    <a:p>
                      <a:pPr algn="r" fontAlgn="b"/>
                      <a:r>
                        <a:rPr lang="en-IN" sz="1600" b="0" i="0" u="none" strike="noStrike">
                          <a:solidFill>
                            <a:srgbClr val="9C5700"/>
                          </a:solidFill>
                          <a:effectLst/>
                          <a:highlight>
                            <a:srgbClr val="FFEB9C"/>
                          </a:highlight>
                          <a:latin typeface="Calibri" panose="020F0502020204030204" pitchFamily="34" charset="0"/>
                        </a:rPr>
                        <a:t>8.70</a:t>
                      </a:r>
                    </a:p>
                  </a:txBody>
                  <a:tcPr marL="9525" marR="9525" marT="9525" marB="0" anchor="b">
                    <a:lnL>
                      <a:noFill/>
                    </a:lnL>
                    <a:lnR>
                      <a:noFill/>
                    </a:lnR>
                    <a:lnT>
                      <a:noFill/>
                    </a:lnT>
                    <a:lnB>
                      <a:noFill/>
                    </a:lnB>
                    <a:solidFill>
                      <a:srgbClr val="FFEB9C"/>
                    </a:solidFill>
                  </a:tcPr>
                </a:tc>
                <a:extLst>
                  <a:ext uri="{0D108BD9-81ED-4DB2-BD59-A6C34878D82A}">
                    <a16:rowId xmlns:a16="http://schemas.microsoft.com/office/drawing/2014/main" val="3496604737"/>
                  </a:ext>
                </a:extLst>
              </a:tr>
              <a:tr h="295520">
                <a:tc>
                  <a:txBody>
                    <a:bodyPr/>
                    <a:lstStyle/>
                    <a:p>
                      <a:pPr algn="l" fontAlgn="b"/>
                      <a:r>
                        <a:rPr lang="en-IN" sz="1600" b="0" i="0" u="none" strike="noStrike" dirty="0">
                          <a:solidFill>
                            <a:srgbClr val="000000"/>
                          </a:solidFill>
                          <a:effectLst/>
                          <a:highlight>
                            <a:srgbClr val="F4B084"/>
                          </a:highlight>
                          <a:latin typeface="Calibri" panose="020F0502020204030204" pitchFamily="34" charset="0"/>
                        </a:rPr>
                        <a:t>Bryan Singer</a:t>
                      </a:r>
                    </a:p>
                  </a:txBody>
                  <a:tcPr marL="9525" marR="9525" marT="9525" marB="0" anchor="b">
                    <a:lnL>
                      <a:noFill/>
                    </a:lnL>
                    <a:lnR>
                      <a:noFill/>
                    </a:lnR>
                    <a:lnT>
                      <a:noFill/>
                    </a:lnT>
                    <a:lnB>
                      <a:noFill/>
                    </a:lnB>
                    <a:solidFill>
                      <a:srgbClr val="F4B084"/>
                    </a:solidFill>
                  </a:tcPr>
                </a:tc>
                <a:tc>
                  <a:txBody>
                    <a:bodyPr/>
                    <a:lstStyle/>
                    <a:p>
                      <a:pPr algn="r" fontAlgn="b"/>
                      <a:r>
                        <a:rPr lang="en-IN" sz="1600" b="0" i="0" u="none" strike="noStrike">
                          <a:solidFill>
                            <a:srgbClr val="9C5700"/>
                          </a:solidFill>
                          <a:effectLst/>
                          <a:highlight>
                            <a:srgbClr val="FFEB9C"/>
                          </a:highlight>
                          <a:latin typeface="Calibri" panose="020F0502020204030204" pitchFamily="34" charset="0"/>
                        </a:rPr>
                        <a:t>8.60</a:t>
                      </a:r>
                    </a:p>
                  </a:txBody>
                  <a:tcPr marL="9525" marR="9525" marT="9525" marB="0" anchor="b">
                    <a:lnL>
                      <a:noFill/>
                    </a:lnL>
                    <a:lnR>
                      <a:noFill/>
                    </a:lnR>
                    <a:lnT>
                      <a:noFill/>
                    </a:lnT>
                    <a:lnB>
                      <a:noFill/>
                    </a:lnB>
                    <a:solidFill>
                      <a:srgbClr val="FFEB9C"/>
                    </a:solidFill>
                  </a:tcPr>
                </a:tc>
                <a:extLst>
                  <a:ext uri="{0D108BD9-81ED-4DB2-BD59-A6C34878D82A}">
                    <a16:rowId xmlns:a16="http://schemas.microsoft.com/office/drawing/2014/main" val="1885064103"/>
                  </a:ext>
                </a:extLst>
              </a:tr>
              <a:tr h="295520">
                <a:tc>
                  <a:txBody>
                    <a:bodyPr/>
                    <a:lstStyle/>
                    <a:p>
                      <a:pPr algn="l" fontAlgn="b"/>
                      <a:r>
                        <a:rPr lang="en-IN" sz="1600" b="0" i="0" u="none" strike="noStrike">
                          <a:solidFill>
                            <a:srgbClr val="000000"/>
                          </a:solidFill>
                          <a:effectLst/>
                          <a:highlight>
                            <a:srgbClr val="F4B084"/>
                          </a:highlight>
                          <a:latin typeface="Calibri" panose="020F0502020204030204" pitchFamily="34" charset="0"/>
                        </a:rPr>
                        <a:t>Cary Bell</a:t>
                      </a:r>
                    </a:p>
                  </a:txBody>
                  <a:tcPr marL="9525" marR="9525" marT="9525" marB="0" anchor="b">
                    <a:lnL>
                      <a:noFill/>
                    </a:lnL>
                    <a:lnR>
                      <a:noFill/>
                    </a:lnR>
                    <a:lnT>
                      <a:noFill/>
                    </a:lnT>
                    <a:lnB>
                      <a:noFill/>
                    </a:lnB>
                    <a:solidFill>
                      <a:srgbClr val="F4B084"/>
                    </a:solidFill>
                  </a:tcPr>
                </a:tc>
                <a:tc>
                  <a:txBody>
                    <a:bodyPr/>
                    <a:lstStyle/>
                    <a:p>
                      <a:pPr algn="r" fontAlgn="b"/>
                      <a:r>
                        <a:rPr lang="en-IN" sz="1600" b="0" i="0" u="none" strike="noStrike">
                          <a:solidFill>
                            <a:srgbClr val="9C5700"/>
                          </a:solidFill>
                          <a:effectLst/>
                          <a:highlight>
                            <a:srgbClr val="FFEB9C"/>
                          </a:highlight>
                          <a:latin typeface="Calibri" panose="020F0502020204030204" pitchFamily="34" charset="0"/>
                        </a:rPr>
                        <a:t>8.70</a:t>
                      </a:r>
                    </a:p>
                  </a:txBody>
                  <a:tcPr marL="9525" marR="9525" marT="9525" marB="0" anchor="b">
                    <a:lnL>
                      <a:noFill/>
                    </a:lnL>
                    <a:lnR>
                      <a:noFill/>
                    </a:lnR>
                    <a:lnT>
                      <a:noFill/>
                    </a:lnT>
                    <a:lnB>
                      <a:noFill/>
                    </a:lnB>
                    <a:solidFill>
                      <a:srgbClr val="FFEB9C"/>
                    </a:solidFill>
                  </a:tcPr>
                </a:tc>
                <a:extLst>
                  <a:ext uri="{0D108BD9-81ED-4DB2-BD59-A6C34878D82A}">
                    <a16:rowId xmlns:a16="http://schemas.microsoft.com/office/drawing/2014/main" val="183406477"/>
                  </a:ext>
                </a:extLst>
              </a:tr>
              <a:tr h="295520">
                <a:tc>
                  <a:txBody>
                    <a:bodyPr/>
                    <a:lstStyle/>
                    <a:p>
                      <a:pPr algn="l" fontAlgn="b"/>
                      <a:r>
                        <a:rPr lang="en-IN" sz="1600" b="0" i="0" u="none" strike="noStrike">
                          <a:solidFill>
                            <a:srgbClr val="000000"/>
                          </a:solidFill>
                          <a:effectLst/>
                          <a:highlight>
                            <a:srgbClr val="F4B084"/>
                          </a:highlight>
                          <a:latin typeface="Calibri" panose="020F0502020204030204" pitchFamily="34" charset="0"/>
                        </a:rPr>
                        <a:t>Charles Chaplin</a:t>
                      </a:r>
                    </a:p>
                  </a:txBody>
                  <a:tcPr marL="9525" marR="9525" marT="9525" marB="0" anchor="b">
                    <a:lnL>
                      <a:noFill/>
                    </a:lnL>
                    <a:lnR>
                      <a:noFill/>
                    </a:lnR>
                    <a:lnT>
                      <a:noFill/>
                    </a:lnT>
                    <a:lnB>
                      <a:noFill/>
                    </a:lnB>
                    <a:solidFill>
                      <a:srgbClr val="F4B084"/>
                    </a:solidFill>
                  </a:tcPr>
                </a:tc>
                <a:tc>
                  <a:txBody>
                    <a:bodyPr/>
                    <a:lstStyle/>
                    <a:p>
                      <a:pPr algn="r" fontAlgn="b"/>
                      <a:r>
                        <a:rPr lang="en-IN" sz="1600" b="0" i="0" u="none" strike="noStrike">
                          <a:solidFill>
                            <a:srgbClr val="9C5700"/>
                          </a:solidFill>
                          <a:effectLst/>
                          <a:highlight>
                            <a:srgbClr val="FFEB9C"/>
                          </a:highlight>
                          <a:latin typeface="Calibri" panose="020F0502020204030204" pitchFamily="34" charset="0"/>
                        </a:rPr>
                        <a:t>8.60</a:t>
                      </a:r>
                    </a:p>
                  </a:txBody>
                  <a:tcPr marL="9525" marR="9525" marT="9525" marB="0" anchor="b">
                    <a:lnL>
                      <a:noFill/>
                    </a:lnL>
                    <a:lnR>
                      <a:noFill/>
                    </a:lnR>
                    <a:lnT>
                      <a:noFill/>
                    </a:lnT>
                    <a:lnB>
                      <a:noFill/>
                    </a:lnB>
                    <a:solidFill>
                      <a:srgbClr val="FFEB9C"/>
                    </a:solidFill>
                  </a:tcPr>
                </a:tc>
                <a:extLst>
                  <a:ext uri="{0D108BD9-81ED-4DB2-BD59-A6C34878D82A}">
                    <a16:rowId xmlns:a16="http://schemas.microsoft.com/office/drawing/2014/main" val="4224950287"/>
                  </a:ext>
                </a:extLst>
              </a:tr>
              <a:tr h="295520">
                <a:tc>
                  <a:txBody>
                    <a:bodyPr/>
                    <a:lstStyle/>
                    <a:p>
                      <a:pPr algn="l" fontAlgn="b"/>
                      <a:r>
                        <a:rPr lang="en-IN" sz="1600" b="0" i="0" u="none" strike="noStrike">
                          <a:solidFill>
                            <a:srgbClr val="000000"/>
                          </a:solidFill>
                          <a:effectLst/>
                          <a:highlight>
                            <a:srgbClr val="F4B084"/>
                          </a:highlight>
                          <a:latin typeface="Calibri" panose="020F0502020204030204" pitchFamily="34" charset="0"/>
                        </a:rPr>
                        <a:t>David Fincher</a:t>
                      </a:r>
                    </a:p>
                  </a:txBody>
                  <a:tcPr marL="9525" marR="9525" marT="9525" marB="0" anchor="b">
                    <a:lnL>
                      <a:noFill/>
                    </a:lnL>
                    <a:lnR>
                      <a:noFill/>
                    </a:lnR>
                    <a:lnT>
                      <a:noFill/>
                    </a:lnT>
                    <a:lnB>
                      <a:noFill/>
                    </a:lnB>
                    <a:solidFill>
                      <a:srgbClr val="F4B084"/>
                    </a:solidFill>
                  </a:tcPr>
                </a:tc>
                <a:tc>
                  <a:txBody>
                    <a:bodyPr/>
                    <a:lstStyle/>
                    <a:p>
                      <a:pPr algn="r" fontAlgn="b"/>
                      <a:r>
                        <a:rPr lang="en-IN" sz="1600" b="0" i="0" u="none" strike="noStrike">
                          <a:solidFill>
                            <a:srgbClr val="9C5700"/>
                          </a:solidFill>
                          <a:effectLst/>
                          <a:highlight>
                            <a:srgbClr val="FFEB9C"/>
                          </a:highlight>
                          <a:latin typeface="Calibri" panose="020F0502020204030204" pitchFamily="34" charset="0"/>
                        </a:rPr>
                        <a:t>8.70</a:t>
                      </a:r>
                    </a:p>
                  </a:txBody>
                  <a:tcPr marL="9525" marR="9525" marT="9525" marB="0" anchor="b">
                    <a:lnL>
                      <a:noFill/>
                    </a:lnL>
                    <a:lnR>
                      <a:noFill/>
                    </a:lnR>
                    <a:lnT>
                      <a:noFill/>
                    </a:lnT>
                    <a:lnB>
                      <a:noFill/>
                    </a:lnB>
                    <a:solidFill>
                      <a:srgbClr val="FFEB9C"/>
                    </a:solidFill>
                  </a:tcPr>
                </a:tc>
                <a:extLst>
                  <a:ext uri="{0D108BD9-81ED-4DB2-BD59-A6C34878D82A}">
                    <a16:rowId xmlns:a16="http://schemas.microsoft.com/office/drawing/2014/main" val="1855782033"/>
                  </a:ext>
                </a:extLst>
              </a:tr>
              <a:tr h="295520">
                <a:tc>
                  <a:txBody>
                    <a:bodyPr/>
                    <a:lstStyle/>
                    <a:p>
                      <a:pPr algn="l" fontAlgn="b"/>
                      <a:r>
                        <a:rPr lang="en-IN" sz="1600" b="0" i="0" u="none" strike="noStrike">
                          <a:solidFill>
                            <a:srgbClr val="000000"/>
                          </a:solidFill>
                          <a:effectLst/>
                          <a:highlight>
                            <a:srgbClr val="F4B084"/>
                          </a:highlight>
                          <a:latin typeface="Calibri" panose="020F0502020204030204" pitchFamily="34" charset="0"/>
                        </a:rPr>
                        <a:t>Fernando Meirelles</a:t>
                      </a:r>
                    </a:p>
                  </a:txBody>
                  <a:tcPr marL="9525" marR="9525" marT="9525" marB="0" anchor="b">
                    <a:lnL>
                      <a:noFill/>
                    </a:lnL>
                    <a:lnR>
                      <a:noFill/>
                    </a:lnR>
                    <a:lnT>
                      <a:noFill/>
                    </a:lnT>
                    <a:lnB>
                      <a:noFill/>
                    </a:lnB>
                    <a:solidFill>
                      <a:srgbClr val="F4B084"/>
                    </a:solidFill>
                  </a:tcPr>
                </a:tc>
                <a:tc>
                  <a:txBody>
                    <a:bodyPr/>
                    <a:lstStyle/>
                    <a:p>
                      <a:pPr algn="r" fontAlgn="b"/>
                      <a:r>
                        <a:rPr lang="en-IN" sz="1600" b="0" i="0" u="none" strike="noStrike">
                          <a:solidFill>
                            <a:srgbClr val="9C5700"/>
                          </a:solidFill>
                          <a:effectLst/>
                          <a:highlight>
                            <a:srgbClr val="FFEB9C"/>
                          </a:highlight>
                          <a:latin typeface="Calibri" panose="020F0502020204030204" pitchFamily="34" charset="0"/>
                        </a:rPr>
                        <a:t>8.70</a:t>
                      </a:r>
                    </a:p>
                  </a:txBody>
                  <a:tcPr marL="9525" marR="9525" marT="9525" marB="0" anchor="b">
                    <a:lnL>
                      <a:noFill/>
                    </a:lnL>
                    <a:lnR>
                      <a:noFill/>
                    </a:lnR>
                    <a:lnT>
                      <a:noFill/>
                    </a:lnT>
                    <a:lnB>
                      <a:noFill/>
                    </a:lnB>
                    <a:solidFill>
                      <a:srgbClr val="FFEB9C"/>
                    </a:solidFill>
                  </a:tcPr>
                </a:tc>
                <a:extLst>
                  <a:ext uri="{0D108BD9-81ED-4DB2-BD59-A6C34878D82A}">
                    <a16:rowId xmlns:a16="http://schemas.microsoft.com/office/drawing/2014/main" val="3249203556"/>
                  </a:ext>
                </a:extLst>
              </a:tr>
              <a:tr h="295520">
                <a:tc>
                  <a:txBody>
                    <a:bodyPr/>
                    <a:lstStyle/>
                    <a:p>
                      <a:pPr algn="l" fontAlgn="b"/>
                      <a:r>
                        <a:rPr lang="en-IN" sz="1600" b="0" i="0" u="none" strike="noStrike" dirty="0">
                          <a:solidFill>
                            <a:srgbClr val="000000"/>
                          </a:solidFill>
                          <a:effectLst/>
                          <a:highlight>
                            <a:srgbClr val="F4B084"/>
                          </a:highlight>
                          <a:latin typeface="Calibri" panose="020F0502020204030204" pitchFamily="34" charset="0"/>
                        </a:rPr>
                        <a:t>Francis Ford Coppola</a:t>
                      </a:r>
                    </a:p>
                  </a:txBody>
                  <a:tcPr marL="9525" marR="9525" marT="9525" marB="0" anchor="b">
                    <a:lnL>
                      <a:noFill/>
                    </a:lnL>
                    <a:lnR>
                      <a:noFill/>
                    </a:lnR>
                    <a:lnT>
                      <a:noFill/>
                    </a:lnT>
                    <a:lnB>
                      <a:noFill/>
                    </a:lnB>
                    <a:solidFill>
                      <a:srgbClr val="F4B084"/>
                    </a:solidFill>
                  </a:tcPr>
                </a:tc>
                <a:tc>
                  <a:txBody>
                    <a:bodyPr/>
                    <a:lstStyle/>
                    <a:p>
                      <a:pPr algn="r" fontAlgn="b"/>
                      <a:r>
                        <a:rPr lang="en-IN" sz="1600" b="0" i="0" u="none" strike="noStrike">
                          <a:solidFill>
                            <a:srgbClr val="9C5700"/>
                          </a:solidFill>
                          <a:effectLst/>
                          <a:highlight>
                            <a:srgbClr val="FFEB9C"/>
                          </a:highlight>
                          <a:latin typeface="Calibri" panose="020F0502020204030204" pitchFamily="34" charset="0"/>
                        </a:rPr>
                        <a:t>8.75</a:t>
                      </a:r>
                    </a:p>
                  </a:txBody>
                  <a:tcPr marL="9525" marR="9525" marT="9525" marB="0" anchor="b">
                    <a:lnL>
                      <a:noFill/>
                    </a:lnL>
                    <a:lnR>
                      <a:noFill/>
                    </a:lnR>
                    <a:lnT>
                      <a:noFill/>
                    </a:lnT>
                    <a:lnB>
                      <a:noFill/>
                    </a:lnB>
                    <a:solidFill>
                      <a:srgbClr val="FFEB9C"/>
                    </a:solidFill>
                  </a:tcPr>
                </a:tc>
                <a:extLst>
                  <a:ext uri="{0D108BD9-81ED-4DB2-BD59-A6C34878D82A}">
                    <a16:rowId xmlns:a16="http://schemas.microsoft.com/office/drawing/2014/main" val="916792656"/>
                  </a:ext>
                </a:extLst>
              </a:tr>
              <a:tr h="295520">
                <a:tc>
                  <a:txBody>
                    <a:bodyPr/>
                    <a:lstStyle/>
                    <a:p>
                      <a:pPr algn="l" fontAlgn="b"/>
                      <a:r>
                        <a:rPr lang="en-IN" sz="1600" b="0" i="0" u="none" strike="noStrike">
                          <a:solidFill>
                            <a:srgbClr val="000000"/>
                          </a:solidFill>
                          <a:effectLst/>
                          <a:highlight>
                            <a:srgbClr val="F4B084"/>
                          </a:highlight>
                          <a:latin typeface="Calibri" panose="020F0502020204030204" pitchFamily="34" charset="0"/>
                        </a:rPr>
                        <a:t>Frank Capra</a:t>
                      </a:r>
                    </a:p>
                  </a:txBody>
                  <a:tcPr marL="9525" marR="9525" marT="9525" marB="0" anchor="b">
                    <a:lnL>
                      <a:noFill/>
                    </a:lnL>
                    <a:lnR>
                      <a:noFill/>
                    </a:lnR>
                    <a:lnT>
                      <a:noFill/>
                    </a:lnT>
                    <a:lnB>
                      <a:noFill/>
                    </a:lnB>
                    <a:solidFill>
                      <a:srgbClr val="F4B084"/>
                    </a:solidFill>
                  </a:tcPr>
                </a:tc>
                <a:tc>
                  <a:txBody>
                    <a:bodyPr/>
                    <a:lstStyle/>
                    <a:p>
                      <a:pPr algn="r" fontAlgn="b"/>
                      <a:r>
                        <a:rPr lang="en-IN" sz="1600" b="0" i="0" u="none" strike="noStrike">
                          <a:solidFill>
                            <a:srgbClr val="9C5700"/>
                          </a:solidFill>
                          <a:effectLst/>
                          <a:highlight>
                            <a:srgbClr val="FFEB9C"/>
                          </a:highlight>
                          <a:latin typeface="Calibri" panose="020F0502020204030204" pitchFamily="34" charset="0"/>
                        </a:rPr>
                        <a:t>8.60</a:t>
                      </a:r>
                    </a:p>
                  </a:txBody>
                  <a:tcPr marL="9525" marR="9525" marT="9525" marB="0" anchor="b">
                    <a:lnL>
                      <a:noFill/>
                    </a:lnL>
                    <a:lnR>
                      <a:noFill/>
                    </a:lnR>
                    <a:lnT>
                      <a:noFill/>
                    </a:lnT>
                    <a:lnB>
                      <a:noFill/>
                    </a:lnB>
                    <a:solidFill>
                      <a:srgbClr val="FFEB9C"/>
                    </a:solidFill>
                  </a:tcPr>
                </a:tc>
                <a:extLst>
                  <a:ext uri="{0D108BD9-81ED-4DB2-BD59-A6C34878D82A}">
                    <a16:rowId xmlns:a16="http://schemas.microsoft.com/office/drawing/2014/main" val="2393050976"/>
                  </a:ext>
                </a:extLst>
              </a:tr>
              <a:tr h="295520">
                <a:tc>
                  <a:txBody>
                    <a:bodyPr/>
                    <a:lstStyle/>
                    <a:p>
                      <a:pPr algn="l" fontAlgn="b"/>
                      <a:r>
                        <a:rPr lang="en-IN" sz="1600" b="0" i="0" u="none" strike="noStrike">
                          <a:solidFill>
                            <a:srgbClr val="000000"/>
                          </a:solidFill>
                          <a:effectLst/>
                          <a:highlight>
                            <a:srgbClr val="F4B084"/>
                          </a:highlight>
                          <a:latin typeface="Calibri" panose="020F0502020204030204" pitchFamily="34" charset="0"/>
                        </a:rPr>
                        <a:t>Frank Darabont</a:t>
                      </a:r>
                    </a:p>
                  </a:txBody>
                  <a:tcPr marL="9525" marR="9525" marT="9525" marB="0" anchor="b">
                    <a:lnL>
                      <a:noFill/>
                    </a:lnL>
                    <a:lnR>
                      <a:noFill/>
                    </a:lnR>
                    <a:lnT>
                      <a:noFill/>
                    </a:lnT>
                    <a:lnB>
                      <a:noFill/>
                    </a:lnB>
                    <a:solidFill>
                      <a:srgbClr val="F4B084"/>
                    </a:solidFill>
                  </a:tcPr>
                </a:tc>
                <a:tc>
                  <a:txBody>
                    <a:bodyPr/>
                    <a:lstStyle/>
                    <a:p>
                      <a:pPr algn="r" fontAlgn="b"/>
                      <a:r>
                        <a:rPr lang="en-IN" sz="1600" b="0" i="0" u="none" strike="noStrike">
                          <a:solidFill>
                            <a:srgbClr val="9C5700"/>
                          </a:solidFill>
                          <a:effectLst/>
                          <a:highlight>
                            <a:srgbClr val="FFEB9C"/>
                          </a:highlight>
                          <a:latin typeface="Calibri" panose="020F0502020204030204" pitchFamily="34" charset="0"/>
                        </a:rPr>
                        <a:t>9.30</a:t>
                      </a:r>
                    </a:p>
                  </a:txBody>
                  <a:tcPr marL="9525" marR="9525" marT="9525" marB="0" anchor="b">
                    <a:lnL>
                      <a:noFill/>
                    </a:lnL>
                    <a:lnR>
                      <a:noFill/>
                    </a:lnR>
                    <a:lnT>
                      <a:noFill/>
                    </a:lnT>
                    <a:lnB>
                      <a:noFill/>
                    </a:lnB>
                    <a:solidFill>
                      <a:srgbClr val="FFEB9C"/>
                    </a:solidFill>
                  </a:tcPr>
                </a:tc>
                <a:extLst>
                  <a:ext uri="{0D108BD9-81ED-4DB2-BD59-A6C34878D82A}">
                    <a16:rowId xmlns:a16="http://schemas.microsoft.com/office/drawing/2014/main" val="2136042636"/>
                  </a:ext>
                </a:extLst>
              </a:tr>
              <a:tr h="295520">
                <a:tc>
                  <a:txBody>
                    <a:bodyPr/>
                    <a:lstStyle/>
                    <a:p>
                      <a:pPr algn="l" fontAlgn="b"/>
                      <a:r>
                        <a:rPr lang="en-IN" sz="1600" b="0" i="0" u="none" strike="noStrike">
                          <a:solidFill>
                            <a:srgbClr val="000000"/>
                          </a:solidFill>
                          <a:effectLst/>
                          <a:highlight>
                            <a:srgbClr val="F4B084"/>
                          </a:highlight>
                          <a:latin typeface="Calibri" panose="020F0502020204030204" pitchFamily="34" charset="0"/>
                        </a:rPr>
                        <a:t>Hayao Miyazaki</a:t>
                      </a:r>
                    </a:p>
                  </a:txBody>
                  <a:tcPr marL="9525" marR="9525" marT="9525" marB="0" anchor="b">
                    <a:lnL>
                      <a:noFill/>
                    </a:lnL>
                    <a:lnR>
                      <a:noFill/>
                    </a:lnR>
                    <a:lnT>
                      <a:noFill/>
                    </a:lnT>
                    <a:lnB>
                      <a:noFill/>
                    </a:lnB>
                    <a:solidFill>
                      <a:srgbClr val="F4B084"/>
                    </a:solidFill>
                  </a:tcPr>
                </a:tc>
                <a:tc>
                  <a:txBody>
                    <a:bodyPr/>
                    <a:lstStyle/>
                    <a:p>
                      <a:pPr algn="r" fontAlgn="b"/>
                      <a:r>
                        <a:rPr lang="en-IN" sz="1600" b="0" i="0" u="none" strike="noStrike">
                          <a:solidFill>
                            <a:srgbClr val="9C5700"/>
                          </a:solidFill>
                          <a:effectLst/>
                          <a:highlight>
                            <a:srgbClr val="FFEB9C"/>
                          </a:highlight>
                          <a:latin typeface="Calibri" panose="020F0502020204030204" pitchFamily="34" charset="0"/>
                        </a:rPr>
                        <a:t>8.60</a:t>
                      </a:r>
                    </a:p>
                  </a:txBody>
                  <a:tcPr marL="9525" marR="9525" marT="9525" marB="0" anchor="b">
                    <a:lnL>
                      <a:noFill/>
                    </a:lnL>
                    <a:lnR>
                      <a:noFill/>
                    </a:lnR>
                    <a:lnT>
                      <a:noFill/>
                    </a:lnT>
                    <a:lnB>
                      <a:noFill/>
                    </a:lnB>
                    <a:solidFill>
                      <a:srgbClr val="FFEB9C"/>
                    </a:solidFill>
                  </a:tcPr>
                </a:tc>
                <a:extLst>
                  <a:ext uri="{0D108BD9-81ED-4DB2-BD59-A6C34878D82A}">
                    <a16:rowId xmlns:a16="http://schemas.microsoft.com/office/drawing/2014/main" val="1685267660"/>
                  </a:ext>
                </a:extLst>
              </a:tr>
              <a:tr h="295520">
                <a:tc>
                  <a:txBody>
                    <a:bodyPr/>
                    <a:lstStyle/>
                    <a:p>
                      <a:pPr algn="l" fontAlgn="b"/>
                      <a:r>
                        <a:rPr lang="en-IN" sz="1600" b="0" i="0" u="none" strike="noStrike">
                          <a:solidFill>
                            <a:srgbClr val="000000"/>
                          </a:solidFill>
                          <a:effectLst/>
                          <a:highlight>
                            <a:srgbClr val="F4B084"/>
                          </a:highlight>
                          <a:latin typeface="Calibri" panose="020F0502020204030204" pitchFamily="34" charset="0"/>
                        </a:rPr>
                        <a:t>John Blanchard</a:t>
                      </a:r>
                    </a:p>
                  </a:txBody>
                  <a:tcPr marL="9525" marR="9525" marT="9525" marB="0" anchor="b">
                    <a:lnL>
                      <a:noFill/>
                    </a:lnL>
                    <a:lnR>
                      <a:noFill/>
                    </a:lnR>
                    <a:lnT>
                      <a:noFill/>
                    </a:lnT>
                    <a:lnB>
                      <a:noFill/>
                    </a:lnB>
                    <a:solidFill>
                      <a:srgbClr val="F4B084"/>
                    </a:solidFill>
                  </a:tcPr>
                </a:tc>
                <a:tc>
                  <a:txBody>
                    <a:bodyPr/>
                    <a:lstStyle/>
                    <a:p>
                      <a:pPr algn="r" fontAlgn="b"/>
                      <a:r>
                        <a:rPr lang="en-IN" sz="1600" b="0" i="0" u="none" strike="noStrike">
                          <a:solidFill>
                            <a:srgbClr val="9C5700"/>
                          </a:solidFill>
                          <a:effectLst/>
                          <a:highlight>
                            <a:srgbClr val="FFEB9C"/>
                          </a:highlight>
                          <a:latin typeface="Calibri" panose="020F0502020204030204" pitchFamily="34" charset="0"/>
                        </a:rPr>
                        <a:t>9.50</a:t>
                      </a:r>
                    </a:p>
                  </a:txBody>
                  <a:tcPr marL="9525" marR="9525" marT="9525" marB="0" anchor="b">
                    <a:lnL>
                      <a:noFill/>
                    </a:lnL>
                    <a:lnR>
                      <a:noFill/>
                    </a:lnR>
                    <a:lnT>
                      <a:noFill/>
                    </a:lnT>
                    <a:lnB>
                      <a:noFill/>
                    </a:lnB>
                    <a:solidFill>
                      <a:srgbClr val="FFEB9C"/>
                    </a:solidFill>
                  </a:tcPr>
                </a:tc>
                <a:extLst>
                  <a:ext uri="{0D108BD9-81ED-4DB2-BD59-A6C34878D82A}">
                    <a16:rowId xmlns:a16="http://schemas.microsoft.com/office/drawing/2014/main" val="2528956050"/>
                  </a:ext>
                </a:extLst>
              </a:tr>
              <a:tr h="295520">
                <a:tc>
                  <a:txBody>
                    <a:bodyPr/>
                    <a:lstStyle/>
                    <a:p>
                      <a:pPr algn="l" fontAlgn="b"/>
                      <a:r>
                        <a:rPr lang="en-IN" sz="1600" b="0" i="0" u="none" strike="noStrike">
                          <a:solidFill>
                            <a:srgbClr val="000000"/>
                          </a:solidFill>
                          <a:effectLst/>
                          <a:highlight>
                            <a:srgbClr val="F4B084"/>
                          </a:highlight>
                          <a:latin typeface="Calibri" panose="020F0502020204030204" pitchFamily="34" charset="0"/>
                        </a:rPr>
                        <a:t>John Stockwell</a:t>
                      </a:r>
                    </a:p>
                  </a:txBody>
                  <a:tcPr marL="9525" marR="9525" marT="9525" marB="0" anchor="b">
                    <a:lnL>
                      <a:noFill/>
                    </a:lnL>
                    <a:lnR>
                      <a:noFill/>
                    </a:lnR>
                    <a:lnT>
                      <a:noFill/>
                    </a:lnT>
                    <a:lnB>
                      <a:noFill/>
                    </a:lnB>
                    <a:solidFill>
                      <a:srgbClr val="F4B084"/>
                    </a:solidFill>
                  </a:tcPr>
                </a:tc>
                <a:tc>
                  <a:txBody>
                    <a:bodyPr/>
                    <a:lstStyle/>
                    <a:p>
                      <a:pPr algn="r" fontAlgn="b"/>
                      <a:r>
                        <a:rPr lang="en-IN" sz="1600" b="0" i="0" u="none" strike="noStrike">
                          <a:solidFill>
                            <a:srgbClr val="9C5700"/>
                          </a:solidFill>
                          <a:effectLst/>
                          <a:highlight>
                            <a:srgbClr val="FFEB9C"/>
                          </a:highlight>
                          <a:latin typeface="Calibri" panose="020F0502020204030204" pitchFamily="34" charset="0"/>
                        </a:rPr>
                        <a:t>9.10</a:t>
                      </a:r>
                    </a:p>
                  </a:txBody>
                  <a:tcPr marL="9525" marR="9525" marT="9525" marB="0" anchor="b">
                    <a:lnL>
                      <a:noFill/>
                    </a:lnL>
                    <a:lnR>
                      <a:noFill/>
                    </a:lnR>
                    <a:lnT>
                      <a:noFill/>
                    </a:lnT>
                    <a:lnB>
                      <a:noFill/>
                    </a:lnB>
                    <a:solidFill>
                      <a:srgbClr val="FFEB9C"/>
                    </a:solidFill>
                  </a:tcPr>
                </a:tc>
                <a:extLst>
                  <a:ext uri="{0D108BD9-81ED-4DB2-BD59-A6C34878D82A}">
                    <a16:rowId xmlns:a16="http://schemas.microsoft.com/office/drawing/2014/main" val="1968358945"/>
                  </a:ext>
                </a:extLst>
              </a:tr>
              <a:tr h="295520">
                <a:tc>
                  <a:txBody>
                    <a:bodyPr/>
                    <a:lstStyle/>
                    <a:p>
                      <a:pPr algn="l" fontAlgn="b"/>
                      <a:r>
                        <a:rPr lang="en-IN" sz="1600" b="0" i="0" u="none" strike="noStrike">
                          <a:solidFill>
                            <a:srgbClr val="000000"/>
                          </a:solidFill>
                          <a:effectLst/>
                          <a:highlight>
                            <a:srgbClr val="F4B084"/>
                          </a:highlight>
                          <a:latin typeface="Calibri" panose="020F0502020204030204" pitchFamily="34" charset="0"/>
                        </a:rPr>
                        <a:t>Michael Curtiz</a:t>
                      </a:r>
                    </a:p>
                  </a:txBody>
                  <a:tcPr marL="9525" marR="9525" marT="9525" marB="0" anchor="b">
                    <a:lnL>
                      <a:noFill/>
                    </a:lnL>
                    <a:lnR>
                      <a:noFill/>
                    </a:lnR>
                    <a:lnT>
                      <a:noFill/>
                    </a:lnT>
                    <a:lnB>
                      <a:noFill/>
                    </a:lnB>
                    <a:solidFill>
                      <a:srgbClr val="F4B084"/>
                    </a:solidFill>
                  </a:tcPr>
                </a:tc>
                <a:tc>
                  <a:txBody>
                    <a:bodyPr/>
                    <a:lstStyle/>
                    <a:p>
                      <a:pPr algn="r" fontAlgn="b"/>
                      <a:r>
                        <a:rPr lang="en-IN" sz="1600" b="0" i="0" u="none" strike="noStrike">
                          <a:solidFill>
                            <a:srgbClr val="9C5700"/>
                          </a:solidFill>
                          <a:effectLst/>
                          <a:highlight>
                            <a:srgbClr val="FFEB9C"/>
                          </a:highlight>
                          <a:latin typeface="Calibri" panose="020F0502020204030204" pitchFamily="34" charset="0"/>
                        </a:rPr>
                        <a:t>8.60</a:t>
                      </a:r>
                    </a:p>
                  </a:txBody>
                  <a:tcPr marL="9525" marR="9525" marT="9525" marB="0" anchor="b">
                    <a:lnL>
                      <a:noFill/>
                    </a:lnL>
                    <a:lnR>
                      <a:noFill/>
                    </a:lnR>
                    <a:lnT>
                      <a:noFill/>
                    </a:lnT>
                    <a:lnB>
                      <a:noFill/>
                    </a:lnB>
                    <a:solidFill>
                      <a:srgbClr val="FFEB9C"/>
                    </a:solidFill>
                  </a:tcPr>
                </a:tc>
                <a:extLst>
                  <a:ext uri="{0D108BD9-81ED-4DB2-BD59-A6C34878D82A}">
                    <a16:rowId xmlns:a16="http://schemas.microsoft.com/office/drawing/2014/main" val="3799863798"/>
                  </a:ext>
                </a:extLst>
              </a:tr>
              <a:tr h="295520">
                <a:tc>
                  <a:txBody>
                    <a:bodyPr/>
                    <a:lstStyle/>
                    <a:p>
                      <a:pPr algn="l" fontAlgn="b"/>
                      <a:r>
                        <a:rPr lang="en-IN" sz="1600" b="0" i="0" u="none" strike="noStrike">
                          <a:solidFill>
                            <a:srgbClr val="000000"/>
                          </a:solidFill>
                          <a:effectLst/>
                          <a:highlight>
                            <a:srgbClr val="F4B084"/>
                          </a:highlight>
                          <a:latin typeface="Calibri" panose="020F0502020204030204" pitchFamily="34" charset="0"/>
                        </a:rPr>
                        <a:t>Mike Mayhall</a:t>
                      </a:r>
                    </a:p>
                  </a:txBody>
                  <a:tcPr marL="9525" marR="9525" marT="9525" marB="0" anchor="b">
                    <a:lnL>
                      <a:noFill/>
                    </a:lnL>
                    <a:lnR>
                      <a:noFill/>
                    </a:lnR>
                    <a:lnT>
                      <a:noFill/>
                    </a:lnT>
                    <a:lnB>
                      <a:noFill/>
                    </a:lnB>
                    <a:solidFill>
                      <a:srgbClr val="F4B084"/>
                    </a:solidFill>
                  </a:tcPr>
                </a:tc>
                <a:tc>
                  <a:txBody>
                    <a:bodyPr/>
                    <a:lstStyle/>
                    <a:p>
                      <a:pPr algn="r" fontAlgn="b"/>
                      <a:r>
                        <a:rPr lang="en-IN" sz="1600" b="0" i="0" u="none" strike="noStrike">
                          <a:solidFill>
                            <a:srgbClr val="9C5700"/>
                          </a:solidFill>
                          <a:effectLst/>
                          <a:highlight>
                            <a:srgbClr val="FFEB9C"/>
                          </a:highlight>
                          <a:latin typeface="Calibri" panose="020F0502020204030204" pitchFamily="34" charset="0"/>
                        </a:rPr>
                        <a:t>8.60</a:t>
                      </a:r>
                    </a:p>
                  </a:txBody>
                  <a:tcPr marL="9525" marR="9525" marT="9525" marB="0" anchor="b">
                    <a:lnL>
                      <a:noFill/>
                    </a:lnL>
                    <a:lnR>
                      <a:noFill/>
                    </a:lnR>
                    <a:lnT>
                      <a:noFill/>
                    </a:lnT>
                    <a:lnB>
                      <a:noFill/>
                    </a:lnB>
                    <a:solidFill>
                      <a:srgbClr val="FFEB9C"/>
                    </a:solidFill>
                  </a:tcPr>
                </a:tc>
                <a:extLst>
                  <a:ext uri="{0D108BD9-81ED-4DB2-BD59-A6C34878D82A}">
                    <a16:rowId xmlns:a16="http://schemas.microsoft.com/office/drawing/2014/main" val="2234501720"/>
                  </a:ext>
                </a:extLst>
              </a:tr>
              <a:tr h="295520">
                <a:tc>
                  <a:txBody>
                    <a:bodyPr/>
                    <a:lstStyle/>
                    <a:p>
                      <a:pPr algn="l" fontAlgn="b"/>
                      <a:r>
                        <a:rPr lang="en-IN" sz="1600" b="0" i="0" u="none" strike="noStrike">
                          <a:solidFill>
                            <a:srgbClr val="000000"/>
                          </a:solidFill>
                          <a:effectLst/>
                          <a:highlight>
                            <a:srgbClr val="F4B084"/>
                          </a:highlight>
                          <a:latin typeface="Calibri" panose="020F0502020204030204" pitchFamily="34" charset="0"/>
                        </a:rPr>
                        <a:t>Mitchell Altieri</a:t>
                      </a:r>
                    </a:p>
                  </a:txBody>
                  <a:tcPr marL="9525" marR="9525" marT="9525" marB="0" anchor="b">
                    <a:lnL>
                      <a:noFill/>
                    </a:lnL>
                    <a:lnR>
                      <a:noFill/>
                    </a:lnR>
                    <a:lnT>
                      <a:noFill/>
                    </a:lnT>
                    <a:lnB>
                      <a:noFill/>
                    </a:lnB>
                    <a:solidFill>
                      <a:srgbClr val="F4B084"/>
                    </a:solidFill>
                  </a:tcPr>
                </a:tc>
                <a:tc>
                  <a:txBody>
                    <a:bodyPr/>
                    <a:lstStyle/>
                    <a:p>
                      <a:pPr algn="r" fontAlgn="b"/>
                      <a:r>
                        <a:rPr lang="en-IN" sz="1600" b="0" i="0" u="none" strike="noStrike">
                          <a:solidFill>
                            <a:srgbClr val="9C5700"/>
                          </a:solidFill>
                          <a:effectLst/>
                          <a:highlight>
                            <a:srgbClr val="FFEB9C"/>
                          </a:highlight>
                          <a:latin typeface="Calibri" panose="020F0502020204030204" pitchFamily="34" charset="0"/>
                        </a:rPr>
                        <a:t>8.70</a:t>
                      </a:r>
                    </a:p>
                  </a:txBody>
                  <a:tcPr marL="9525" marR="9525" marT="9525" marB="0" anchor="b">
                    <a:lnL>
                      <a:noFill/>
                    </a:lnL>
                    <a:lnR>
                      <a:noFill/>
                    </a:lnR>
                    <a:lnT>
                      <a:noFill/>
                    </a:lnT>
                    <a:lnB>
                      <a:noFill/>
                    </a:lnB>
                    <a:solidFill>
                      <a:srgbClr val="FFEB9C"/>
                    </a:solidFill>
                  </a:tcPr>
                </a:tc>
                <a:extLst>
                  <a:ext uri="{0D108BD9-81ED-4DB2-BD59-A6C34878D82A}">
                    <a16:rowId xmlns:a16="http://schemas.microsoft.com/office/drawing/2014/main" val="1383088645"/>
                  </a:ext>
                </a:extLst>
              </a:tr>
              <a:tr h="295520">
                <a:tc>
                  <a:txBody>
                    <a:bodyPr/>
                    <a:lstStyle/>
                    <a:p>
                      <a:pPr algn="l" fontAlgn="b"/>
                      <a:r>
                        <a:rPr lang="en-IN" sz="1600" b="0" i="0" u="none" strike="noStrike">
                          <a:solidFill>
                            <a:srgbClr val="000000"/>
                          </a:solidFill>
                          <a:effectLst/>
                          <a:highlight>
                            <a:srgbClr val="F4B084"/>
                          </a:highlight>
                          <a:latin typeface="Calibri" panose="020F0502020204030204" pitchFamily="34" charset="0"/>
                        </a:rPr>
                        <a:t>Quentin Tarantino</a:t>
                      </a:r>
                    </a:p>
                  </a:txBody>
                  <a:tcPr marL="9525" marR="9525" marT="9525" marB="0" anchor="b">
                    <a:lnL>
                      <a:noFill/>
                    </a:lnL>
                    <a:lnR>
                      <a:noFill/>
                    </a:lnR>
                    <a:lnT>
                      <a:noFill/>
                    </a:lnT>
                    <a:lnB>
                      <a:noFill/>
                    </a:lnB>
                    <a:solidFill>
                      <a:srgbClr val="F4B084"/>
                    </a:solidFill>
                  </a:tcPr>
                </a:tc>
                <a:tc>
                  <a:txBody>
                    <a:bodyPr/>
                    <a:lstStyle/>
                    <a:p>
                      <a:pPr algn="r" fontAlgn="b"/>
                      <a:r>
                        <a:rPr lang="en-IN" sz="1600" b="0" i="0" u="none" strike="noStrike">
                          <a:solidFill>
                            <a:srgbClr val="9C5700"/>
                          </a:solidFill>
                          <a:effectLst/>
                          <a:highlight>
                            <a:srgbClr val="FFEB9C"/>
                          </a:highlight>
                          <a:latin typeface="Calibri" panose="020F0502020204030204" pitchFamily="34" charset="0"/>
                        </a:rPr>
                        <a:t>8.65</a:t>
                      </a:r>
                    </a:p>
                  </a:txBody>
                  <a:tcPr marL="9525" marR="9525" marT="9525" marB="0" anchor="b">
                    <a:lnL>
                      <a:noFill/>
                    </a:lnL>
                    <a:lnR>
                      <a:noFill/>
                    </a:lnR>
                    <a:lnT>
                      <a:noFill/>
                    </a:lnT>
                    <a:lnB>
                      <a:noFill/>
                    </a:lnB>
                    <a:solidFill>
                      <a:srgbClr val="FFEB9C"/>
                    </a:solidFill>
                  </a:tcPr>
                </a:tc>
                <a:extLst>
                  <a:ext uri="{0D108BD9-81ED-4DB2-BD59-A6C34878D82A}">
                    <a16:rowId xmlns:a16="http://schemas.microsoft.com/office/drawing/2014/main" val="3515725955"/>
                  </a:ext>
                </a:extLst>
              </a:tr>
              <a:tr h="295520">
                <a:tc>
                  <a:txBody>
                    <a:bodyPr/>
                    <a:lstStyle/>
                    <a:p>
                      <a:pPr algn="l" fontAlgn="b"/>
                      <a:r>
                        <a:rPr lang="en-IN" sz="1600" b="0" i="0" u="none" strike="noStrike">
                          <a:solidFill>
                            <a:srgbClr val="000000"/>
                          </a:solidFill>
                          <a:effectLst/>
                          <a:highlight>
                            <a:srgbClr val="F4B084"/>
                          </a:highlight>
                          <a:latin typeface="Calibri" panose="020F0502020204030204" pitchFamily="34" charset="0"/>
                        </a:rPr>
                        <a:t>Sadyk Sher-Niyaz</a:t>
                      </a:r>
                    </a:p>
                  </a:txBody>
                  <a:tcPr marL="9525" marR="9525" marT="9525" marB="0" anchor="b">
                    <a:lnL>
                      <a:noFill/>
                    </a:lnL>
                    <a:lnR>
                      <a:noFill/>
                    </a:lnR>
                    <a:lnT>
                      <a:noFill/>
                    </a:lnT>
                    <a:lnB>
                      <a:noFill/>
                    </a:lnB>
                    <a:solidFill>
                      <a:srgbClr val="F4B084"/>
                    </a:solidFill>
                  </a:tcPr>
                </a:tc>
                <a:tc>
                  <a:txBody>
                    <a:bodyPr/>
                    <a:lstStyle/>
                    <a:p>
                      <a:pPr algn="r" fontAlgn="b"/>
                      <a:r>
                        <a:rPr lang="en-IN" sz="1600" b="0" i="0" u="none" strike="noStrike">
                          <a:solidFill>
                            <a:srgbClr val="9C5700"/>
                          </a:solidFill>
                          <a:effectLst/>
                          <a:highlight>
                            <a:srgbClr val="FFEB9C"/>
                          </a:highlight>
                          <a:latin typeface="Calibri" panose="020F0502020204030204" pitchFamily="34" charset="0"/>
                        </a:rPr>
                        <a:t>8.70</a:t>
                      </a:r>
                    </a:p>
                  </a:txBody>
                  <a:tcPr marL="9525" marR="9525" marT="9525" marB="0" anchor="b">
                    <a:lnL>
                      <a:noFill/>
                    </a:lnL>
                    <a:lnR>
                      <a:noFill/>
                    </a:lnR>
                    <a:lnT>
                      <a:noFill/>
                    </a:lnT>
                    <a:lnB>
                      <a:noFill/>
                    </a:lnB>
                    <a:solidFill>
                      <a:srgbClr val="FFEB9C"/>
                    </a:solidFill>
                  </a:tcPr>
                </a:tc>
                <a:extLst>
                  <a:ext uri="{0D108BD9-81ED-4DB2-BD59-A6C34878D82A}">
                    <a16:rowId xmlns:a16="http://schemas.microsoft.com/office/drawing/2014/main" val="1136546771"/>
                  </a:ext>
                </a:extLst>
              </a:tr>
              <a:tr h="295520">
                <a:tc>
                  <a:txBody>
                    <a:bodyPr/>
                    <a:lstStyle/>
                    <a:p>
                      <a:pPr algn="l" fontAlgn="b"/>
                      <a:r>
                        <a:rPr lang="en-IN" sz="1600" b="0" i="0" u="none" strike="noStrike">
                          <a:solidFill>
                            <a:srgbClr val="000000"/>
                          </a:solidFill>
                          <a:effectLst/>
                          <a:highlight>
                            <a:srgbClr val="F4B084"/>
                          </a:highlight>
                          <a:latin typeface="Calibri" panose="020F0502020204030204" pitchFamily="34" charset="0"/>
                        </a:rPr>
                        <a:t>Sergio Leone</a:t>
                      </a:r>
                    </a:p>
                  </a:txBody>
                  <a:tcPr marL="9525" marR="9525" marT="9525" marB="0" anchor="b">
                    <a:lnL>
                      <a:noFill/>
                    </a:lnL>
                    <a:lnR>
                      <a:noFill/>
                    </a:lnR>
                    <a:lnT>
                      <a:noFill/>
                    </a:lnT>
                    <a:lnB>
                      <a:noFill/>
                    </a:lnB>
                    <a:solidFill>
                      <a:srgbClr val="F4B084"/>
                    </a:solidFill>
                  </a:tcPr>
                </a:tc>
                <a:tc>
                  <a:txBody>
                    <a:bodyPr/>
                    <a:lstStyle/>
                    <a:p>
                      <a:pPr algn="r" fontAlgn="b"/>
                      <a:r>
                        <a:rPr lang="en-IN" sz="1600" b="0" i="0" u="none" strike="noStrike">
                          <a:solidFill>
                            <a:srgbClr val="9C5700"/>
                          </a:solidFill>
                          <a:effectLst/>
                          <a:highlight>
                            <a:srgbClr val="FFEB9C"/>
                          </a:highlight>
                          <a:latin typeface="Calibri" panose="020F0502020204030204" pitchFamily="34" charset="0"/>
                        </a:rPr>
                        <a:t>8.63</a:t>
                      </a:r>
                    </a:p>
                  </a:txBody>
                  <a:tcPr marL="9525" marR="9525" marT="9525" marB="0" anchor="b">
                    <a:lnL>
                      <a:noFill/>
                    </a:lnL>
                    <a:lnR>
                      <a:noFill/>
                    </a:lnR>
                    <a:lnT>
                      <a:noFill/>
                    </a:lnT>
                    <a:lnB>
                      <a:noFill/>
                    </a:lnB>
                    <a:solidFill>
                      <a:srgbClr val="FFEB9C"/>
                    </a:solidFill>
                  </a:tcPr>
                </a:tc>
                <a:extLst>
                  <a:ext uri="{0D108BD9-81ED-4DB2-BD59-A6C34878D82A}">
                    <a16:rowId xmlns:a16="http://schemas.microsoft.com/office/drawing/2014/main" val="1160940294"/>
                  </a:ext>
                </a:extLst>
              </a:tr>
              <a:tr h="295520">
                <a:tc>
                  <a:txBody>
                    <a:bodyPr/>
                    <a:lstStyle/>
                    <a:p>
                      <a:pPr algn="l" fontAlgn="b"/>
                      <a:r>
                        <a:rPr lang="en-IN" sz="1600" b="0" i="0" u="none" strike="noStrike">
                          <a:solidFill>
                            <a:srgbClr val="000000"/>
                          </a:solidFill>
                          <a:effectLst/>
                          <a:highlight>
                            <a:srgbClr val="F4B084"/>
                          </a:highlight>
                          <a:latin typeface="Calibri" panose="020F0502020204030204" pitchFamily="34" charset="0"/>
                        </a:rPr>
                        <a:t>Sidney Lumet</a:t>
                      </a:r>
                    </a:p>
                  </a:txBody>
                  <a:tcPr marL="9525" marR="9525" marT="9525" marB="0" anchor="b">
                    <a:lnL>
                      <a:noFill/>
                    </a:lnL>
                    <a:lnR>
                      <a:noFill/>
                    </a:lnR>
                    <a:lnT>
                      <a:noFill/>
                    </a:lnT>
                    <a:lnB>
                      <a:noFill/>
                    </a:lnB>
                    <a:solidFill>
                      <a:srgbClr val="F4B084"/>
                    </a:solidFill>
                  </a:tcPr>
                </a:tc>
                <a:tc>
                  <a:txBody>
                    <a:bodyPr/>
                    <a:lstStyle/>
                    <a:p>
                      <a:pPr algn="r" fontAlgn="b"/>
                      <a:r>
                        <a:rPr lang="en-IN" sz="1600" b="0" i="0" u="none" strike="noStrike">
                          <a:solidFill>
                            <a:srgbClr val="9C5700"/>
                          </a:solidFill>
                          <a:effectLst/>
                          <a:highlight>
                            <a:srgbClr val="FFEB9C"/>
                          </a:highlight>
                          <a:latin typeface="Calibri" panose="020F0502020204030204" pitchFamily="34" charset="0"/>
                        </a:rPr>
                        <a:t>8.90</a:t>
                      </a:r>
                    </a:p>
                  </a:txBody>
                  <a:tcPr marL="9525" marR="9525" marT="9525" marB="0" anchor="b">
                    <a:lnL>
                      <a:noFill/>
                    </a:lnL>
                    <a:lnR>
                      <a:noFill/>
                    </a:lnR>
                    <a:lnT>
                      <a:noFill/>
                    </a:lnT>
                    <a:lnB>
                      <a:noFill/>
                    </a:lnB>
                    <a:solidFill>
                      <a:srgbClr val="FFEB9C"/>
                    </a:solidFill>
                  </a:tcPr>
                </a:tc>
                <a:extLst>
                  <a:ext uri="{0D108BD9-81ED-4DB2-BD59-A6C34878D82A}">
                    <a16:rowId xmlns:a16="http://schemas.microsoft.com/office/drawing/2014/main" val="3374330942"/>
                  </a:ext>
                </a:extLst>
              </a:tr>
              <a:tr h="295520">
                <a:tc>
                  <a:txBody>
                    <a:bodyPr/>
                    <a:lstStyle/>
                    <a:p>
                      <a:pPr algn="l" fontAlgn="b"/>
                      <a:r>
                        <a:rPr lang="en-IN" sz="1600" b="0" i="0" u="none" strike="noStrike">
                          <a:solidFill>
                            <a:srgbClr val="000000"/>
                          </a:solidFill>
                          <a:effectLst/>
                          <a:highlight>
                            <a:srgbClr val="F4B084"/>
                          </a:highlight>
                          <a:latin typeface="Calibri" panose="020F0502020204030204" pitchFamily="34" charset="0"/>
                        </a:rPr>
                        <a:t>Steven Spielberg</a:t>
                      </a:r>
                    </a:p>
                  </a:txBody>
                  <a:tcPr marL="9525" marR="9525" marT="9525" marB="0" anchor="b">
                    <a:lnL>
                      <a:noFill/>
                    </a:lnL>
                    <a:lnR>
                      <a:noFill/>
                    </a:lnR>
                    <a:lnT>
                      <a:noFill/>
                    </a:lnT>
                    <a:lnB>
                      <a:noFill/>
                    </a:lnB>
                    <a:solidFill>
                      <a:srgbClr val="F4B084"/>
                    </a:solidFill>
                  </a:tcPr>
                </a:tc>
                <a:tc>
                  <a:txBody>
                    <a:bodyPr/>
                    <a:lstStyle/>
                    <a:p>
                      <a:pPr algn="r" fontAlgn="b"/>
                      <a:r>
                        <a:rPr lang="en-IN" sz="1600" b="0" i="0" u="none" strike="noStrike" dirty="0">
                          <a:solidFill>
                            <a:srgbClr val="9C5700"/>
                          </a:solidFill>
                          <a:effectLst/>
                          <a:highlight>
                            <a:srgbClr val="FFEB9C"/>
                          </a:highlight>
                          <a:latin typeface="Calibri" panose="020F0502020204030204" pitchFamily="34" charset="0"/>
                        </a:rPr>
                        <a:t>8.90</a:t>
                      </a:r>
                    </a:p>
                  </a:txBody>
                  <a:tcPr marL="9525" marR="9525" marT="9525" marB="0" anchor="b">
                    <a:lnL>
                      <a:noFill/>
                    </a:lnL>
                    <a:lnR>
                      <a:noFill/>
                    </a:lnR>
                    <a:lnT>
                      <a:noFill/>
                    </a:lnT>
                    <a:lnB>
                      <a:noFill/>
                    </a:lnB>
                    <a:solidFill>
                      <a:srgbClr val="FFEB9C"/>
                    </a:solidFill>
                  </a:tcPr>
                </a:tc>
                <a:extLst>
                  <a:ext uri="{0D108BD9-81ED-4DB2-BD59-A6C34878D82A}">
                    <a16:rowId xmlns:a16="http://schemas.microsoft.com/office/drawing/2014/main" val="1985596521"/>
                  </a:ext>
                </a:extLst>
              </a:tr>
            </a:tbl>
          </a:graphicData>
        </a:graphic>
      </p:graphicFrame>
      <p:sp>
        <p:nvSpPr>
          <p:cNvPr id="3" name="TextBox 2">
            <a:extLst>
              <a:ext uri="{FF2B5EF4-FFF2-40B4-BE49-F238E27FC236}">
                <a16:creationId xmlns:a16="http://schemas.microsoft.com/office/drawing/2014/main" id="{80834F70-9B82-8BBA-A2D4-686B4746C52B}"/>
              </a:ext>
            </a:extLst>
          </p:cNvPr>
          <p:cNvSpPr txBox="1"/>
          <p:nvPr/>
        </p:nvSpPr>
        <p:spPr>
          <a:xfrm>
            <a:off x="119921" y="164892"/>
            <a:ext cx="4557010" cy="1938992"/>
          </a:xfrm>
          <a:prstGeom prst="rect">
            <a:avLst/>
          </a:prstGeom>
          <a:noFill/>
        </p:spPr>
        <p:txBody>
          <a:bodyPr wrap="square" rtlCol="0">
            <a:spAutoFit/>
          </a:bodyPr>
          <a:lstStyle/>
          <a:p>
            <a:r>
              <a:rPr lang="en-IN" sz="6000" b="1" i="1" u="sng" dirty="0">
                <a:solidFill>
                  <a:srgbClr val="FF0000"/>
                </a:solidFill>
              </a:rPr>
              <a:t>Director analysis</a:t>
            </a:r>
          </a:p>
        </p:txBody>
      </p:sp>
      <p:sp>
        <p:nvSpPr>
          <p:cNvPr id="4" name="TextBox 3">
            <a:extLst>
              <a:ext uri="{FF2B5EF4-FFF2-40B4-BE49-F238E27FC236}">
                <a16:creationId xmlns:a16="http://schemas.microsoft.com/office/drawing/2014/main" id="{DC9185F1-0F51-9EAF-9F92-A32CD63EA381}"/>
              </a:ext>
            </a:extLst>
          </p:cNvPr>
          <p:cNvSpPr txBox="1"/>
          <p:nvPr/>
        </p:nvSpPr>
        <p:spPr>
          <a:xfrm>
            <a:off x="119921" y="2278505"/>
            <a:ext cx="4557010" cy="4154984"/>
          </a:xfrm>
          <a:prstGeom prst="rect">
            <a:avLst/>
          </a:prstGeom>
          <a:noFill/>
        </p:spPr>
        <p:txBody>
          <a:bodyPr wrap="square" rtlCol="0">
            <a:spAutoFit/>
          </a:bodyPr>
          <a:lstStyle/>
          <a:p>
            <a:r>
              <a:rPr lang="en-IN" sz="2400" dirty="0">
                <a:solidFill>
                  <a:schemeClr val="accent2">
                    <a:lumMod val="60000"/>
                    <a:lumOff val="40000"/>
                  </a:schemeClr>
                </a:solidFill>
              </a:rPr>
              <a:t>Like  above all the case we use average rating for the director and with this we use percentile function in excel to get the top 20 director who did well according to the imdb rating.</a:t>
            </a:r>
          </a:p>
          <a:p>
            <a:endParaRPr lang="en-IN" sz="2400" dirty="0">
              <a:solidFill>
                <a:schemeClr val="accent2">
                  <a:lumMod val="60000"/>
                  <a:lumOff val="40000"/>
                </a:schemeClr>
              </a:solidFill>
            </a:endParaRPr>
          </a:p>
          <a:p>
            <a:r>
              <a:rPr lang="en-IN" sz="2400" dirty="0">
                <a:solidFill>
                  <a:schemeClr val="accent2">
                    <a:lumMod val="60000"/>
                    <a:lumOff val="40000"/>
                  </a:schemeClr>
                </a:solidFill>
              </a:rPr>
              <a:t>The name and the rating have been pasted by side of the slide and can be of help in making good and successful movie.</a:t>
            </a:r>
          </a:p>
        </p:txBody>
      </p:sp>
    </p:spTree>
    <p:extLst>
      <p:ext uri="{BB962C8B-B14F-4D97-AF65-F5344CB8AC3E}">
        <p14:creationId xmlns:p14="http://schemas.microsoft.com/office/powerpoint/2010/main" val="20063357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FAB8FAC-0CB7-AFAF-A0CB-1B3EE892DA1D}"/>
              </a:ext>
            </a:extLst>
          </p:cNvPr>
          <p:cNvSpPr txBox="1"/>
          <p:nvPr/>
        </p:nvSpPr>
        <p:spPr>
          <a:xfrm>
            <a:off x="104931" y="149902"/>
            <a:ext cx="4572000" cy="2123658"/>
          </a:xfrm>
          <a:prstGeom prst="rect">
            <a:avLst/>
          </a:prstGeom>
          <a:noFill/>
        </p:spPr>
        <p:txBody>
          <a:bodyPr wrap="square" rtlCol="0">
            <a:spAutoFit/>
          </a:bodyPr>
          <a:lstStyle/>
          <a:p>
            <a:r>
              <a:rPr lang="en-IN" sz="6600" b="1" i="1" u="sng" dirty="0">
                <a:solidFill>
                  <a:srgbClr val="FF0000"/>
                </a:solidFill>
              </a:rPr>
              <a:t>Budget analysis</a:t>
            </a:r>
          </a:p>
        </p:txBody>
      </p:sp>
      <p:sp>
        <p:nvSpPr>
          <p:cNvPr id="5" name="TextBox 4">
            <a:extLst>
              <a:ext uri="{FF2B5EF4-FFF2-40B4-BE49-F238E27FC236}">
                <a16:creationId xmlns:a16="http://schemas.microsoft.com/office/drawing/2014/main" id="{DBABA6C5-CDA4-380A-DF41-96DB7631854E}"/>
              </a:ext>
            </a:extLst>
          </p:cNvPr>
          <p:cNvSpPr txBox="1"/>
          <p:nvPr/>
        </p:nvSpPr>
        <p:spPr>
          <a:xfrm>
            <a:off x="236483" y="2273560"/>
            <a:ext cx="4162096" cy="3785652"/>
          </a:xfrm>
          <a:prstGeom prst="rect">
            <a:avLst/>
          </a:prstGeom>
          <a:noFill/>
        </p:spPr>
        <p:txBody>
          <a:bodyPr wrap="square" rtlCol="0">
            <a:spAutoFit/>
          </a:bodyPr>
          <a:lstStyle/>
          <a:p>
            <a:r>
              <a:rPr lang="en-IN" sz="2000" dirty="0">
                <a:solidFill>
                  <a:schemeClr val="accent2">
                    <a:lumMod val="60000"/>
                    <a:lumOff val="40000"/>
                  </a:schemeClr>
                </a:solidFill>
              </a:rPr>
              <a:t>Here we have to find the highest profitable films. </a:t>
            </a:r>
          </a:p>
          <a:p>
            <a:endParaRPr lang="en-IN" sz="2000" dirty="0">
              <a:solidFill>
                <a:schemeClr val="accent2">
                  <a:lumMod val="60000"/>
                  <a:lumOff val="40000"/>
                </a:schemeClr>
              </a:solidFill>
            </a:endParaRPr>
          </a:p>
          <a:p>
            <a:r>
              <a:rPr lang="en-IN" sz="2000" dirty="0">
                <a:solidFill>
                  <a:schemeClr val="accent2">
                    <a:lumMod val="60000"/>
                    <a:lumOff val="40000"/>
                  </a:schemeClr>
                </a:solidFill>
              </a:rPr>
              <a:t>The most profitable film we have is name as The karate KidÂ </a:t>
            </a:r>
          </a:p>
          <a:p>
            <a:endParaRPr lang="en-IN" sz="2000" dirty="0">
              <a:solidFill>
                <a:schemeClr val="accent2">
                  <a:lumMod val="60000"/>
                  <a:lumOff val="40000"/>
                </a:schemeClr>
              </a:solidFill>
            </a:endParaRPr>
          </a:p>
          <a:p>
            <a:r>
              <a:rPr lang="en-IN" sz="2000" dirty="0">
                <a:solidFill>
                  <a:schemeClr val="accent2">
                    <a:lumMod val="60000"/>
                    <a:lumOff val="40000"/>
                  </a:schemeClr>
                </a:solidFill>
              </a:rPr>
              <a:t>Here  we have also pasted the top 10 most profitable movie.</a:t>
            </a:r>
          </a:p>
          <a:p>
            <a:endParaRPr lang="en-IN" sz="2000" dirty="0">
              <a:solidFill>
                <a:schemeClr val="accent2">
                  <a:lumMod val="60000"/>
                  <a:lumOff val="40000"/>
                </a:schemeClr>
              </a:solidFill>
            </a:endParaRPr>
          </a:p>
          <a:p>
            <a:r>
              <a:rPr lang="en-IN" sz="2000" dirty="0">
                <a:solidFill>
                  <a:schemeClr val="accent2">
                    <a:lumMod val="60000"/>
                    <a:lumOff val="40000"/>
                  </a:schemeClr>
                </a:solidFill>
              </a:rPr>
              <a:t>The correl coefficient between gross earning and budget is </a:t>
            </a:r>
            <a:r>
              <a:rPr lang="en-IN" sz="2000" dirty="0">
                <a:solidFill>
                  <a:schemeClr val="accent2">
                    <a:lumMod val="60000"/>
                    <a:lumOff val="40000"/>
                  </a:schemeClr>
                </a:solidFill>
                <a:latin typeface="Aptos" panose="020B0004020202020204" pitchFamily="34" charset="0"/>
              </a:rPr>
              <a:t>0.3139806.</a:t>
            </a:r>
          </a:p>
          <a:p>
            <a:endParaRPr lang="en-IN" sz="2000" dirty="0">
              <a:solidFill>
                <a:schemeClr val="accent2">
                  <a:lumMod val="60000"/>
                  <a:lumOff val="40000"/>
                </a:schemeClr>
              </a:solidFill>
            </a:endParaRPr>
          </a:p>
        </p:txBody>
      </p:sp>
      <p:graphicFrame>
        <p:nvGraphicFramePr>
          <p:cNvPr id="6" name="Table 5">
            <a:extLst>
              <a:ext uri="{FF2B5EF4-FFF2-40B4-BE49-F238E27FC236}">
                <a16:creationId xmlns:a16="http://schemas.microsoft.com/office/drawing/2014/main" id="{545FAA8F-51F0-8F07-8FFF-B857EC840109}"/>
              </a:ext>
            </a:extLst>
          </p:cNvPr>
          <p:cNvGraphicFramePr>
            <a:graphicFrameLocks noGrp="1"/>
          </p:cNvGraphicFramePr>
          <p:nvPr>
            <p:extLst>
              <p:ext uri="{D42A27DB-BD31-4B8C-83A1-F6EECF244321}">
                <p14:modId xmlns:p14="http://schemas.microsoft.com/office/powerpoint/2010/main" val="2376199149"/>
              </p:ext>
            </p:extLst>
          </p:nvPr>
        </p:nvGraphicFramePr>
        <p:xfrm>
          <a:off x="4398580" y="149902"/>
          <a:ext cx="7688490" cy="6385308"/>
        </p:xfrm>
        <a:graphic>
          <a:graphicData uri="http://schemas.openxmlformats.org/drawingml/2006/table">
            <a:tbl>
              <a:tblPr/>
              <a:tblGrid>
                <a:gridCol w="3883822">
                  <a:extLst>
                    <a:ext uri="{9D8B030D-6E8A-4147-A177-3AD203B41FA5}">
                      <a16:colId xmlns:a16="http://schemas.microsoft.com/office/drawing/2014/main" val="498389160"/>
                    </a:ext>
                  </a:extLst>
                </a:gridCol>
                <a:gridCol w="1688620">
                  <a:extLst>
                    <a:ext uri="{9D8B030D-6E8A-4147-A177-3AD203B41FA5}">
                      <a16:colId xmlns:a16="http://schemas.microsoft.com/office/drawing/2014/main" val="19463838"/>
                    </a:ext>
                  </a:extLst>
                </a:gridCol>
                <a:gridCol w="997340">
                  <a:extLst>
                    <a:ext uri="{9D8B030D-6E8A-4147-A177-3AD203B41FA5}">
                      <a16:colId xmlns:a16="http://schemas.microsoft.com/office/drawing/2014/main" val="679319923"/>
                    </a:ext>
                  </a:extLst>
                </a:gridCol>
                <a:gridCol w="1118708">
                  <a:extLst>
                    <a:ext uri="{9D8B030D-6E8A-4147-A177-3AD203B41FA5}">
                      <a16:colId xmlns:a16="http://schemas.microsoft.com/office/drawing/2014/main" val="1837628058"/>
                    </a:ext>
                  </a:extLst>
                </a:gridCol>
              </a:tblGrid>
              <a:tr h="532109">
                <a:tc>
                  <a:txBody>
                    <a:bodyPr/>
                    <a:lstStyle/>
                    <a:p>
                      <a:pPr algn="l" fontAlgn="b"/>
                      <a:r>
                        <a:rPr lang="en-US" sz="1800" b="0" i="0" u="none" strike="noStrike">
                          <a:solidFill>
                            <a:srgbClr val="000000"/>
                          </a:solidFill>
                          <a:effectLst/>
                          <a:highlight>
                            <a:srgbClr val="8EA9DB"/>
                          </a:highlight>
                          <a:latin typeface="Calibri" panose="020F0502020204030204" pitchFamily="34" charset="0"/>
                        </a:rPr>
                        <a:t>top ten most profitable films</a:t>
                      </a:r>
                    </a:p>
                  </a:txBody>
                  <a:tcPr marL="9525" marR="9525" marT="9525" marB="0" anchor="b">
                    <a:lnL>
                      <a:noFill/>
                    </a:lnL>
                    <a:lnR>
                      <a:noFill/>
                    </a:lnR>
                    <a:lnT>
                      <a:noFill/>
                    </a:lnT>
                    <a:lnB>
                      <a:noFill/>
                    </a:lnB>
                    <a:solidFill>
                      <a:srgbClr val="8EA9DB"/>
                    </a:solidFill>
                  </a:tcPr>
                </a:tc>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noFill/>
                  </a:tcPr>
                </a:tc>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noFill/>
                  </a:tcPr>
                </a:tc>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833011552"/>
                  </a:ext>
                </a:extLst>
              </a:tr>
              <a:tr h="532109">
                <a:tc>
                  <a:txBody>
                    <a:bodyPr/>
                    <a:lstStyle/>
                    <a:p>
                      <a:pPr algn="l" fontAlgn="b"/>
                      <a:r>
                        <a:rPr lang="en-IN" sz="1800" b="0" i="0" u="none" strike="noStrike">
                          <a:solidFill>
                            <a:srgbClr val="000000"/>
                          </a:solidFill>
                          <a:effectLst/>
                          <a:highlight>
                            <a:srgbClr val="F4B084"/>
                          </a:highlight>
                          <a:latin typeface="Calibri" panose="020F0502020204030204" pitchFamily="34" charset="0"/>
                        </a:rPr>
                        <a:t>movie title</a:t>
                      </a:r>
                    </a:p>
                  </a:txBody>
                  <a:tcPr marL="9525" marR="9525" marT="9525" marB="0" anchor="b">
                    <a:lnL>
                      <a:noFill/>
                    </a:lnL>
                    <a:lnR>
                      <a:noFill/>
                    </a:lnR>
                    <a:lnT>
                      <a:noFill/>
                    </a:lnT>
                    <a:lnB>
                      <a:noFill/>
                    </a:lnB>
                    <a:solidFill>
                      <a:srgbClr val="F4B084"/>
                    </a:solidFill>
                  </a:tcPr>
                </a:tc>
                <a:tc>
                  <a:txBody>
                    <a:bodyPr/>
                    <a:lstStyle/>
                    <a:p>
                      <a:pPr algn="l" fontAlgn="b"/>
                      <a:r>
                        <a:rPr lang="en-IN" sz="1800" b="0" i="0" u="none" strike="noStrike">
                          <a:solidFill>
                            <a:srgbClr val="000000"/>
                          </a:solidFill>
                          <a:effectLst/>
                          <a:highlight>
                            <a:srgbClr val="F4B084"/>
                          </a:highlight>
                          <a:latin typeface="Calibri" panose="020F0502020204030204" pitchFamily="34" charset="0"/>
                        </a:rPr>
                        <a:t>gross earning</a:t>
                      </a:r>
                    </a:p>
                  </a:txBody>
                  <a:tcPr marL="9525" marR="9525" marT="9525" marB="0" anchor="b">
                    <a:lnL>
                      <a:noFill/>
                    </a:lnL>
                    <a:lnR>
                      <a:noFill/>
                    </a:lnR>
                    <a:lnT>
                      <a:noFill/>
                    </a:lnT>
                    <a:lnB>
                      <a:noFill/>
                    </a:lnB>
                    <a:solidFill>
                      <a:srgbClr val="F4B084"/>
                    </a:solidFill>
                  </a:tcPr>
                </a:tc>
                <a:tc>
                  <a:txBody>
                    <a:bodyPr/>
                    <a:lstStyle/>
                    <a:p>
                      <a:pPr algn="l" fontAlgn="b"/>
                      <a:r>
                        <a:rPr lang="en-IN" sz="1800" b="0" i="0" u="none" strike="noStrike">
                          <a:solidFill>
                            <a:srgbClr val="000000"/>
                          </a:solidFill>
                          <a:effectLst/>
                          <a:highlight>
                            <a:srgbClr val="F4B084"/>
                          </a:highlight>
                          <a:latin typeface="Calibri" panose="020F0502020204030204" pitchFamily="34" charset="0"/>
                        </a:rPr>
                        <a:t>budget</a:t>
                      </a:r>
                    </a:p>
                  </a:txBody>
                  <a:tcPr marL="9525" marR="9525" marT="9525" marB="0" anchor="b">
                    <a:lnL>
                      <a:noFill/>
                    </a:lnL>
                    <a:lnR>
                      <a:noFill/>
                    </a:lnR>
                    <a:lnT>
                      <a:noFill/>
                    </a:lnT>
                    <a:lnB>
                      <a:noFill/>
                    </a:lnB>
                    <a:solidFill>
                      <a:srgbClr val="F4B084"/>
                    </a:solidFill>
                  </a:tcPr>
                </a:tc>
                <a:tc>
                  <a:txBody>
                    <a:bodyPr/>
                    <a:lstStyle/>
                    <a:p>
                      <a:pPr algn="l" fontAlgn="b"/>
                      <a:r>
                        <a:rPr lang="en-IN" sz="1800" b="0" i="0" u="none" strike="noStrike">
                          <a:solidFill>
                            <a:srgbClr val="000000"/>
                          </a:solidFill>
                          <a:effectLst/>
                          <a:highlight>
                            <a:srgbClr val="F4B084"/>
                          </a:highlight>
                          <a:latin typeface="Calibri" panose="020F0502020204030204" pitchFamily="34" charset="0"/>
                        </a:rPr>
                        <a:t>profit</a:t>
                      </a:r>
                    </a:p>
                  </a:txBody>
                  <a:tcPr marL="9525" marR="9525" marT="9525" marB="0" anchor="b">
                    <a:lnL>
                      <a:noFill/>
                    </a:lnL>
                    <a:lnR>
                      <a:noFill/>
                    </a:lnR>
                    <a:lnT>
                      <a:noFill/>
                    </a:lnT>
                    <a:lnB>
                      <a:noFill/>
                    </a:lnB>
                    <a:solidFill>
                      <a:srgbClr val="F4B084"/>
                    </a:solidFill>
                  </a:tcPr>
                </a:tc>
                <a:extLst>
                  <a:ext uri="{0D108BD9-81ED-4DB2-BD59-A6C34878D82A}">
                    <a16:rowId xmlns:a16="http://schemas.microsoft.com/office/drawing/2014/main" val="45556502"/>
                  </a:ext>
                </a:extLst>
              </a:tr>
              <a:tr h="532109">
                <a:tc>
                  <a:txBody>
                    <a:bodyPr/>
                    <a:lstStyle/>
                    <a:p>
                      <a:pPr algn="l" fontAlgn="b"/>
                      <a:r>
                        <a:rPr lang="en-US" sz="1800" b="0" i="0" u="none" strike="noStrike" dirty="0">
                          <a:solidFill>
                            <a:srgbClr val="000000"/>
                          </a:solidFill>
                          <a:effectLst/>
                          <a:highlight>
                            <a:srgbClr val="F8CBAD"/>
                          </a:highlight>
                          <a:latin typeface="Calibri" panose="020F0502020204030204" pitchFamily="34" charset="0"/>
                        </a:rPr>
                        <a:t>Butch Cassidy and the Sundance KidÂ </a:t>
                      </a:r>
                    </a:p>
                  </a:txBody>
                  <a:tcPr marL="9525" marR="9525" marT="9525" marB="0" anchor="b">
                    <a:lnL>
                      <a:noFill/>
                    </a:lnL>
                    <a:lnR>
                      <a:noFill/>
                    </a:lnR>
                    <a:lnT>
                      <a:noFill/>
                    </a:lnT>
                    <a:lnB>
                      <a:noFill/>
                    </a:lnB>
                    <a:solidFill>
                      <a:srgbClr val="F8CBAD"/>
                    </a:solidFill>
                  </a:tcPr>
                </a:tc>
                <a:tc>
                  <a:txBody>
                    <a:bodyPr/>
                    <a:lstStyle/>
                    <a:p>
                      <a:pPr algn="r" fontAlgn="b"/>
                      <a:r>
                        <a:rPr lang="en-IN" sz="1800" b="0" i="0" u="none" strike="noStrike">
                          <a:solidFill>
                            <a:srgbClr val="000000"/>
                          </a:solidFill>
                          <a:effectLst/>
                          <a:highlight>
                            <a:srgbClr val="F8CBAD"/>
                          </a:highlight>
                          <a:latin typeface="Calibri" panose="020F0502020204030204" pitchFamily="34" charset="0"/>
                        </a:rPr>
                        <a:t>102308900</a:t>
                      </a:r>
                    </a:p>
                  </a:txBody>
                  <a:tcPr marL="9525" marR="9525" marT="9525" marB="0" anchor="b">
                    <a:lnL>
                      <a:noFill/>
                    </a:lnL>
                    <a:lnR>
                      <a:noFill/>
                    </a:lnR>
                    <a:lnT>
                      <a:noFill/>
                    </a:lnT>
                    <a:lnB>
                      <a:noFill/>
                    </a:lnB>
                    <a:solidFill>
                      <a:srgbClr val="F8CBAD"/>
                    </a:solidFill>
                  </a:tcPr>
                </a:tc>
                <a:tc>
                  <a:txBody>
                    <a:bodyPr/>
                    <a:lstStyle/>
                    <a:p>
                      <a:pPr algn="r" fontAlgn="b"/>
                      <a:r>
                        <a:rPr lang="en-IN" sz="1800" b="0" i="0" u="none" strike="noStrike">
                          <a:solidFill>
                            <a:srgbClr val="000000"/>
                          </a:solidFill>
                          <a:effectLst/>
                          <a:highlight>
                            <a:srgbClr val="F8CBAD"/>
                          </a:highlight>
                          <a:latin typeface="Calibri" panose="020F0502020204030204" pitchFamily="34" charset="0"/>
                        </a:rPr>
                        <a:t>6000000</a:t>
                      </a:r>
                    </a:p>
                  </a:txBody>
                  <a:tcPr marL="9525" marR="9525" marT="9525" marB="0" anchor="b">
                    <a:lnL>
                      <a:noFill/>
                    </a:lnL>
                    <a:lnR>
                      <a:noFill/>
                    </a:lnR>
                    <a:lnT>
                      <a:noFill/>
                    </a:lnT>
                    <a:lnB>
                      <a:noFill/>
                    </a:lnB>
                    <a:solidFill>
                      <a:srgbClr val="F8CBAD"/>
                    </a:solidFill>
                  </a:tcPr>
                </a:tc>
                <a:tc>
                  <a:txBody>
                    <a:bodyPr/>
                    <a:lstStyle/>
                    <a:p>
                      <a:pPr algn="r" fontAlgn="b"/>
                      <a:r>
                        <a:rPr lang="en-IN" sz="1800" b="0" i="0" u="none" strike="noStrike">
                          <a:solidFill>
                            <a:srgbClr val="000000"/>
                          </a:solidFill>
                          <a:effectLst/>
                          <a:highlight>
                            <a:srgbClr val="F8CBAD"/>
                          </a:highlight>
                          <a:latin typeface="Calibri" panose="020F0502020204030204" pitchFamily="34" charset="0"/>
                        </a:rPr>
                        <a:t>96308900</a:t>
                      </a:r>
                    </a:p>
                  </a:txBody>
                  <a:tcPr marL="9525" marR="9525" marT="9525" marB="0" anchor="b">
                    <a:lnL>
                      <a:noFill/>
                    </a:lnL>
                    <a:lnR>
                      <a:noFill/>
                    </a:lnR>
                    <a:lnT>
                      <a:noFill/>
                    </a:lnT>
                    <a:lnB>
                      <a:noFill/>
                    </a:lnB>
                    <a:solidFill>
                      <a:srgbClr val="F8CBAD"/>
                    </a:solidFill>
                  </a:tcPr>
                </a:tc>
                <a:extLst>
                  <a:ext uri="{0D108BD9-81ED-4DB2-BD59-A6C34878D82A}">
                    <a16:rowId xmlns:a16="http://schemas.microsoft.com/office/drawing/2014/main" val="2982453594"/>
                  </a:ext>
                </a:extLst>
              </a:tr>
              <a:tr h="532109">
                <a:tc>
                  <a:txBody>
                    <a:bodyPr/>
                    <a:lstStyle/>
                    <a:p>
                      <a:pPr algn="l" fontAlgn="b"/>
                      <a:r>
                        <a:rPr lang="en-IN" sz="1800" b="0" i="0" u="none" strike="noStrike">
                          <a:solidFill>
                            <a:srgbClr val="000000"/>
                          </a:solidFill>
                          <a:effectLst/>
                          <a:highlight>
                            <a:srgbClr val="F8CBAD"/>
                          </a:highlight>
                          <a:latin typeface="Calibri" panose="020F0502020204030204" pitchFamily="34" charset="0"/>
                        </a:rPr>
                        <a:t>DisturbiaÂ </a:t>
                      </a:r>
                    </a:p>
                  </a:txBody>
                  <a:tcPr marL="9525" marR="9525" marT="9525" marB="0" anchor="b">
                    <a:lnL>
                      <a:noFill/>
                    </a:lnL>
                    <a:lnR>
                      <a:noFill/>
                    </a:lnR>
                    <a:lnT>
                      <a:noFill/>
                    </a:lnT>
                    <a:lnB>
                      <a:noFill/>
                    </a:lnB>
                    <a:solidFill>
                      <a:srgbClr val="F8CBAD"/>
                    </a:solidFill>
                  </a:tcPr>
                </a:tc>
                <a:tc>
                  <a:txBody>
                    <a:bodyPr/>
                    <a:lstStyle/>
                    <a:p>
                      <a:pPr algn="r" fontAlgn="b"/>
                      <a:r>
                        <a:rPr lang="en-IN" sz="1800" b="0" i="0" u="none" strike="noStrike">
                          <a:solidFill>
                            <a:srgbClr val="000000"/>
                          </a:solidFill>
                          <a:effectLst/>
                          <a:highlight>
                            <a:srgbClr val="F8CBAD"/>
                          </a:highlight>
                          <a:latin typeface="Calibri" panose="020F0502020204030204" pitchFamily="34" charset="0"/>
                        </a:rPr>
                        <a:t>160100342</a:t>
                      </a:r>
                    </a:p>
                  </a:txBody>
                  <a:tcPr marL="9525" marR="9525" marT="9525" marB="0" anchor="b">
                    <a:lnL>
                      <a:noFill/>
                    </a:lnL>
                    <a:lnR>
                      <a:noFill/>
                    </a:lnR>
                    <a:lnT>
                      <a:noFill/>
                    </a:lnT>
                    <a:lnB>
                      <a:noFill/>
                    </a:lnB>
                    <a:solidFill>
                      <a:srgbClr val="F8CBAD"/>
                    </a:solidFill>
                  </a:tcPr>
                </a:tc>
                <a:tc>
                  <a:txBody>
                    <a:bodyPr/>
                    <a:lstStyle/>
                    <a:p>
                      <a:pPr algn="r" fontAlgn="b"/>
                      <a:r>
                        <a:rPr lang="en-IN" sz="1800" b="0" i="0" u="none" strike="noStrike">
                          <a:solidFill>
                            <a:srgbClr val="000000"/>
                          </a:solidFill>
                          <a:effectLst/>
                          <a:highlight>
                            <a:srgbClr val="F8CBAD"/>
                          </a:highlight>
                          <a:latin typeface="Calibri" panose="020F0502020204030204" pitchFamily="34" charset="0"/>
                        </a:rPr>
                        <a:t>40000000</a:t>
                      </a:r>
                    </a:p>
                  </a:txBody>
                  <a:tcPr marL="9525" marR="9525" marT="9525" marB="0" anchor="b">
                    <a:lnL>
                      <a:noFill/>
                    </a:lnL>
                    <a:lnR>
                      <a:noFill/>
                    </a:lnR>
                    <a:lnT>
                      <a:noFill/>
                    </a:lnT>
                    <a:lnB>
                      <a:noFill/>
                    </a:lnB>
                    <a:solidFill>
                      <a:srgbClr val="F8CBAD"/>
                    </a:solidFill>
                  </a:tcPr>
                </a:tc>
                <a:tc>
                  <a:txBody>
                    <a:bodyPr/>
                    <a:lstStyle/>
                    <a:p>
                      <a:pPr algn="r" fontAlgn="b"/>
                      <a:r>
                        <a:rPr lang="en-IN" sz="1800" b="0" i="0" u="none" strike="noStrike">
                          <a:solidFill>
                            <a:srgbClr val="000000"/>
                          </a:solidFill>
                          <a:effectLst/>
                          <a:highlight>
                            <a:srgbClr val="F8CBAD"/>
                          </a:highlight>
                          <a:latin typeface="Calibri" panose="020F0502020204030204" pitchFamily="34" charset="0"/>
                        </a:rPr>
                        <a:t>120100342</a:t>
                      </a:r>
                    </a:p>
                  </a:txBody>
                  <a:tcPr marL="9525" marR="9525" marT="9525" marB="0" anchor="b">
                    <a:lnL>
                      <a:noFill/>
                    </a:lnL>
                    <a:lnR>
                      <a:noFill/>
                    </a:lnR>
                    <a:lnT>
                      <a:noFill/>
                    </a:lnT>
                    <a:lnB>
                      <a:noFill/>
                    </a:lnB>
                    <a:solidFill>
                      <a:srgbClr val="F8CBAD"/>
                    </a:solidFill>
                  </a:tcPr>
                </a:tc>
                <a:extLst>
                  <a:ext uri="{0D108BD9-81ED-4DB2-BD59-A6C34878D82A}">
                    <a16:rowId xmlns:a16="http://schemas.microsoft.com/office/drawing/2014/main" val="961214305"/>
                  </a:ext>
                </a:extLst>
              </a:tr>
              <a:tr h="532109">
                <a:tc>
                  <a:txBody>
                    <a:bodyPr/>
                    <a:lstStyle/>
                    <a:p>
                      <a:pPr algn="l" fontAlgn="b"/>
                      <a:r>
                        <a:rPr lang="en-IN" sz="1800" b="0" i="0" u="none" strike="noStrike" dirty="0">
                          <a:solidFill>
                            <a:srgbClr val="000000"/>
                          </a:solidFill>
                          <a:effectLst/>
                          <a:highlight>
                            <a:srgbClr val="F8CBAD"/>
                          </a:highlight>
                          <a:latin typeface="Calibri" panose="020F0502020204030204" pitchFamily="34" charset="0"/>
                        </a:rPr>
                        <a:t>Driving Miss </a:t>
                      </a:r>
                      <a:r>
                        <a:rPr lang="en-IN" sz="1800" b="0" i="0" u="none" strike="noStrike" dirty="0" err="1">
                          <a:solidFill>
                            <a:srgbClr val="000000"/>
                          </a:solidFill>
                          <a:effectLst/>
                          <a:highlight>
                            <a:srgbClr val="F8CBAD"/>
                          </a:highlight>
                          <a:latin typeface="Calibri" panose="020F0502020204030204" pitchFamily="34" charset="0"/>
                        </a:rPr>
                        <a:t>DaisyÂ</a:t>
                      </a:r>
                      <a:r>
                        <a:rPr lang="en-IN" sz="1800" b="0" i="0" u="none" strike="noStrike" dirty="0">
                          <a:solidFill>
                            <a:srgbClr val="000000"/>
                          </a:solidFill>
                          <a:effectLst/>
                          <a:highlight>
                            <a:srgbClr val="F8CBAD"/>
                          </a:highlight>
                          <a:latin typeface="Calibri" panose="020F0502020204030204" pitchFamily="34" charset="0"/>
                        </a:rPr>
                        <a:t> </a:t>
                      </a:r>
                    </a:p>
                  </a:txBody>
                  <a:tcPr marL="9525" marR="9525" marT="9525" marB="0" anchor="b">
                    <a:lnL>
                      <a:noFill/>
                    </a:lnL>
                    <a:lnR>
                      <a:noFill/>
                    </a:lnR>
                    <a:lnT>
                      <a:noFill/>
                    </a:lnT>
                    <a:lnB>
                      <a:noFill/>
                    </a:lnB>
                    <a:solidFill>
                      <a:srgbClr val="F8CBAD"/>
                    </a:solidFill>
                  </a:tcPr>
                </a:tc>
                <a:tc>
                  <a:txBody>
                    <a:bodyPr/>
                    <a:lstStyle/>
                    <a:p>
                      <a:pPr algn="r" fontAlgn="b"/>
                      <a:r>
                        <a:rPr lang="en-IN" sz="1800" b="0" i="0" u="none" strike="noStrike">
                          <a:solidFill>
                            <a:srgbClr val="000000"/>
                          </a:solidFill>
                          <a:effectLst/>
                          <a:highlight>
                            <a:srgbClr val="F8CBAD"/>
                          </a:highlight>
                          <a:latin typeface="Calibri" panose="020F0502020204030204" pitchFamily="34" charset="0"/>
                        </a:rPr>
                        <a:t>106593296</a:t>
                      </a:r>
                    </a:p>
                  </a:txBody>
                  <a:tcPr marL="9525" marR="9525" marT="9525" marB="0" anchor="b">
                    <a:lnL>
                      <a:noFill/>
                    </a:lnL>
                    <a:lnR>
                      <a:noFill/>
                    </a:lnR>
                    <a:lnT>
                      <a:noFill/>
                    </a:lnT>
                    <a:lnB>
                      <a:noFill/>
                    </a:lnB>
                    <a:solidFill>
                      <a:srgbClr val="F8CBAD"/>
                    </a:solidFill>
                  </a:tcPr>
                </a:tc>
                <a:tc>
                  <a:txBody>
                    <a:bodyPr/>
                    <a:lstStyle/>
                    <a:p>
                      <a:pPr algn="r" fontAlgn="b"/>
                      <a:r>
                        <a:rPr lang="en-IN" sz="1800" b="0" i="0" u="none" strike="noStrike">
                          <a:solidFill>
                            <a:srgbClr val="000000"/>
                          </a:solidFill>
                          <a:effectLst/>
                          <a:highlight>
                            <a:srgbClr val="F8CBAD"/>
                          </a:highlight>
                          <a:latin typeface="Calibri" panose="020F0502020204030204" pitchFamily="34" charset="0"/>
                        </a:rPr>
                        <a:t>7500000</a:t>
                      </a:r>
                    </a:p>
                  </a:txBody>
                  <a:tcPr marL="9525" marR="9525" marT="9525" marB="0" anchor="b">
                    <a:lnL>
                      <a:noFill/>
                    </a:lnL>
                    <a:lnR>
                      <a:noFill/>
                    </a:lnR>
                    <a:lnT>
                      <a:noFill/>
                    </a:lnT>
                    <a:lnB>
                      <a:noFill/>
                    </a:lnB>
                    <a:solidFill>
                      <a:srgbClr val="F8CBAD"/>
                    </a:solidFill>
                  </a:tcPr>
                </a:tc>
                <a:tc>
                  <a:txBody>
                    <a:bodyPr/>
                    <a:lstStyle/>
                    <a:p>
                      <a:pPr algn="r" fontAlgn="b"/>
                      <a:r>
                        <a:rPr lang="en-IN" sz="1800" b="0" i="0" u="none" strike="noStrike">
                          <a:solidFill>
                            <a:srgbClr val="000000"/>
                          </a:solidFill>
                          <a:effectLst/>
                          <a:highlight>
                            <a:srgbClr val="F8CBAD"/>
                          </a:highlight>
                          <a:latin typeface="Calibri" panose="020F0502020204030204" pitchFamily="34" charset="0"/>
                        </a:rPr>
                        <a:t>99093296</a:t>
                      </a:r>
                    </a:p>
                  </a:txBody>
                  <a:tcPr marL="9525" marR="9525" marT="9525" marB="0" anchor="b">
                    <a:lnL>
                      <a:noFill/>
                    </a:lnL>
                    <a:lnR>
                      <a:noFill/>
                    </a:lnR>
                    <a:lnT>
                      <a:noFill/>
                    </a:lnT>
                    <a:lnB>
                      <a:noFill/>
                    </a:lnB>
                    <a:solidFill>
                      <a:srgbClr val="F8CBAD"/>
                    </a:solidFill>
                  </a:tcPr>
                </a:tc>
                <a:extLst>
                  <a:ext uri="{0D108BD9-81ED-4DB2-BD59-A6C34878D82A}">
                    <a16:rowId xmlns:a16="http://schemas.microsoft.com/office/drawing/2014/main" val="1976520911"/>
                  </a:ext>
                </a:extLst>
              </a:tr>
              <a:tr h="532109">
                <a:tc>
                  <a:txBody>
                    <a:bodyPr/>
                    <a:lstStyle/>
                    <a:p>
                      <a:pPr algn="l" fontAlgn="b"/>
                      <a:r>
                        <a:rPr lang="en-IN" sz="1800" b="0" i="0" u="none" strike="noStrike">
                          <a:solidFill>
                            <a:srgbClr val="000000"/>
                          </a:solidFill>
                          <a:effectLst/>
                          <a:highlight>
                            <a:srgbClr val="F8CBAD"/>
                          </a:highlight>
                          <a:latin typeface="Calibri" panose="020F0502020204030204" pitchFamily="34" charset="0"/>
                        </a:rPr>
                        <a:t>Paranormal Activity 3Â </a:t>
                      </a:r>
                    </a:p>
                  </a:txBody>
                  <a:tcPr marL="9525" marR="9525" marT="9525" marB="0" anchor="b">
                    <a:lnL>
                      <a:noFill/>
                    </a:lnL>
                    <a:lnR>
                      <a:noFill/>
                    </a:lnR>
                    <a:lnT>
                      <a:noFill/>
                    </a:lnT>
                    <a:lnB>
                      <a:noFill/>
                    </a:lnB>
                    <a:solidFill>
                      <a:srgbClr val="F8CBAD"/>
                    </a:solidFill>
                  </a:tcPr>
                </a:tc>
                <a:tc>
                  <a:txBody>
                    <a:bodyPr/>
                    <a:lstStyle/>
                    <a:p>
                      <a:pPr algn="r" fontAlgn="b"/>
                      <a:r>
                        <a:rPr lang="en-IN" sz="1800" b="0" i="0" u="none" strike="noStrike">
                          <a:solidFill>
                            <a:srgbClr val="000000"/>
                          </a:solidFill>
                          <a:effectLst/>
                          <a:highlight>
                            <a:srgbClr val="F8CBAD"/>
                          </a:highlight>
                          <a:latin typeface="Calibri" panose="020F0502020204030204" pitchFamily="34" charset="0"/>
                        </a:rPr>
                        <a:t>104007828</a:t>
                      </a:r>
                    </a:p>
                  </a:txBody>
                  <a:tcPr marL="9525" marR="9525" marT="9525" marB="0" anchor="b">
                    <a:lnL>
                      <a:noFill/>
                    </a:lnL>
                    <a:lnR>
                      <a:noFill/>
                    </a:lnR>
                    <a:lnT>
                      <a:noFill/>
                    </a:lnT>
                    <a:lnB>
                      <a:noFill/>
                    </a:lnB>
                    <a:solidFill>
                      <a:srgbClr val="F8CBAD"/>
                    </a:solidFill>
                  </a:tcPr>
                </a:tc>
                <a:tc>
                  <a:txBody>
                    <a:bodyPr/>
                    <a:lstStyle/>
                    <a:p>
                      <a:pPr algn="r" fontAlgn="b"/>
                      <a:r>
                        <a:rPr lang="en-IN" sz="1800" b="0" i="0" u="none" strike="noStrike">
                          <a:solidFill>
                            <a:srgbClr val="000000"/>
                          </a:solidFill>
                          <a:effectLst/>
                          <a:highlight>
                            <a:srgbClr val="F8CBAD"/>
                          </a:highlight>
                          <a:latin typeface="Calibri" panose="020F0502020204030204" pitchFamily="34" charset="0"/>
                        </a:rPr>
                        <a:t>5000000</a:t>
                      </a:r>
                    </a:p>
                  </a:txBody>
                  <a:tcPr marL="9525" marR="9525" marT="9525" marB="0" anchor="b">
                    <a:lnL>
                      <a:noFill/>
                    </a:lnL>
                    <a:lnR>
                      <a:noFill/>
                    </a:lnR>
                    <a:lnT>
                      <a:noFill/>
                    </a:lnT>
                    <a:lnB>
                      <a:noFill/>
                    </a:lnB>
                    <a:solidFill>
                      <a:srgbClr val="F8CBAD"/>
                    </a:solidFill>
                  </a:tcPr>
                </a:tc>
                <a:tc>
                  <a:txBody>
                    <a:bodyPr/>
                    <a:lstStyle/>
                    <a:p>
                      <a:pPr algn="r" fontAlgn="b"/>
                      <a:r>
                        <a:rPr lang="en-IN" sz="1800" b="0" i="0" u="none" strike="noStrike" dirty="0">
                          <a:solidFill>
                            <a:srgbClr val="000000"/>
                          </a:solidFill>
                          <a:effectLst/>
                          <a:highlight>
                            <a:srgbClr val="F8CBAD"/>
                          </a:highlight>
                          <a:latin typeface="Calibri" panose="020F0502020204030204" pitchFamily="34" charset="0"/>
                        </a:rPr>
                        <a:t>99007828</a:t>
                      </a:r>
                    </a:p>
                  </a:txBody>
                  <a:tcPr marL="9525" marR="9525" marT="9525" marB="0" anchor="b">
                    <a:lnL>
                      <a:noFill/>
                    </a:lnL>
                    <a:lnR>
                      <a:noFill/>
                    </a:lnR>
                    <a:lnT>
                      <a:noFill/>
                    </a:lnT>
                    <a:lnB>
                      <a:noFill/>
                    </a:lnB>
                    <a:solidFill>
                      <a:srgbClr val="F8CBAD"/>
                    </a:solidFill>
                  </a:tcPr>
                </a:tc>
                <a:extLst>
                  <a:ext uri="{0D108BD9-81ED-4DB2-BD59-A6C34878D82A}">
                    <a16:rowId xmlns:a16="http://schemas.microsoft.com/office/drawing/2014/main" val="609826473"/>
                  </a:ext>
                </a:extLst>
              </a:tr>
              <a:tr h="532109">
                <a:tc>
                  <a:txBody>
                    <a:bodyPr/>
                    <a:lstStyle/>
                    <a:p>
                      <a:pPr algn="l" fontAlgn="b"/>
                      <a:r>
                        <a:rPr lang="en-IN" sz="1800" b="0" i="0" u="none" strike="noStrike">
                          <a:solidFill>
                            <a:srgbClr val="000000"/>
                          </a:solidFill>
                          <a:effectLst/>
                          <a:highlight>
                            <a:srgbClr val="F8CBAD"/>
                          </a:highlight>
                          <a:latin typeface="Calibri" panose="020F0502020204030204" pitchFamily="34" charset="0"/>
                        </a:rPr>
                        <a:t>Paranormal ActivityÂ </a:t>
                      </a:r>
                    </a:p>
                  </a:txBody>
                  <a:tcPr marL="9525" marR="9525" marT="9525" marB="0" anchor="b">
                    <a:lnL>
                      <a:noFill/>
                    </a:lnL>
                    <a:lnR>
                      <a:noFill/>
                    </a:lnR>
                    <a:lnT>
                      <a:noFill/>
                    </a:lnT>
                    <a:lnB>
                      <a:noFill/>
                    </a:lnB>
                    <a:solidFill>
                      <a:srgbClr val="F8CBAD"/>
                    </a:solidFill>
                  </a:tcPr>
                </a:tc>
                <a:tc>
                  <a:txBody>
                    <a:bodyPr/>
                    <a:lstStyle/>
                    <a:p>
                      <a:pPr algn="r" fontAlgn="b"/>
                      <a:r>
                        <a:rPr lang="en-IN" sz="1800" b="0" i="0" u="none" strike="noStrike">
                          <a:solidFill>
                            <a:srgbClr val="000000"/>
                          </a:solidFill>
                          <a:effectLst/>
                          <a:highlight>
                            <a:srgbClr val="F8CBAD"/>
                          </a:highlight>
                          <a:latin typeface="Calibri" panose="020F0502020204030204" pitchFamily="34" charset="0"/>
                        </a:rPr>
                        <a:t>107917283</a:t>
                      </a:r>
                    </a:p>
                  </a:txBody>
                  <a:tcPr marL="9525" marR="9525" marT="9525" marB="0" anchor="b">
                    <a:lnL>
                      <a:noFill/>
                    </a:lnL>
                    <a:lnR>
                      <a:noFill/>
                    </a:lnR>
                    <a:lnT>
                      <a:noFill/>
                    </a:lnT>
                    <a:lnB>
                      <a:noFill/>
                    </a:lnB>
                    <a:solidFill>
                      <a:srgbClr val="F8CBAD"/>
                    </a:solidFill>
                  </a:tcPr>
                </a:tc>
                <a:tc>
                  <a:txBody>
                    <a:bodyPr/>
                    <a:lstStyle/>
                    <a:p>
                      <a:pPr algn="r" fontAlgn="b"/>
                      <a:r>
                        <a:rPr lang="en-IN" sz="1800" b="0" i="0" u="none" strike="noStrike">
                          <a:solidFill>
                            <a:srgbClr val="000000"/>
                          </a:solidFill>
                          <a:effectLst/>
                          <a:highlight>
                            <a:srgbClr val="F8CBAD"/>
                          </a:highlight>
                          <a:latin typeface="Calibri" panose="020F0502020204030204" pitchFamily="34" charset="0"/>
                        </a:rPr>
                        <a:t>15000</a:t>
                      </a:r>
                    </a:p>
                  </a:txBody>
                  <a:tcPr marL="9525" marR="9525" marT="9525" marB="0" anchor="b">
                    <a:lnL>
                      <a:noFill/>
                    </a:lnL>
                    <a:lnR>
                      <a:noFill/>
                    </a:lnR>
                    <a:lnT>
                      <a:noFill/>
                    </a:lnT>
                    <a:lnB>
                      <a:noFill/>
                    </a:lnB>
                    <a:solidFill>
                      <a:srgbClr val="F8CBAD"/>
                    </a:solidFill>
                  </a:tcPr>
                </a:tc>
                <a:tc>
                  <a:txBody>
                    <a:bodyPr/>
                    <a:lstStyle/>
                    <a:p>
                      <a:pPr algn="r" fontAlgn="b"/>
                      <a:r>
                        <a:rPr lang="en-IN" sz="1800" b="0" i="0" u="none" strike="noStrike">
                          <a:solidFill>
                            <a:srgbClr val="000000"/>
                          </a:solidFill>
                          <a:effectLst/>
                          <a:highlight>
                            <a:srgbClr val="F8CBAD"/>
                          </a:highlight>
                          <a:latin typeface="Calibri" panose="020F0502020204030204" pitchFamily="34" charset="0"/>
                        </a:rPr>
                        <a:t>107902283</a:t>
                      </a:r>
                    </a:p>
                  </a:txBody>
                  <a:tcPr marL="9525" marR="9525" marT="9525" marB="0" anchor="b">
                    <a:lnL>
                      <a:noFill/>
                    </a:lnL>
                    <a:lnR>
                      <a:noFill/>
                    </a:lnR>
                    <a:lnT>
                      <a:noFill/>
                    </a:lnT>
                    <a:lnB>
                      <a:noFill/>
                    </a:lnB>
                    <a:solidFill>
                      <a:srgbClr val="F8CBAD"/>
                    </a:solidFill>
                  </a:tcPr>
                </a:tc>
                <a:extLst>
                  <a:ext uri="{0D108BD9-81ED-4DB2-BD59-A6C34878D82A}">
                    <a16:rowId xmlns:a16="http://schemas.microsoft.com/office/drawing/2014/main" val="725336477"/>
                  </a:ext>
                </a:extLst>
              </a:tr>
              <a:tr h="532109">
                <a:tc>
                  <a:txBody>
                    <a:bodyPr/>
                    <a:lstStyle/>
                    <a:p>
                      <a:pPr algn="l" fontAlgn="b"/>
                      <a:r>
                        <a:rPr lang="en-IN" sz="1800" b="0" i="0" u="none" strike="noStrike">
                          <a:solidFill>
                            <a:srgbClr val="000000"/>
                          </a:solidFill>
                          <a:effectLst/>
                          <a:highlight>
                            <a:srgbClr val="F8CBAD"/>
                          </a:highlight>
                          <a:latin typeface="Calibri" panose="020F0502020204030204" pitchFamily="34" charset="0"/>
                        </a:rPr>
                        <a:t>PoltergeistÂ </a:t>
                      </a:r>
                    </a:p>
                  </a:txBody>
                  <a:tcPr marL="9525" marR="9525" marT="9525" marB="0" anchor="b">
                    <a:lnL>
                      <a:noFill/>
                    </a:lnL>
                    <a:lnR>
                      <a:noFill/>
                    </a:lnR>
                    <a:lnT>
                      <a:noFill/>
                    </a:lnT>
                    <a:lnB>
                      <a:noFill/>
                    </a:lnB>
                    <a:solidFill>
                      <a:srgbClr val="F8CBAD"/>
                    </a:solidFill>
                  </a:tcPr>
                </a:tc>
                <a:tc>
                  <a:txBody>
                    <a:bodyPr/>
                    <a:lstStyle/>
                    <a:p>
                      <a:pPr algn="r" fontAlgn="b"/>
                      <a:r>
                        <a:rPr lang="en-IN" sz="1800" b="0" i="0" u="none" strike="noStrike">
                          <a:solidFill>
                            <a:srgbClr val="000000"/>
                          </a:solidFill>
                          <a:effectLst/>
                          <a:highlight>
                            <a:srgbClr val="F8CBAD"/>
                          </a:highlight>
                          <a:latin typeface="Calibri" panose="020F0502020204030204" pitchFamily="34" charset="0"/>
                        </a:rPr>
                        <a:t>153200000</a:t>
                      </a:r>
                    </a:p>
                  </a:txBody>
                  <a:tcPr marL="9525" marR="9525" marT="9525" marB="0" anchor="b">
                    <a:lnL>
                      <a:noFill/>
                    </a:lnL>
                    <a:lnR>
                      <a:noFill/>
                    </a:lnR>
                    <a:lnT>
                      <a:noFill/>
                    </a:lnT>
                    <a:lnB>
                      <a:noFill/>
                    </a:lnB>
                    <a:solidFill>
                      <a:srgbClr val="F8CBAD"/>
                    </a:solidFill>
                  </a:tcPr>
                </a:tc>
                <a:tc>
                  <a:txBody>
                    <a:bodyPr/>
                    <a:lstStyle/>
                    <a:p>
                      <a:pPr algn="r" fontAlgn="b"/>
                      <a:r>
                        <a:rPr lang="en-IN" sz="1800" b="0" i="0" u="none" strike="noStrike">
                          <a:solidFill>
                            <a:srgbClr val="000000"/>
                          </a:solidFill>
                          <a:effectLst/>
                          <a:highlight>
                            <a:srgbClr val="F8CBAD"/>
                          </a:highlight>
                          <a:latin typeface="Calibri" panose="020F0502020204030204" pitchFamily="34" charset="0"/>
                        </a:rPr>
                        <a:t>21400000</a:t>
                      </a:r>
                    </a:p>
                  </a:txBody>
                  <a:tcPr marL="9525" marR="9525" marT="9525" marB="0" anchor="b">
                    <a:lnL>
                      <a:noFill/>
                    </a:lnL>
                    <a:lnR>
                      <a:noFill/>
                    </a:lnR>
                    <a:lnT>
                      <a:noFill/>
                    </a:lnT>
                    <a:lnB>
                      <a:noFill/>
                    </a:lnB>
                    <a:solidFill>
                      <a:srgbClr val="F8CBAD"/>
                    </a:solidFill>
                  </a:tcPr>
                </a:tc>
                <a:tc>
                  <a:txBody>
                    <a:bodyPr/>
                    <a:lstStyle/>
                    <a:p>
                      <a:pPr algn="r" fontAlgn="b"/>
                      <a:r>
                        <a:rPr lang="en-IN" sz="1800" b="0" i="0" u="none" strike="noStrike">
                          <a:solidFill>
                            <a:srgbClr val="000000"/>
                          </a:solidFill>
                          <a:effectLst/>
                          <a:highlight>
                            <a:srgbClr val="F8CBAD"/>
                          </a:highlight>
                          <a:latin typeface="Calibri" panose="020F0502020204030204" pitchFamily="34" charset="0"/>
                        </a:rPr>
                        <a:t>131800000</a:t>
                      </a:r>
                    </a:p>
                  </a:txBody>
                  <a:tcPr marL="9525" marR="9525" marT="9525" marB="0" anchor="b">
                    <a:lnL>
                      <a:noFill/>
                    </a:lnL>
                    <a:lnR>
                      <a:noFill/>
                    </a:lnR>
                    <a:lnT>
                      <a:noFill/>
                    </a:lnT>
                    <a:lnB>
                      <a:noFill/>
                    </a:lnB>
                    <a:solidFill>
                      <a:srgbClr val="F8CBAD"/>
                    </a:solidFill>
                  </a:tcPr>
                </a:tc>
                <a:extLst>
                  <a:ext uri="{0D108BD9-81ED-4DB2-BD59-A6C34878D82A}">
                    <a16:rowId xmlns:a16="http://schemas.microsoft.com/office/drawing/2014/main" val="2204318908"/>
                  </a:ext>
                </a:extLst>
              </a:tr>
              <a:tr h="532109">
                <a:tc>
                  <a:txBody>
                    <a:bodyPr/>
                    <a:lstStyle/>
                    <a:p>
                      <a:pPr algn="l" fontAlgn="b"/>
                      <a:r>
                        <a:rPr lang="en-IN" sz="1800" b="0" i="0" u="none" strike="noStrike">
                          <a:solidFill>
                            <a:srgbClr val="000000"/>
                          </a:solidFill>
                          <a:effectLst/>
                          <a:highlight>
                            <a:srgbClr val="F8CBAD"/>
                          </a:highlight>
                          <a:latin typeface="Calibri" panose="020F0502020204030204" pitchFamily="34" charset="0"/>
                        </a:rPr>
                        <a:t>Porky'sÂ </a:t>
                      </a:r>
                    </a:p>
                  </a:txBody>
                  <a:tcPr marL="9525" marR="9525" marT="9525" marB="0" anchor="b">
                    <a:lnL>
                      <a:noFill/>
                    </a:lnL>
                    <a:lnR>
                      <a:noFill/>
                    </a:lnR>
                    <a:lnT>
                      <a:noFill/>
                    </a:lnT>
                    <a:lnB>
                      <a:noFill/>
                    </a:lnB>
                    <a:solidFill>
                      <a:srgbClr val="F8CBAD"/>
                    </a:solidFill>
                  </a:tcPr>
                </a:tc>
                <a:tc>
                  <a:txBody>
                    <a:bodyPr/>
                    <a:lstStyle/>
                    <a:p>
                      <a:pPr algn="r" fontAlgn="b"/>
                      <a:r>
                        <a:rPr lang="en-IN" sz="1800" b="0" i="0" u="none" strike="noStrike">
                          <a:solidFill>
                            <a:srgbClr val="000000"/>
                          </a:solidFill>
                          <a:effectLst/>
                          <a:highlight>
                            <a:srgbClr val="F8CBAD"/>
                          </a:highlight>
                          <a:latin typeface="Calibri" panose="020F0502020204030204" pitchFamily="34" charset="0"/>
                        </a:rPr>
                        <a:t>105500000</a:t>
                      </a:r>
                    </a:p>
                  </a:txBody>
                  <a:tcPr marL="9525" marR="9525" marT="9525" marB="0" anchor="b">
                    <a:lnL>
                      <a:noFill/>
                    </a:lnL>
                    <a:lnR>
                      <a:noFill/>
                    </a:lnR>
                    <a:lnT>
                      <a:noFill/>
                    </a:lnT>
                    <a:lnB>
                      <a:noFill/>
                    </a:lnB>
                    <a:solidFill>
                      <a:srgbClr val="F8CBAD"/>
                    </a:solidFill>
                  </a:tcPr>
                </a:tc>
                <a:tc>
                  <a:txBody>
                    <a:bodyPr/>
                    <a:lstStyle/>
                    <a:p>
                      <a:pPr algn="r" fontAlgn="b"/>
                      <a:r>
                        <a:rPr lang="en-IN" sz="1800" b="0" i="0" u="none" strike="noStrike">
                          <a:solidFill>
                            <a:srgbClr val="000000"/>
                          </a:solidFill>
                          <a:effectLst/>
                          <a:highlight>
                            <a:srgbClr val="F8CBAD"/>
                          </a:highlight>
                          <a:latin typeface="Calibri" panose="020F0502020204030204" pitchFamily="34" charset="0"/>
                        </a:rPr>
                        <a:t>4000000</a:t>
                      </a:r>
                    </a:p>
                  </a:txBody>
                  <a:tcPr marL="9525" marR="9525" marT="9525" marB="0" anchor="b">
                    <a:lnL>
                      <a:noFill/>
                    </a:lnL>
                    <a:lnR>
                      <a:noFill/>
                    </a:lnR>
                    <a:lnT>
                      <a:noFill/>
                    </a:lnT>
                    <a:lnB>
                      <a:noFill/>
                    </a:lnB>
                    <a:solidFill>
                      <a:srgbClr val="F8CBAD"/>
                    </a:solidFill>
                  </a:tcPr>
                </a:tc>
                <a:tc>
                  <a:txBody>
                    <a:bodyPr/>
                    <a:lstStyle/>
                    <a:p>
                      <a:pPr algn="r" fontAlgn="b"/>
                      <a:r>
                        <a:rPr lang="en-IN" sz="1800" b="0" i="0" u="none" strike="noStrike">
                          <a:solidFill>
                            <a:srgbClr val="000000"/>
                          </a:solidFill>
                          <a:effectLst/>
                          <a:highlight>
                            <a:srgbClr val="F8CBAD"/>
                          </a:highlight>
                          <a:latin typeface="Calibri" panose="020F0502020204030204" pitchFamily="34" charset="0"/>
                        </a:rPr>
                        <a:t>101500000</a:t>
                      </a:r>
                    </a:p>
                  </a:txBody>
                  <a:tcPr marL="9525" marR="9525" marT="9525" marB="0" anchor="b">
                    <a:lnL>
                      <a:noFill/>
                    </a:lnL>
                    <a:lnR>
                      <a:noFill/>
                    </a:lnR>
                    <a:lnT>
                      <a:noFill/>
                    </a:lnT>
                    <a:lnB>
                      <a:noFill/>
                    </a:lnB>
                    <a:solidFill>
                      <a:srgbClr val="F8CBAD"/>
                    </a:solidFill>
                  </a:tcPr>
                </a:tc>
                <a:extLst>
                  <a:ext uri="{0D108BD9-81ED-4DB2-BD59-A6C34878D82A}">
                    <a16:rowId xmlns:a16="http://schemas.microsoft.com/office/drawing/2014/main" val="1180546482"/>
                  </a:ext>
                </a:extLst>
              </a:tr>
              <a:tr h="532109">
                <a:tc>
                  <a:txBody>
                    <a:bodyPr/>
                    <a:lstStyle/>
                    <a:p>
                      <a:pPr algn="l" fontAlgn="b"/>
                      <a:r>
                        <a:rPr lang="en-IN" sz="1800" b="0" i="0" u="none" strike="noStrike">
                          <a:solidFill>
                            <a:srgbClr val="000000"/>
                          </a:solidFill>
                          <a:effectLst/>
                          <a:highlight>
                            <a:srgbClr val="F8CBAD"/>
                          </a:highlight>
                          <a:latin typeface="Calibri" panose="020F0502020204030204" pitchFamily="34" charset="0"/>
                        </a:rPr>
                        <a:t>Pulp FictionÂ </a:t>
                      </a:r>
                    </a:p>
                  </a:txBody>
                  <a:tcPr marL="9525" marR="9525" marT="9525" marB="0" anchor="b">
                    <a:lnL>
                      <a:noFill/>
                    </a:lnL>
                    <a:lnR>
                      <a:noFill/>
                    </a:lnR>
                    <a:lnT>
                      <a:noFill/>
                    </a:lnT>
                    <a:lnB>
                      <a:noFill/>
                    </a:lnB>
                    <a:solidFill>
                      <a:srgbClr val="F8CBAD"/>
                    </a:solidFill>
                  </a:tcPr>
                </a:tc>
                <a:tc>
                  <a:txBody>
                    <a:bodyPr/>
                    <a:lstStyle/>
                    <a:p>
                      <a:pPr algn="r" fontAlgn="b"/>
                      <a:r>
                        <a:rPr lang="en-IN" sz="1800" b="0" i="0" u="none" strike="noStrike">
                          <a:solidFill>
                            <a:srgbClr val="000000"/>
                          </a:solidFill>
                          <a:effectLst/>
                          <a:highlight>
                            <a:srgbClr val="F8CBAD"/>
                          </a:highlight>
                          <a:latin typeface="Calibri" panose="020F0502020204030204" pitchFamily="34" charset="0"/>
                        </a:rPr>
                        <a:t>107930000</a:t>
                      </a:r>
                    </a:p>
                  </a:txBody>
                  <a:tcPr marL="9525" marR="9525" marT="9525" marB="0" anchor="b">
                    <a:lnL>
                      <a:noFill/>
                    </a:lnL>
                    <a:lnR>
                      <a:noFill/>
                    </a:lnR>
                    <a:lnT>
                      <a:noFill/>
                    </a:lnT>
                    <a:lnB>
                      <a:noFill/>
                    </a:lnB>
                    <a:solidFill>
                      <a:srgbClr val="F8CBAD"/>
                    </a:solidFill>
                  </a:tcPr>
                </a:tc>
                <a:tc>
                  <a:txBody>
                    <a:bodyPr/>
                    <a:lstStyle/>
                    <a:p>
                      <a:pPr algn="r" fontAlgn="b"/>
                      <a:r>
                        <a:rPr lang="en-IN" sz="1800" b="0" i="0" u="none" strike="noStrike">
                          <a:solidFill>
                            <a:srgbClr val="000000"/>
                          </a:solidFill>
                          <a:effectLst/>
                          <a:highlight>
                            <a:srgbClr val="F8CBAD"/>
                          </a:highlight>
                          <a:latin typeface="Calibri" panose="020F0502020204030204" pitchFamily="34" charset="0"/>
                        </a:rPr>
                        <a:t>8000000</a:t>
                      </a:r>
                    </a:p>
                  </a:txBody>
                  <a:tcPr marL="9525" marR="9525" marT="9525" marB="0" anchor="b">
                    <a:lnL>
                      <a:noFill/>
                    </a:lnL>
                    <a:lnR>
                      <a:noFill/>
                    </a:lnR>
                    <a:lnT>
                      <a:noFill/>
                    </a:lnT>
                    <a:lnB>
                      <a:noFill/>
                    </a:lnB>
                    <a:solidFill>
                      <a:srgbClr val="F8CBAD"/>
                    </a:solidFill>
                  </a:tcPr>
                </a:tc>
                <a:tc>
                  <a:txBody>
                    <a:bodyPr/>
                    <a:lstStyle/>
                    <a:p>
                      <a:pPr algn="r" fontAlgn="b"/>
                      <a:r>
                        <a:rPr lang="en-IN" sz="1800" b="0" i="0" u="none" strike="noStrike">
                          <a:solidFill>
                            <a:srgbClr val="000000"/>
                          </a:solidFill>
                          <a:effectLst/>
                          <a:highlight>
                            <a:srgbClr val="F8CBAD"/>
                          </a:highlight>
                          <a:latin typeface="Calibri" panose="020F0502020204030204" pitchFamily="34" charset="0"/>
                        </a:rPr>
                        <a:t>99930000</a:t>
                      </a:r>
                    </a:p>
                  </a:txBody>
                  <a:tcPr marL="9525" marR="9525" marT="9525" marB="0" anchor="b">
                    <a:lnL>
                      <a:noFill/>
                    </a:lnL>
                    <a:lnR>
                      <a:noFill/>
                    </a:lnR>
                    <a:lnT>
                      <a:noFill/>
                    </a:lnT>
                    <a:lnB>
                      <a:noFill/>
                    </a:lnB>
                    <a:solidFill>
                      <a:srgbClr val="F8CBAD"/>
                    </a:solidFill>
                  </a:tcPr>
                </a:tc>
                <a:extLst>
                  <a:ext uri="{0D108BD9-81ED-4DB2-BD59-A6C34878D82A}">
                    <a16:rowId xmlns:a16="http://schemas.microsoft.com/office/drawing/2014/main" val="1840684085"/>
                  </a:ext>
                </a:extLst>
              </a:tr>
              <a:tr h="532109">
                <a:tc>
                  <a:txBody>
                    <a:bodyPr/>
                    <a:lstStyle/>
                    <a:p>
                      <a:pPr algn="l" fontAlgn="b"/>
                      <a:r>
                        <a:rPr lang="en-IN" sz="1800" b="0" i="0" u="none" strike="noStrike">
                          <a:solidFill>
                            <a:srgbClr val="000000"/>
                          </a:solidFill>
                          <a:effectLst/>
                          <a:highlight>
                            <a:srgbClr val="F8CBAD"/>
                          </a:highlight>
                          <a:latin typeface="Calibri" panose="020F0502020204030204" pitchFamily="34" charset="0"/>
                        </a:rPr>
                        <a:t>The GrudgeÂ </a:t>
                      </a:r>
                    </a:p>
                  </a:txBody>
                  <a:tcPr marL="9525" marR="9525" marT="9525" marB="0" anchor="b">
                    <a:lnL>
                      <a:noFill/>
                    </a:lnL>
                    <a:lnR>
                      <a:noFill/>
                    </a:lnR>
                    <a:lnT>
                      <a:noFill/>
                    </a:lnT>
                    <a:lnB>
                      <a:noFill/>
                    </a:lnB>
                    <a:solidFill>
                      <a:srgbClr val="F8CBAD"/>
                    </a:solidFill>
                  </a:tcPr>
                </a:tc>
                <a:tc>
                  <a:txBody>
                    <a:bodyPr/>
                    <a:lstStyle/>
                    <a:p>
                      <a:pPr algn="r" fontAlgn="b"/>
                      <a:r>
                        <a:rPr lang="en-IN" sz="1800" b="0" i="0" u="none" strike="noStrike">
                          <a:solidFill>
                            <a:srgbClr val="000000"/>
                          </a:solidFill>
                          <a:effectLst/>
                          <a:highlight>
                            <a:srgbClr val="F8CBAD"/>
                          </a:highlight>
                          <a:latin typeface="Calibri" panose="020F0502020204030204" pitchFamily="34" charset="0"/>
                        </a:rPr>
                        <a:t>110175871</a:t>
                      </a:r>
                    </a:p>
                  </a:txBody>
                  <a:tcPr marL="9525" marR="9525" marT="9525" marB="0" anchor="b">
                    <a:lnL>
                      <a:noFill/>
                    </a:lnL>
                    <a:lnR>
                      <a:noFill/>
                    </a:lnR>
                    <a:lnT>
                      <a:noFill/>
                    </a:lnT>
                    <a:lnB>
                      <a:noFill/>
                    </a:lnB>
                    <a:solidFill>
                      <a:srgbClr val="F8CBAD"/>
                    </a:solidFill>
                  </a:tcPr>
                </a:tc>
                <a:tc>
                  <a:txBody>
                    <a:bodyPr/>
                    <a:lstStyle/>
                    <a:p>
                      <a:pPr algn="r" fontAlgn="b"/>
                      <a:r>
                        <a:rPr lang="en-IN" sz="1800" b="0" i="0" u="none" strike="noStrike">
                          <a:solidFill>
                            <a:srgbClr val="000000"/>
                          </a:solidFill>
                          <a:effectLst/>
                          <a:highlight>
                            <a:srgbClr val="F8CBAD"/>
                          </a:highlight>
                          <a:latin typeface="Calibri" panose="020F0502020204030204" pitchFamily="34" charset="0"/>
                        </a:rPr>
                        <a:t>10000000</a:t>
                      </a:r>
                    </a:p>
                  </a:txBody>
                  <a:tcPr marL="9525" marR="9525" marT="9525" marB="0" anchor="b">
                    <a:lnL>
                      <a:noFill/>
                    </a:lnL>
                    <a:lnR>
                      <a:noFill/>
                    </a:lnR>
                    <a:lnT>
                      <a:noFill/>
                    </a:lnT>
                    <a:lnB>
                      <a:noFill/>
                    </a:lnB>
                    <a:solidFill>
                      <a:srgbClr val="F8CBAD"/>
                    </a:solidFill>
                  </a:tcPr>
                </a:tc>
                <a:tc>
                  <a:txBody>
                    <a:bodyPr/>
                    <a:lstStyle/>
                    <a:p>
                      <a:pPr algn="r" fontAlgn="b"/>
                      <a:r>
                        <a:rPr lang="en-IN" sz="1800" b="0" i="0" u="none" strike="noStrike">
                          <a:solidFill>
                            <a:srgbClr val="000000"/>
                          </a:solidFill>
                          <a:effectLst/>
                          <a:highlight>
                            <a:srgbClr val="F8CBAD"/>
                          </a:highlight>
                          <a:latin typeface="Calibri" panose="020F0502020204030204" pitchFamily="34" charset="0"/>
                        </a:rPr>
                        <a:t>100175871</a:t>
                      </a:r>
                    </a:p>
                  </a:txBody>
                  <a:tcPr marL="9525" marR="9525" marT="9525" marB="0" anchor="b">
                    <a:lnL>
                      <a:noFill/>
                    </a:lnL>
                    <a:lnR>
                      <a:noFill/>
                    </a:lnR>
                    <a:lnT>
                      <a:noFill/>
                    </a:lnT>
                    <a:lnB>
                      <a:noFill/>
                    </a:lnB>
                    <a:solidFill>
                      <a:srgbClr val="F8CBAD"/>
                    </a:solidFill>
                  </a:tcPr>
                </a:tc>
                <a:extLst>
                  <a:ext uri="{0D108BD9-81ED-4DB2-BD59-A6C34878D82A}">
                    <a16:rowId xmlns:a16="http://schemas.microsoft.com/office/drawing/2014/main" val="1217312851"/>
                  </a:ext>
                </a:extLst>
              </a:tr>
              <a:tr h="532109">
                <a:tc>
                  <a:txBody>
                    <a:bodyPr/>
                    <a:lstStyle/>
                    <a:p>
                      <a:pPr algn="l" fontAlgn="b"/>
                      <a:r>
                        <a:rPr lang="en-IN" sz="1800" b="0" i="0" u="none" strike="noStrike" dirty="0">
                          <a:solidFill>
                            <a:srgbClr val="000000"/>
                          </a:solidFill>
                          <a:effectLst/>
                          <a:highlight>
                            <a:srgbClr val="F8CBAD"/>
                          </a:highlight>
                          <a:latin typeface="Calibri" panose="020F0502020204030204" pitchFamily="34" charset="0"/>
                        </a:rPr>
                        <a:t>The Karate KidÂ </a:t>
                      </a:r>
                    </a:p>
                  </a:txBody>
                  <a:tcPr marL="9525" marR="9525" marT="9525" marB="0" anchor="b">
                    <a:lnL>
                      <a:noFill/>
                    </a:lnL>
                    <a:lnR>
                      <a:noFill/>
                    </a:lnR>
                    <a:lnT>
                      <a:noFill/>
                    </a:lnT>
                    <a:lnB>
                      <a:noFill/>
                    </a:lnB>
                    <a:solidFill>
                      <a:srgbClr val="F8CBAD"/>
                    </a:solidFill>
                  </a:tcPr>
                </a:tc>
                <a:tc>
                  <a:txBody>
                    <a:bodyPr/>
                    <a:lstStyle/>
                    <a:p>
                      <a:pPr algn="r" fontAlgn="b"/>
                      <a:r>
                        <a:rPr lang="en-IN" sz="1800" b="0" i="0" u="none" strike="noStrike">
                          <a:solidFill>
                            <a:srgbClr val="000000"/>
                          </a:solidFill>
                          <a:effectLst/>
                          <a:highlight>
                            <a:srgbClr val="F8CBAD"/>
                          </a:highlight>
                          <a:latin typeface="Calibri" panose="020F0502020204030204" pitchFamily="34" charset="0"/>
                        </a:rPr>
                        <a:t>181600000</a:t>
                      </a:r>
                    </a:p>
                  </a:txBody>
                  <a:tcPr marL="9525" marR="9525" marT="9525" marB="0" anchor="b">
                    <a:lnL>
                      <a:noFill/>
                    </a:lnL>
                    <a:lnR>
                      <a:noFill/>
                    </a:lnR>
                    <a:lnT>
                      <a:noFill/>
                    </a:lnT>
                    <a:lnB>
                      <a:noFill/>
                    </a:lnB>
                    <a:solidFill>
                      <a:srgbClr val="F8CBAD"/>
                    </a:solidFill>
                  </a:tcPr>
                </a:tc>
                <a:tc>
                  <a:txBody>
                    <a:bodyPr/>
                    <a:lstStyle/>
                    <a:p>
                      <a:pPr algn="r" fontAlgn="b"/>
                      <a:r>
                        <a:rPr lang="en-IN" sz="1800" b="0" i="0" u="none" strike="noStrike">
                          <a:solidFill>
                            <a:srgbClr val="000000"/>
                          </a:solidFill>
                          <a:effectLst/>
                          <a:highlight>
                            <a:srgbClr val="F8CBAD"/>
                          </a:highlight>
                          <a:latin typeface="Calibri" panose="020F0502020204030204" pitchFamily="34" charset="0"/>
                        </a:rPr>
                        <a:t>16000000</a:t>
                      </a:r>
                    </a:p>
                  </a:txBody>
                  <a:tcPr marL="9525" marR="9525" marT="9525" marB="0" anchor="b">
                    <a:lnL>
                      <a:noFill/>
                    </a:lnL>
                    <a:lnR>
                      <a:noFill/>
                    </a:lnR>
                    <a:lnT>
                      <a:noFill/>
                    </a:lnT>
                    <a:lnB>
                      <a:noFill/>
                    </a:lnB>
                    <a:solidFill>
                      <a:srgbClr val="F8CBAD"/>
                    </a:solidFill>
                  </a:tcPr>
                </a:tc>
                <a:tc>
                  <a:txBody>
                    <a:bodyPr/>
                    <a:lstStyle/>
                    <a:p>
                      <a:pPr algn="r" fontAlgn="b"/>
                      <a:r>
                        <a:rPr lang="en-IN" sz="1800" b="0" i="0" u="none" strike="noStrike" dirty="0">
                          <a:solidFill>
                            <a:srgbClr val="000000"/>
                          </a:solidFill>
                          <a:effectLst/>
                          <a:highlight>
                            <a:srgbClr val="F8CBAD"/>
                          </a:highlight>
                          <a:latin typeface="Calibri" panose="020F0502020204030204" pitchFamily="34" charset="0"/>
                        </a:rPr>
                        <a:t>165600000</a:t>
                      </a:r>
                    </a:p>
                  </a:txBody>
                  <a:tcPr marL="9525" marR="9525" marT="9525" marB="0" anchor="b">
                    <a:lnL>
                      <a:noFill/>
                    </a:lnL>
                    <a:lnR>
                      <a:noFill/>
                    </a:lnR>
                    <a:lnT>
                      <a:noFill/>
                    </a:lnT>
                    <a:lnB>
                      <a:noFill/>
                    </a:lnB>
                    <a:solidFill>
                      <a:srgbClr val="F8CBAD"/>
                    </a:solidFill>
                  </a:tcPr>
                </a:tc>
                <a:extLst>
                  <a:ext uri="{0D108BD9-81ED-4DB2-BD59-A6C34878D82A}">
                    <a16:rowId xmlns:a16="http://schemas.microsoft.com/office/drawing/2014/main" val="776006999"/>
                  </a:ext>
                </a:extLst>
              </a:tr>
            </a:tbl>
          </a:graphicData>
        </a:graphic>
      </p:graphicFrame>
    </p:spTree>
    <p:extLst>
      <p:ext uri="{BB962C8B-B14F-4D97-AF65-F5344CB8AC3E}">
        <p14:creationId xmlns:p14="http://schemas.microsoft.com/office/powerpoint/2010/main" val="2720025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F1550-E1F7-849C-126B-40DCA284AB6A}"/>
              </a:ext>
            </a:extLst>
          </p:cNvPr>
          <p:cNvSpPr>
            <a:spLocks noGrp="1"/>
          </p:cNvSpPr>
          <p:nvPr>
            <p:ph type="title"/>
          </p:nvPr>
        </p:nvSpPr>
        <p:spPr/>
        <p:txBody>
          <a:bodyPr>
            <a:normAutofit/>
          </a:bodyPr>
          <a:lstStyle/>
          <a:p>
            <a:r>
              <a:rPr lang="en-IN" sz="7200" b="1" i="1" u="sng" dirty="0">
                <a:solidFill>
                  <a:srgbClr val="FF0000"/>
                </a:solidFill>
              </a:rPr>
              <a:t>Result</a:t>
            </a:r>
          </a:p>
        </p:txBody>
      </p:sp>
      <p:sp>
        <p:nvSpPr>
          <p:cNvPr id="3" name="Content Placeholder 2">
            <a:extLst>
              <a:ext uri="{FF2B5EF4-FFF2-40B4-BE49-F238E27FC236}">
                <a16:creationId xmlns:a16="http://schemas.microsoft.com/office/drawing/2014/main" id="{FE310448-B6DA-3ED7-1AEE-D9DE7143BEE0}"/>
              </a:ext>
            </a:extLst>
          </p:cNvPr>
          <p:cNvSpPr>
            <a:spLocks noGrp="1"/>
          </p:cNvSpPr>
          <p:nvPr>
            <p:ph idx="1"/>
          </p:nvPr>
        </p:nvSpPr>
        <p:spPr/>
        <p:txBody>
          <a:bodyPr>
            <a:normAutofit lnSpcReduction="10000"/>
          </a:bodyPr>
          <a:lstStyle/>
          <a:p>
            <a:r>
              <a:rPr lang="en-IN" sz="2400" dirty="0">
                <a:solidFill>
                  <a:schemeClr val="accent2">
                    <a:lumMod val="60000"/>
                    <a:lumOff val="40000"/>
                  </a:schemeClr>
                </a:solidFill>
              </a:rPr>
              <a:t>Through our whole process of analysis we get many insight through which we got to know many things which need to be prepared before making the film like:</a:t>
            </a:r>
          </a:p>
          <a:p>
            <a:pPr marL="457200" indent="-457200">
              <a:buFont typeface="+mj-lt"/>
              <a:buAutoNum type="arabicPeriod"/>
            </a:pPr>
            <a:r>
              <a:rPr lang="en-IN" sz="2400" dirty="0">
                <a:solidFill>
                  <a:schemeClr val="accent2">
                    <a:lumMod val="60000"/>
                    <a:lumOff val="40000"/>
                  </a:schemeClr>
                </a:solidFill>
              </a:rPr>
              <a:t>Suitable genre are romance, biography, documentary and so on.</a:t>
            </a:r>
          </a:p>
          <a:p>
            <a:pPr marL="457200" indent="-457200">
              <a:buFont typeface="+mj-lt"/>
              <a:buAutoNum type="arabicPeriod"/>
            </a:pPr>
            <a:r>
              <a:rPr lang="en-IN" sz="2400" dirty="0">
                <a:solidFill>
                  <a:schemeClr val="accent2">
                    <a:lumMod val="60000"/>
                    <a:lumOff val="40000"/>
                  </a:schemeClr>
                </a:solidFill>
              </a:rPr>
              <a:t>Suitable duration of a movie is more than 2.5 hours.</a:t>
            </a:r>
          </a:p>
          <a:p>
            <a:pPr marL="457200" indent="-457200">
              <a:buFont typeface="+mj-lt"/>
              <a:buAutoNum type="arabicPeriod"/>
            </a:pPr>
            <a:r>
              <a:rPr lang="en-IN" sz="2400" dirty="0">
                <a:solidFill>
                  <a:schemeClr val="accent2">
                    <a:lumMod val="60000"/>
                    <a:lumOff val="40000"/>
                  </a:schemeClr>
                </a:solidFill>
              </a:rPr>
              <a:t>Language which gets good ratings are Zulu, Norwegian, Indonesian, Hebrew, Dari and Dutch.</a:t>
            </a:r>
          </a:p>
          <a:p>
            <a:pPr marL="457200" indent="-457200">
              <a:buFont typeface="+mj-lt"/>
              <a:buAutoNum type="arabicPeriod"/>
            </a:pPr>
            <a:r>
              <a:rPr lang="en-IN" sz="2400" dirty="0">
                <a:solidFill>
                  <a:schemeClr val="accent2">
                    <a:lumMod val="60000"/>
                    <a:lumOff val="40000"/>
                  </a:schemeClr>
                </a:solidFill>
              </a:rPr>
              <a:t> the top twenty director which we discuss above or those who works like them.</a:t>
            </a:r>
          </a:p>
          <a:p>
            <a:pPr marL="457200" indent="-457200">
              <a:buFont typeface="+mj-lt"/>
              <a:buAutoNum type="arabicPeriod"/>
            </a:pPr>
            <a:r>
              <a:rPr lang="en-IN" sz="2400" dirty="0">
                <a:solidFill>
                  <a:schemeClr val="accent2">
                    <a:lumMod val="60000"/>
                    <a:lumOff val="40000"/>
                  </a:schemeClr>
                </a:solidFill>
              </a:rPr>
              <a:t>Last but not the least movies with high profits, in which they move with low budget to make great earnings.</a:t>
            </a:r>
          </a:p>
        </p:txBody>
      </p:sp>
    </p:spTree>
    <p:extLst>
      <p:ext uri="{BB962C8B-B14F-4D97-AF65-F5344CB8AC3E}">
        <p14:creationId xmlns:p14="http://schemas.microsoft.com/office/powerpoint/2010/main" val="715022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E0233-A818-1014-02AE-CC1A9DB8A98E}"/>
              </a:ext>
            </a:extLst>
          </p:cNvPr>
          <p:cNvSpPr>
            <a:spLocks noGrp="1"/>
          </p:cNvSpPr>
          <p:nvPr>
            <p:ph type="title"/>
          </p:nvPr>
        </p:nvSpPr>
        <p:spPr/>
        <p:txBody>
          <a:bodyPr>
            <a:normAutofit/>
          </a:bodyPr>
          <a:lstStyle/>
          <a:p>
            <a:r>
              <a:rPr lang="en-IN" sz="4800" b="1" i="1" u="sng" dirty="0">
                <a:solidFill>
                  <a:srgbClr val="FF0000"/>
                </a:solidFill>
              </a:rPr>
              <a:t>Approach</a:t>
            </a:r>
          </a:p>
        </p:txBody>
      </p:sp>
      <p:sp>
        <p:nvSpPr>
          <p:cNvPr id="3" name="Content Placeholder 2">
            <a:extLst>
              <a:ext uri="{FF2B5EF4-FFF2-40B4-BE49-F238E27FC236}">
                <a16:creationId xmlns:a16="http://schemas.microsoft.com/office/drawing/2014/main" id="{FF6F7BF8-BC6F-B98E-B471-8434AD0934F8}"/>
              </a:ext>
            </a:extLst>
          </p:cNvPr>
          <p:cNvSpPr>
            <a:spLocks noGrp="1"/>
          </p:cNvSpPr>
          <p:nvPr>
            <p:ph idx="1"/>
          </p:nvPr>
        </p:nvSpPr>
        <p:spPr/>
        <p:txBody>
          <a:bodyPr>
            <a:normAutofit/>
          </a:bodyPr>
          <a:lstStyle/>
          <a:p>
            <a:r>
              <a:rPr lang="en-IN" sz="2800" dirty="0">
                <a:solidFill>
                  <a:schemeClr val="accent2">
                    <a:lumMod val="40000"/>
                    <a:lumOff val="60000"/>
                  </a:schemeClr>
                </a:solidFill>
              </a:rPr>
              <a:t>We have use excel sheet to do our analysis on this project. We have used many features like pivot table, charts and many more things.</a:t>
            </a:r>
          </a:p>
          <a:p>
            <a:r>
              <a:rPr lang="en-IN" sz="2800" dirty="0">
                <a:solidFill>
                  <a:schemeClr val="accent2">
                    <a:lumMod val="40000"/>
                    <a:lumOff val="60000"/>
                  </a:schemeClr>
                </a:solidFill>
              </a:rPr>
              <a:t>For missing data we use python programming to fix all the missing values in our program.</a:t>
            </a:r>
          </a:p>
          <a:p>
            <a:r>
              <a:rPr lang="en-IN" sz="2800" dirty="0">
                <a:solidFill>
                  <a:schemeClr val="accent2">
                    <a:lumMod val="40000"/>
                    <a:lumOff val="60000"/>
                  </a:schemeClr>
                </a:solidFill>
              </a:rPr>
              <a:t>This whole project was very interesting and help me grasp the concept of data cleaning and data extraction.</a:t>
            </a:r>
          </a:p>
        </p:txBody>
      </p:sp>
    </p:spTree>
    <p:extLst>
      <p:ext uri="{BB962C8B-B14F-4D97-AF65-F5344CB8AC3E}">
        <p14:creationId xmlns:p14="http://schemas.microsoft.com/office/powerpoint/2010/main" val="2997146040"/>
      </p:ext>
    </p:extLst>
  </p:cSld>
  <p:clrMapOvr>
    <a:masterClrMapping/>
  </p:clrMapOvr>
</p:sld>
</file>

<file path=ppt/theme/theme1.xml><?xml version="1.0" encoding="utf-8"?>
<a:theme xmlns:a="http://schemas.openxmlformats.org/drawingml/2006/main" name="Frame">
  <a:themeElements>
    <a:clrScheme name="Frame">
      <a:dk1>
        <a:sysClr val="windowText" lastClr="000000"/>
      </a:dk1>
      <a:lt1>
        <a:sysClr val="window" lastClr="FFFFFF"/>
      </a:lt1>
      <a:dk2>
        <a:srgbClr val="4A3F38"/>
      </a:dk2>
      <a:lt2>
        <a:srgbClr val="EEEDCB"/>
      </a:lt2>
      <a:accent1>
        <a:srgbClr val="818E9F"/>
      </a:accent1>
      <a:accent2>
        <a:srgbClr val="D26400"/>
      </a:accent2>
      <a:accent3>
        <a:srgbClr val="C3BA45"/>
      </a:accent3>
      <a:accent4>
        <a:srgbClr val="8A8552"/>
      </a:accent4>
      <a:accent5>
        <a:srgbClr val="F3B843"/>
      </a:accent5>
      <a:accent6>
        <a:srgbClr val="786C71"/>
      </a:accent6>
      <a:hlink>
        <a:srgbClr val="46A7CA"/>
      </a:hlink>
      <a:folHlink>
        <a:srgbClr val="B2B2B2"/>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9935E573-C197-41A8-BCA1-5D5F62C560B7}"/>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B46F182-0FF5-421C-BA2B-02CAB548CD91}">
  <we:reference id="wa200005669" version="2.0.0.0" store="en-US" storeType="OMEX"/>
  <we:alternateReferences>
    <we:reference id="wa200005669" version="2.0.0.0" store="wa200005669"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TM03457475[[fn=Frame]]</Template>
  <TotalTime>1925</TotalTime>
  <Words>1529</Words>
  <Application>Microsoft Office PowerPoint</Application>
  <PresentationFormat>Widescreen</PresentationFormat>
  <Paragraphs>179</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Arial</vt:lpstr>
      <vt:lpstr>Calibri</vt:lpstr>
      <vt:lpstr>Corbel</vt:lpstr>
      <vt:lpstr>Wingdings 2</vt:lpstr>
      <vt:lpstr>Frame</vt:lpstr>
      <vt:lpstr>IMDB MOVIE ANALYSIS</vt:lpstr>
      <vt:lpstr>content</vt:lpstr>
      <vt:lpstr>Introduction</vt:lpstr>
      <vt:lpstr>Data cleaning </vt:lpstr>
      <vt:lpstr>PowerPoint Presentation</vt:lpstr>
      <vt:lpstr>Data Analysis</vt:lpstr>
      <vt:lpstr>Insight </vt:lpstr>
      <vt:lpstr>PowerPoint Presentation</vt:lpstr>
      <vt:lpstr>PowerPoint Presentation</vt:lpstr>
      <vt:lpstr>PowerPoint Presentation</vt:lpstr>
      <vt:lpstr>Language analysis</vt:lpstr>
      <vt:lpstr>PowerPoint Presentation</vt:lpstr>
      <vt:lpstr>PowerPoint Presentation</vt:lpstr>
      <vt:lpstr>Result</vt:lpstr>
      <vt:lpstr>Approach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IMDB MOVIE ANALYSIS</dc:title>
  <dc:creator>Vishesh Varshney</dc:creator>
  <cp:lastModifiedBy>Vishesh Varshney</cp:lastModifiedBy>
  <cp:revision>1</cp:revision>
  <dcterms:created xsi:type="dcterms:W3CDTF">2024-05-13T10:11:20Z</dcterms:created>
  <dcterms:modified xsi:type="dcterms:W3CDTF">2024-05-15T13:11:38Z</dcterms:modified>
</cp:coreProperties>
</file>